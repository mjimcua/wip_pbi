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messages. What Retention needs; why the data does not give it today, also for the projection; and the plan, with other teams.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same colours as the summary. The gaps end in agreements; the projection, in purple, adds one requirement on top.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Given the transaction model that Retention defines, an order with known inputs: what we sell, where, with which discount, which fee and which taxes. The amounts follow from them and all four equalities close. Later we look for a real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theoretical transaction in percentages. Discount: 60% of the MSRP. VAT: 19% of the amount without taxes, the known German rate. Partner fee 7.5% (Nexway) and Due to KL 92.5% of the amount without taxes. The three use the same reference, so they add up to 119%: the amount without taxes × 1.19 is the amount with taxes.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definitions in calculation order, with the theoretical transaction. The equalities on the right are the checks: they must hold for every transaction. Slides on columns and checks translate them into data.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Acquisition: discount per customer, and which discounts bring more customers. Renewal or churn: the discount and the renewal tactic. Without a plan, the default tactic is to lose the discount; the jump is the price delta, in % and in money. With a plan, the plan sets the discount.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need per transaction is the transaction model. Each transaction has its own configuration. It unlocks two studies: individual price sensitivity, and the growth potential of the pipeline, transaction by transaction. Discount is important; how important, we can only measure with all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 region, currency and period define one MSRP. The type of operation is a modifier of the discount, not of the price.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MSRP is the same in all five rows. The discount changes with the operation: demand level, coupon, renewal at 100%, agreed ladder or Stay Subscribed.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levels are discount levels that e-commerce changes over time. Knowing the demand level, the ladder step or the offer does not tell you the amount. The effective discount must be calculated at transaction time with the valid MSRP and what the customer paid. This leads to the rule.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 uses the discount amount, not the percentage: discount plus amount paid must equal the MSRP, on the same tax basis.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columns follow the transaction model: how the customer amount is split, and how the discount relates to the MSRP. Once populated, their meaning is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passes the checks, including the same tax basis: 20.16 + 30.25 = 50.41, which is 59.99 without taxes. C3 cannot be tested: the example does not show the discount components.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take two amounts as correct: what the customer paid, with taxes, and Due to KL. With the model rules we rebuild the other concepts and compare them, one by one, with the fields of the 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take the paid amount with taxes and Due to KL as correct. From them, the amount without taxes, the VAT, the 19% rate and the 7.5% fee all match the table. The MSRP is not in the table, and the discount is stored without taxes: 30.25 × 1.19 = 36.00, the discount with taxes. When there is no VAT, the table does not tell 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MSRP can be inferred: customer amount with taxes plus the total discount with taxes. Nothing new. The real requirement is that the stored values are populated and mean what the business means. Storing the MSRP as well turns the equality into a check.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workaround: the 59.99 comes from WebPriceList, with three assumptions: another source, renewal SKU mapped to the purchase SKU, and a join by date. It works here; the next slide shows where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link works for our example, but not on price change dates. We need to know how often.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see in real example 4: the data closes against the price after demand level, and the demand level discount is invisible.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 4 is the toy coupon example with real numbers. The 'full price' fields do not mean the MSRP.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Tax-inclusive and tax-exclusive are two independent sums. Mixing them never reconciles.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problem as our example: the discount is stored without taxes. Even without demand level, a coupon breaks the sum.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need the owners of the API and of WebPriceList.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Confluence page eCommerce, MSRPs and Discounts. Nexway API order JSON, eComm table and WebPriceList. Most examples have more than one cause.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uses. For past expirations, the MSRP valid at expiration: it may include a price increase. For projections, the MSRP valid today, because future increases may not be planned yet.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 reconciles against any MSRP we use as reference. That is why the reference must be the one valid at the time of the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customer renews, the renewal is a transaction and we know the price. When the customer leaves, we do not know what we tried to charge. To compare renewed and churned customers, we must rebuild that price with the MSRP at expiration.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pays the full MSRP and nothing changed: capped. B was capped but the price increase gives room. C is our example: its 60% discount ends at renewal. Amounts with taxes; the price increase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Minimum: a snapshot of the price list at a moment, stamped for the calculation. Ideal: the full history, so we can rebuild the MSRP at each expiration. All of this sits on top of the transaction model and correct values.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ended in six agreements. They group into three challenges. Today we want to agree that these three are well defined. Then each one follows the same path.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are this meeting. Step 3 we do together. Step 4 belongs to the experts: they own the sources and the dates. Step 5 is your team: you do not fix the source, but once it is fixed you deliver the data every day, with our criteria.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1. Left: what it is and why. Right: the five steps for this challenge. Today we ask for step 2: that we both understand and share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2. Left: what it is and why. Right: the five steps for this challenge. Today we ask for step 2: that we both understand and share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Challenge 3. Left: what it is and why. Right: the five steps for this challenge. Today we ask for step 2: that we both understand and share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team does not fix the sources. What we ask from your team is the delivery: once the sources are fixed, daily data that meets these criteria.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and 2 are today. The expert names are still to confirm. Steps 4 and 5 get dates only when the experts give their plan.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ask your team to fix the sources. We ask for agreement on the three challenges, help to find the experts, the coverage measurement, and the daily delivery once the sources are fixed.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128"/>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In one slide</a:t>
            </a:r>
          </a:p>
        </p:txBody>
      </p:sp>
      <p:sp>
        <p:nvSpPr>
          <p:cNvPr id="3" name="Rounded Rectangle 2"/>
          <p:cNvSpPr/>
          <p:nvPr/>
        </p:nvSpPr>
        <p:spPr>
          <a:xfrm>
            <a:off x="548640" y="1737360"/>
            <a:ext cx="3393338" cy="2834640"/>
          </a:xfrm>
          <a:prstGeom prst="roundRect">
            <a:avLst>
              <a:gd name="adj" fmla="val 12000"/>
            </a:avLst>
          </a:prstGeom>
          <a:solidFill>
            <a:srgbClr val="2A2E37"/>
          </a:solidFill>
          <a:ln w="19050">
            <a:solidFill>
              <a:srgbClr val="6CC9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77240" y="1965960"/>
            <a:ext cx="548640" cy="548640"/>
          </a:xfrm>
          <a:prstGeom prst="ellipse">
            <a:avLst/>
          </a:prstGeom>
          <a:solidFill>
            <a:srgbClr val="6CC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171C"/>
                </a:solidFill>
                <a:latin typeface="Kaspersky Sans Display"/>
              </a:rPr>
              <a:t>1</a:t>
            </a:r>
          </a:p>
        </p:txBody>
      </p:sp>
      <p:sp>
        <p:nvSpPr>
          <p:cNvPr id="5" name="TextBox 4"/>
          <p:cNvSpPr txBox="1"/>
          <p:nvPr/>
        </p:nvSpPr>
        <p:spPr>
          <a:xfrm>
            <a:off x="1417319" y="1965960"/>
            <a:ext cx="2433218" cy="548640"/>
          </a:xfrm>
          <a:prstGeom prst="rect">
            <a:avLst/>
          </a:prstGeom>
          <a:noFill/>
        </p:spPr>
        <p:txBody>
          <a:bodyPr wrap="square" anchor="ctr" lIns="0" rIns="0" tIns="0" bIns="0">
            <a:spAutoFit/>
          </a:bodyPr>
          <a:lstStyle/>
          <a:p>
            <a:pPr algn="l">
              <a:spcAft>
                <a:spcPts val="600"/>
              </a:spcAft>
            </a:pPr>
            <a:r>
              <a:rPr sz="1400" b="1" i="0">
                <a:solidFill>
                  <a:srgbClr val="6CC9EC"/>
                </a:solidFill>
                <a:latin typeface="Kaspersky Sans Display"/>
              </a:rPr>
              <a:t>THE NEED</a:t>
            </a:r>
          </a:p>
        </p:txBody>
      </p:sp>
      <p:sp>
        <p:nvSpPr>
          <p:cNvPr id="6" name="TextBox 5"/>
          <p:cNvSpPr txBox="1"/>
          <p:nvPr/>
        </p:nvSpPr>
        <p:spPr>
          <a:xfrm>
            <a:off x="777240" y="2743200"/>
            <a:ext cx="2981858" cy="1737360"/>
          </a:xfrm>
          <a:prstGeom prst="rect">
            <a:avLst/>
          </a:prstGeom>
          <a:noFill/>
        </p:spPr>
        <p:txBody>
          <a:bodyPr wrap="square" anchor="t" lIns="0" rIns="0" tIns="0" bIns="0">
            <a:spAutoFit/>
          </a:bodyPr>
          <a:lstStyle/>
          <a:p>
            <a:pPr algn="l">
              <a:spcAft>
                <a:spcPts val="600"/>
              </a:spcAft>
            </a:pPr>
            <a:r>
              <a:rPr sz="1500" b="0" i="0">
                <a:solidFill>
                  <a:srgbClr val="ECEEF2"/>
                </a:solidFill>
                <a:latin typeface="Kaspersky Sans Display"/>
              </a:rPr>
              <a:t>Retention needs the discount of every transaction, measured against the full valid MSRP.</a:t>
            </a:r>
          </a:p>
        </p:txBody>
      </p:sp>
      <p:sp>
        <p:nvSpPr>
          <p:cNvPr id="7" name="Right Arrow 6"/>
          <p:cNvSpPr/>
          <p:nvPr/>
        </p:nvSpPr>
        <p:spPr>
          <a:xfrm>
            <a:off x="4015130" y="2971800"/>
            <a:ext cx="310896" cy="365760"/>
          </a:xfrm>
          <a:prstGeom prst="rightArrow">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99178" y="1737360"/>
            <a:ext cx="3393338" cy="2834640"/>
          </a:xfrm>
          <a:prstGeom prst="roundRect">
            <a:avLst>
              <a:gd name="adj" fmla="val 12000"/>
            </a:avLst>
          </a:prstGeom>
          <a:solidFill>
            <a:srgbClr val="2A2E37"/>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627778" y="1965960"/>
            <a:ext cx="548640" cy="548640"/>
          </a:xfrm>
          <a:prstGeom prst="ellipse">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FFFFFF"/>
                </a:solidFill>
                <a:latin typeface="Kaspersky Sans Display"/>
              </a:rPr>
              <a:t>2</a:t>
            </a:r>
          </a:p>
        </p:txBody>
      </p:sp>
      <p:sp>
        <p:nvSpPr>
          <p:cNvPr id="10" name="TextBox 9"/>
          <p:cNvSpPr txBox="1"/>
          <p:nvPr/>
        </p:nvSpPr>
        <p:spPr>
          <a:xfrm>
            <a:off x="5267858" y="1965960"/>
            <a:ext cx="2433218" cy="548640"/>
          </a:xfrm>
          <a:prstGeom prst="rect">
            <a:avLst/>
          </a:prstGeom>
          <a:noFill/>
        </p:spPr>
        <p:txBody>
          <a:bodyPr wrap="square" anchor="ctr" lIns="0" rIns="0" tIns="0" bIns="0">
            <a:spAutoFit/>
          </a:bodyPr>
          <a:lstStyle/>
          <a:p>
            <a:pPr algn="l">
              <a:spcAft>
                <a:spcPts val="600"/>
              </a:spcAft>
            </a:pPr>
            <a:r>
              <a:rPr sz="1400" b="1" i="0">
                <a:solidFill>
                  <a:srgbClr val="F2667F"/>
                </a:solidFill>
                <a:latin typeface="Kaspersky Sans Display"/>
              </a:rPr>
              <a:t>THE GAPS</a:t>
            </a:r>
          </a:p>
        </p:txBody>
      </p:sp>
      <p:sp>
        <p:nvSpPr>
          <p:cNvPr id="11" name="TextBox 10"/>
          <p:cNvSpPr txBox="1"/>
          <p:nvPr/>
        </p:nvSpPr>
        <p:spPr>
          <a:xfrm>
            <a:off x="4627778" y="2743200"/>
            <a:ext cx="2981858" cy="1737360"/>
          </a:xfrm>
          <a:prstGeom prst="rect">
            <a:avLst/>
          </a:prstGeom>
          <a:noFill/>
        </p:spPr>
        <p:txBody>
          <a:bodyPr wrap="square" anchor="t" lIns="0" rIns="0" tIns="0" bIns="0">
            <a:spAutoFit/>
          </a:bodyPr>
          <a:lstStyle/>
          <a:p>
            <a:pPr algn="l">
              <a:spcAft>
                <a:spcPts val="600"/>
              </a:spcAft>
            </a:pPr>
            <a:r>
              <a:rPr sz="1500" b="0" i="0">
                <a:solidFill>
                  <a:srgbClr val="ECEEF2"/>
                </a:solidFill>
                <a:latin typeface="Kaspersky Sans Display"/>
              </a:rPr>
              <a:t>The transaction does not carry the MSRP, some fields do not mean what we need, and the projection needs the MSRP at any date.</a:t>
            </a:r>
          </a:p>
        </p:txBody>
      </p:sp>
      <p:sp>
        <p:nvSpPr>
          <p:cNvPr id="12" name="Right Arrow 11"/>
          <p:cNvSpPr/>
          <p:nvPr/>
        </p:nvSpPr>
        <p:spPr>
          <a:xfrm>
            <a:off x="7865668" y="2971800"/>
            <a:ext cx="310896" cy="365760"/>
          </a:xfrm>
          <a:prstGeom prst="rightArrow">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49716" y="1737360"/>
            <a:ext cx="3393338" cy="2834640"/>
          </a:xfrm>
          <a:prstGeom prst="roundRect">
            <a:avLst>
              <a:gd name="adj" fmla="val 12000"/>
            </a:avLst>
          </a:prstGeom>
          <a:solidFill>
            <a:srgbClr val="2A2E37"/>
          </a:solidFill>
          <a:ln w="19050">
            <a:solidFill>
              <a:srgbClr val="F7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78316" y="1965960"/>
            <a:ext cx="548640" cy="54864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171C"/>
                </a:solidFill>
                <a:latin typeface="Kaspersky Sans Display"/>
              </a:rPr>
              <a:t>3</a:t>
            </a:r>
          </a:p>
        </p:txBody>
      </p:sp>
      <p:sp>
        <p:nvSpPr>
          <p:cNvPr id="15" name="TextBox 14"/>
          <p:cNvSpPr txBox="1"/>
          <p:nvPr/>
        </p:nvSpPr>
        <p:spPr>
          <a:xfrm>
            <a:off x="9118396" y="1965960"/>
            <a:ext cx="2433218" cy="548640"/>
          </a:xfrm>
          <a:prstGeom prst="rect">
            <a:avLst/>
          </a:prstGeom>
          <a:noFill/>
        </p:spPr>
        <p:txBody>
          <a:bodyPr wrap="square" anchor="ctr" lIns="0" rIns="0" tIns="0" bIns="0">
            <a:spAutoFit/>
          </a:bodyPr>
          <a:lstStyle/>
          <a:p>
            <a:pPr algn="l">
              <a:spcAft>
                <a:spcPts val="600"/>
              </a:spcAft>
            </a:pPr>
            <a:r>
              <a:rPr sz="1400" b="1" i="0">
                <a:solidFill>
                  <a:srgbClr val="F79A6A"/>
                </a:solidFill>
                <a:latin typeface="Kaspersky Sans Display"/>
              </a:rPr>
              <a:t>THE PLAN</a:t>
            </a:r>
          </a:p>
        </p:txBody>
      </p:sp>
      <p:sp>
        <p:nvSpPr>
          <p:cNvPr id="16" name="TextBox 15"/>
          <p:cNvSpPr txBox="1"/>
          <p:nvPr/>
        </p:nvSpPr>
        <p:spPr>
          <a:xfrm>
            <a:off x="8478316" y="2743200"/>
            <a:ext cx="2981858" cy="1737360"/>
          </a:xfrm>
          <a:prstGeom prst="rect">
            <a:avLst/>
          </a:prstGeom>
          <a:noFill/>
        </p:spPr>
        <p:txBody>
          <a:bodyPr wrap="square" anchor="t" lIns="0" rIns="0" tIns="0" bIns="0">
            <a:spAutoFit/>
          </a:bodyPr>
          <a:lstStyle/>
          <a:p>
            <a:pPr algn="l">
              <a:spcAft>
                <a:spcPts val="600"/>
              </a:spcAft>
            </a:pPr>
            <a:r>
              <a:rPr sz="1500" b="0" i="0">
                <a:solidFill>
                  <a:srgbClr val="ECEEF2"/>
                </a:solidFill>
                <a:latin typeface="Kaspersky Sans Display"/>
              </a:rPr>
              <a:t>Three challenges. Experts fix the sources; Dmitry's team delivers the data daily, with Retention's criteria.</a:t>
            </a:r>
          </a:p>
        </p:txBody>
      </p:sp>
      <p:sp>
        <p:nvSpPr>
          <p:cNvPr id="17" name="TextBox 16"/>
          <p:cNvSpPr txBox="1"/>
          <p:nvPr/>
        </p:nvSpPr>
        <p:spPr>
          <a:xfrm>
            <a:off x="548640" y="4937760"/>
            <a:ext cx="11094415" cy="822960"/>
          </a:xfrm>
          <a:prstGeom prst="rect">
            <a:avLst/>
          </a:prstGeom>
          <a:noFill/>
        </p:spPr>
        <p:txBody>
          <a:bodyPr wrap="square" anchor="t" lIns="0" rIns="0" tIns="0" bIns="0">
            <a:spAutoFit/>
          </a:bodyPr>
          <a:lstStyle/>
          <a:p>
            <a:pPr algn="l">
              <a:spcAft>
                <a:spcPts val="600"/>
              </a:spcAft>
            </a:pPr>
            <a:r>
              <a:rPr sz="1800" b="1" i="0">
                <a:solidFill>
                  <a:srgbClr val="ECEEF2"/>
                </a:solidFill>
                <a:latin typeface="Kaspersky Sans Display"/>
              </a:rPr>
              <a:t>Today: </a:t>
            </a:r>
            <a:r>
              <a:rPr sz="1800" b="0" i="0">
                <a:solidFill>
                  <a:srgbClr val="A9B1BF"/>
                </a:solidFill>
                <a:latin typeface="Kaspersky Sans Display"/>
              </a:rPr>
              <a:t>agree that the three challenges are well defined, and the path to solve each one.</a:t>
            </a:r>
          </a:p>
        </p:txBody>
      </p:sp>
      <p:sp>
        <p:nvSpPr>
          <p:cNvPr id="18" name="TextBox 17"/>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1</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128"/>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Agenda</a:t>
            </a:r>
          </a:p>
        </p:txBody>
      </p:sp>
      <p:sp>
        <p:nvSpPr>
          <p:cNvPr id="3" name="Rounded Rectangle 2"/>
          <p:cNvSpPr/>
          <p:nvPr/>
        </p:nvSpPr>
        <p:spPr>
          <a:xfrm>
            <a:off x="548640" y="1463040"/>
            <a:ext cx="3576218" cy="4754880"/>
          </a:xfrm>
          <a:prstGeom prst="roundRect">
            <a:avLst>
              <a:gd name="adj" fmla="val 12000"/>
            </a:avLst>
          </a:prstGeom>
          <a:solidFill>
            <a:srgbClr val="2A2E37"/>
          </a:solidFill>
          <a:ln w="19050">
            <a:solidFill>
              <a:srgbClr val="6CC9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1664208"/>
            <a:ext cx="3256178" cy="457200"/>
          </a:xfrm>
          <a:prstGeom prst="rect">
            <a:avLst/>
          </a:prstGeom>
          <a:noFill/>
        </p:spPr>
        <p:txBody>
          <a:bodyPr wrap="square" anchor="t" lIns="0" rIns="0" tIns="0" bIns="0">
            <a:spAutoFit/>
          </a:bodyPr>
          <a:lstStyle/>
          <a:p>
            <a:pPr algn="l">
              <a:spcAft>
                <a:spcPts val="600"/>
              </a:spcAft>
            </a:pPr>
            <a:r>
              <a:rPr sz="1800" b="1" i="0">
                <a:solidFill>
                  <a:srgbClr val="6CC9EC"/>
                </a:solidFill>
                <a:latin typeface="Kaspersky Sans Display"/>
              </a:rPr>
              <a:t>1 · The need</a:t>
            </a:r>
          </a:p>
        </p:txBody>
      </p:sp>
      <p:sp>
        <p:nvSpPr>
          <p:cNvPr id="5" name="TextBox 4"/>
          <p:cNvSpPr txBox="1"/>
          <p:nvPr/>
        </p:nvSpPr>
        <p:spPr>
          <a:xfrm>
            <a:off x="749808" y="2240280"/>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01  </a:t>
            </a:r>
            <a:r>
              <a:rPr sz="1300" b="0" i="0">
                <a:solidFill>
                  <a:srgbClr val="ECEEF2"/>
                </a:solidFill>
                <a:latin typeface="Kaspersky Sans Display"/>
              </a:rPr>
              <a:t>Theoretical transaction</a:t>
            </a:r>
          </a:p>
        </p:txBody>
      </p:sp>
      <p:sp>
        <p:nvSpPr>
          <p:cNvPr id="6" name="TextBox 5"/>
          <p:cNvSpPr txBox="1"/>
          <p:nvPr/>
        </p:nvSpPr>
        <p:spPr>
          <a:xfrm>
            <a:off x="749808" y="2624328"/>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02  </a:t>
            </a:r>
            <a:r>
              <a:rPr sz="1300" b="0" i="0">
                <a:solidFill>
                  <a:srgbClr val="ECEEF2"/>
                </a:solidFill>
                <a:latin typeface="Kaspersky Sans Display"/>
              </a:rPr>
              <a:t>The same in %</a:t>
            </a:r>
          </a:p>
        </p:txBody>
      </p:sp>
      <p:sp>
        <p:nvSpPr>
          <p:cNvPr id="7" name="TextBox 6"/>
          <p:cNvSpPr txBox="1"/>
          <p:nvPr/>
        </p:nvSpPr>
        <p:spPr>
          <a:xfrm>
            <a:off x="749808" y="3008376"/>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03  </a:t>
            </a:r>
            <a:r>
              <a:rPr sz="1300" b="0" i="0">
                <a:solidFill>
                  <a:srgbClr val="ECEEF2"/>
                </a:solidFill>
                <a:latin typeface="Kaspersky Sans Display"/>
              </a:rPr>
              <a:t>Definitions and checks</a:t>
            </a:r>
          </a:p>
        </p:txBody>
      </p:sp>
      <p:sp>
        <p:nvSpPr>
          <p:cNvPr id="8" name="TextBox 7"/>
          <p:cNvSpPr txBox="1"/>
          <p:nvPr/>
        </p:nvSpPr>
        <p:spPr>
          <a:xfrm>
            <a:off x="749808" y="3392424"/>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04  </a:t>
            </a:r>
            <a:r>
              <a:rPr sz="1300" b="0" i="0">
                <a:solidFill>
                  <a:srgbClr val="ECEEF2"/>
                </a:solidFill>
                <a:latin typeface="Kaspersky Sans Display"/>
              </a:rPr>
              <a:t>What Retention needs</a:t>
            </a:r>
          </a:p>
        </p:txBody>
      </p:sp>
      <p:sp>
        <p:nvSpPr>
          <p:cNvPr id="9" name="TextBox 8"/>
          <p:cNvSpPr txBox="1"/>
          <p:nvPr/>
        </p:nvSpPr>
        <p:spPr>
          <a:xfrm>
            <a:off x="749808" y="3776472"/>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05  </a:t>
            </a:r>
            <a:r>
              <a:rPr sz="1300" b="0" i="0">
                <a:solidFill>
                  <a:srgbClr val="ECEEF2"/>
                </a:solidFill>
                <a:latin typeface="Kaspersky Sans Display"/>
              </a:rPr>
              <a:t>Why per transaction</a:t>
            </a:r>
          </a:p>
        </p:txBody>
      </p:sp>
      <p:sp>
        <p:nvSpPr>
          <p:cNvPr id="10" name="TextBox 9"/>
          <p:cNvSpPr txBox="1"/>
          <p:nvPr/>
        </p:nvSpPr>
        <p:spPr>
          <a:xfrm>
            <a:off x="749808" y="4160520"/>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06  </a:t>
            </a:r>
            <a:r>
              <a:rPr sz="1300" b="0" i="0">
                <a:solidFill>
                  <a:srgbClr val="ECEEF2"/>
                </a:solidFill>
                <a:latin typeface="Kaspersky Sans Display"/>
              </a:rPr>
              <a:t>One price, many discounts</a:t>
            </a:r>
          </a:p>
        </p:txBody>
      </p:sp>
      <p:sp>
        <p:nvSpPr>
          <p:cNvPr id="11" name="TextBox 10"/>
          <p:cNvSpPr txBox="1"/>
          <p:nvPr/>
        </p:nvSpPr>
        <p:spPr>
          <a:xfrm>
            <a:off x="749808" y="4544568"/>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07  </a:t>
            </a:r>
            <a:r>
              <a:rPr sz="1300" b="0" i="0">
                <a:solidFill>
                  <a:srgbClr val="ECEEF2"/>
                </a:solidFill>
                <a:latin typeface="Kaspersky Sans Display"/>
              </a:rPr>
              <a:t>Discount of a transaction</a:t>
            </a:r>
          </a:p>
        </p:txBody>
      </p:sp>
      <p:sp>
        <p:nvSpPr>
          <p:cNvPr id="12" name="TextBox 11"/>
          <p:cNvSpPr txBox="1"/>
          <p:nvPr/>
        </p:nvSpPr>
        <p:spPr>
          <a:xfrm>
            <a:off x="749808" y="4928616"/>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08  </a:t>
            </a:r>
            <a:r>
              <a:rPr sz="1300" b="0" i="0">
                <a:solidFill>
                  <a:srgbClr val="ECEEF2"/>
                </a:solidFill>
                <a:latin typeface="Kaspersky Sans Display"/>
              </a:rPr>
              <a:t>Configuration ≠ discount</a:t>
            </a:r>
          </a:p>
        </p:txBody>
      </p:sp>
      <p:sp>
        <p:nvSpPr>
          <p:cNvPr id="13" name="TextBox 12"/>
          <p:cNvSpPr txBox="1"/>
          <p:nvPr/>
        </p:nvSpPr>
        <p:spPr>
          <a:xfrm>
            <a:off x="749808" y="5312664"/>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09  </a:t>
            </a:r>
            <a:r>
              <a:rPr sz="1300" b="0" i="0">
                <a:solidFill>
                  <a:srgbClr val="ECEEF2"/>
                </a:solidFill>
                <a:latin typeface="Kaspersky Sans Display"/>
              </a:rPr>
              <a:t>The rule</a:t>
            </a:r>
          </a:p>
        </p:txBody>
      </p:sp>
      <p:sp>
        <p:nvSpPr>
          <p:cNvPr id="14" name="TextBox 13"/>
          <p:cNvSpPr txBox="1"/>
          <p:nvPr/>
        </p:nvSpPr>
        <p:spPr>
          <a:xfrm>
            <a:off x="749808" y="5696712"/>
            <a:ext cx="3301898" cy="384048"/>
          </a:xfrm>
          <a:prstGeom prst="rect">
            <a:avLst/>
          </a:prstGeom>
          <a:noFill/>
        </p:spPr>
        <p:txBody>
          <a:bodyPr wrap="square" anchor="t" lIns="0" rIns="0" tIns="0" bIns="0">
            <a:spAutoFit/>
          </a:bodyPr>
          <a:lstStyle/>
          <a:p>
            <a:pPr algn="l">
              <a:spcAft>
                <a:spcPts val="600"/>
              </a:spcAft>
            </a:pPr>
            <a:r>
              <a:rPr sz="1300" b="1" i="0">
                <a:solidFill>
                  <a:srgbClr val="6CC9EC"/>
                </a:solidFill>
                <a:latin typeface="Kaspersky Sans Display"/>
              </a:rPr>
              <a:t>10  </a:t>
            </a:r>
            <a:r>
              <a:rPr sz="1300" b="0" i="0">
                <a:solidFill>
                  <a:srgbClr val="ECEEF2"/>
                </a:solidFill>
                <a:latin typeface="Kaspersky Sans Display"/>
              </a:rPr>
              <a:t>Columns and checks</a:t>
            </a:r>
          </a:p>
        </p:txBody>
      </p:sp>
      <p:sp>
        <p:nvSpPr>
          <p:cNvPr id="15" name="Rounded Rectangle 14"/>
          <p:cNvSpPr/>
          <p:nvPr/>
        </p:nvSpPr>
        <p:spPr>
          <a:xfrm>
            <a:off x="4307738" y="1463040"/>
            <a:ext cx="3576218" cy="4754880"/>
          </a:xfrm>
          <a:prstGeom prst="roundRect">
            <a:avLst>
              <a:gd name="adj" fmla="val 12000"/>
            </a:avLst>
          </a:prstGeom>
          <a:solidFill>
            <a:srgbClr val="2A2E37"/>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08906" y="1664208"/>
            <a:ext cx="3256178" cy="457200"/>
          </a:xfrm>
          <a:prstGeom prst="rect">
            <a:avLst/>
          </a:prstGeom>
          <a:noFill/>
        </p:spPr>
        <p:txBody>
          <a:bodyPr wrap="square" anchor="t" lIns="0" rIns="0" tIns="0" bIns="0">
            <a:spAutoFit/>
          </a:bodyPr>
          <a:lstStyle/>
          <a:p>
            <a:pPr algn="l">
              <a:spcAft>
                <a:spcPts val="600"/>
              </a:spcAft>
            </a:pPr>
            <a:r>
              <a:rPr sz="1800" b="1" i="0">
                <a:solidFill>
                  <a:srgbClr val="F2667F"/>
                </a:solidFill>
                <a:latin typeface="Kaspersky Sans Display"/>
              </a:rPr>
              <a:t>2 · The gaps</a:t>
            </a:r>
          </a:p>
        </p:txBody>
      </p:sp>
      <p:sp>
        <p:nvSpPr>
          <p:cNvPr id="17" name="TextBox 16"/>
          <p:cNvSpPr txBox="1"/>
          <p:nvPr/>
        </p:nvSpPr>
        <p:spPr>
          <a:xfrm>
            <a:off x="4508906" y="2240280"/>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11  </a:t>
            </a:r>
            <a:r>
              <a:rPr sz="1300" b="0" i="0">
                <a:solidFill>
                  <a:srgbClr val="ECEEF2"/>
                </a:solidFill>
                <a:latin typeface="Kaspersky Sans Display"/>
              </a:rPr>
              <a:t>Checking real data</a:t>
            </a:r>
          </a:p>
        </p:txBody>
      </p:sp>
      <p:sp>
        <p:nvSpPr>
          <p:cNvPr id="18" name="TextBox 17"/>
          <p:cNvSpPr txBox="1"/>
          <p:nvPr/>
        </p:nvSpPr>
        <p:spPr>
          <a:xfrm>
            <a:off x="4508906" y="2539218"/>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12  </a:t>
            </a:r>
            <a:r>
              <a:rPr sz="1300" b="0" i="0">
                <a:solidFill>
                  <a:srgbClr val="ECEEF2"/>
                </a:solidFill>
                <a:latin typeface="Kaspersky Sans Display"/>
              </a:rPr>
              <a:t>A real one: does it match?</a:t>
            </a:r>
          </a:p>
        </p:txBody>
      </p:sp>
      <p:sp>
        <p:nvSpPr>
          <p:cNvPr id="19" name="TextBox 18"/>
          <p:cNvSpPr txBox="1"/>
          <p:nvPr/>
        </p:nvSpPr>
        <p:spPr>
          <a:xfrm>
            <a:off x="4508906" y="2838156"/>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13  </a:t>
            </a:r>
            <a:r>
              <a:rPr sz="1300" b="0" i="0">
                <a:solidFill>
                  <a:srgbClr val="ECEEF2"/>
                </a:solidFill>
                <a:latin typeface="Kaspersky Sans Display"/>
              </a:rPr>
              <a:t>Store or infer?</a:t>
            </a:r>
          </a:p>
        </p:txBody>
      </p:sp>
      <p:sp>
        <p:nvSpPr>
          <p:cNvPr id="20" name="TextBox 19"/>
          <p:cNvSpPr txBox="1"/>
          <p:nvPr/>
        </p:nvSpPr>
        <p:spPr>
          <a:xfrm>
            <a:off x="4508906" y="3137095"/>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14  </a:t>
            </a:r>
            <a:r>
              <a:rPr sz="1300" b="0" i="0">
                <a:solidFill>
                  <a:srgbClr val="ECEEF2"/>
                </a:solidFill>
                <a:latin typeface="Kaspersky Sans Display"/>
              </a:rPr>
              <a:t>External MSRP</a:t>
            </a:r>
          </a:p>
        </p:txBody>
      </p:sp>
      <p:sp>
        <p:nvSpPr>
          <p:cNvPr id="21" name="TextBox 20"/>
          <p:cNvSpPr txBox="1"/>
          <p:nvPr/>
        </p:nvSpPr>
        <p:spPr>
          <a:xfrm>
            <a:off x="4508906" y="3436033"/>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15  </a:t>
            </a:r>
            <a:r>
              <a:rPr sz="1300" b="0" i="0">
                <a:solidFill>
                  <a:srgbClr val="ECEEF2"/>
                </a:solidFill>
                <a:latin typeface="Kaspersky Sans Display"/>
              </a:rPr>
              <a:t>'Full price' ≠ MSRP</a:t>
            </a:r>
          </a:p>
        </p:txBody>
      </p:sp>
      <p:sp>
        <p:nvSpPr>
          <p:cNvPr id="22" name="TextBox 21"/>
          <p:cNvSpPr txBox="1"/>
          <p:nvPr/>
        </p:nvSpPr>
        <p:spPr>
          <a:xfrm>
            <a:off x="4508906" y="3734972"/>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16  </a:t>
            </a:r>
            <a:r>
              <a:rPr sz="1300" b="0" i="0">
                <a:solidFill>
                  <a:srgbClr val="ECEEF2"/>
                </a:solidFill>
                <a:latin typeface="Kaspersky Sans Display"/>
              </a:rPr>
              <a:t>Mixed tax bases</a:t>
            </a:r>
          </a:p>
        </p:txBody>
      </p:sp>
      <p:sp>
        <p:nvSpPr>
          <p:cNvPr id="23" name="TextBox 22"/>
          <p:cNvSpPr txBox="1"/>
          <p:nvPr/>
        </p:nvSpPr>
        <p:spPr>
          <a:xfrm>
            <a:off x="4508906" y="4033910"/>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17  </a:t>
            </a:r>
            <a:r>
              <a:rPr sz="1300" b="0" i="0">
                <a:solidFill>
                  <a:srgbClr val="ECEEF2"/>
                </a:solidFill>
                <a:latin typeface="Kaspersky Sans Display"/>
              </a:rPr>
              <a:t>Unexplained values</a:t>
            </a:r>
          </a:p>
        </p:txBody>
      </p:sp>
      <p:sp>
        <p:nvSpPr>
          <p:cNvPr id="24" name="TextBox 23"/>
          <p:cNvSpPr txBox="1"/>
          <p:nvPr/>
        </p:nvSpPr>
        <p:spPr>
          <a:xfrm>
            <a:off x="4508906" y="4332849"/>
            <a:ext cx="3301898" cy="298938"/>
          </a:xfrm>
          <a:prstGeom prst="rect">
            <a:avLst/>
          </a:prstGeom>
          <a:noFill/>
        </p:spPr>
        <p:txBody>
          <a:bodyPr wrap="square" anchor="t" lIns="0" rIns="0" tIns="0" bIns="0">
            <a:spAutoFit/>
          </a:bodyPr>
          <a:lstStyle/>
          <a:p>
            <a:pPr algn="l">
              <a:spcAft>
                <a:spcPts val="600"/>
              </a:spcAft>
            </a:pPr>
            <a:r>
              <a:rPr sz="1300" b="1" i="0">
                <a:solidFill>
                  <a:srgbClr val="F2667F"/>
                </a:solidFill>
                <a:latin typeface="Kaspersky Sans Display"/>
              </a:rPr>
              <a:t>18  </a:t>
            </a:r>
            <a:r>
              <a:rPr sz="1300" b="0" i="0">
                <a:solidFill>
                  <a:srgbClr val="ECEEF2"/>
                </a:solidFill>
                <a:latin typeface="Kaspersky Sans Display"/>
              </a:rPr>
              <a:t>All 9 cases</a:t>
            </a:r>
          </a:p>
        </p:txBody>
      </p:sp>
      <p:sp>
        <p:nvSpPr>
          <p:cNvPr id="25" name="TextBox 24"/>
          <p:cNvSpPr txBox="1"/>
          <p:nvPr/>
        </p:nvSpPr>
        <p:spPr>
          <a:xfrm>
            <a:off x="4508906" y="4631787"/>
            <a:ext cx="3301898" cy="298938"/>
          </a:xfrm>
          <a:prstGeom prst="rect">
            <a:avLst/>
          </a:prstGeom>
          <a:noFill/>
        </p:spPr>
        <p:txBody>
          <a:bodyPr wrap="square" anchor="t" lIns="0" rIns="0" tIns="0" bIns="0">
            <a:spAutoFit/>
          </a:bodyPr>
          <a:lstStyle/>
          <a:p>
            <a:pPr algn="l">
              <a:spcAft>
                <a:spcPts val="600"/>
              </a:spcAft>
            </a:pPr>
            <a:r>
              <a:rPr sz="1300" b="1" i="0">
                <a:solidFill>
                  <a:srgbClr val="A37BE6"/>
                </a:solidFill>
                <a:latin typeface="Kaspersky Sans Display"/>
              </a:rPr>
              <a:t>19  </a:t>
            </a:r>
            <a:r>
              <a:rPr sz="1300" b="0" i="0">
                <a:solidFill>
                  <a:srgbClr val="ECEEF2"/>
                </a:solidFill>
                <a:latin typeface="Kaspersky Sans Display"/>
              </a:rPr>
              <a:t>Projection: MSRP at another moment</a:t>
            </a:r>
          </a:p>
        </p:txBody>
      </p:sp>
      <p:sp>
        <p:nvSpPr>
          <p:cNvPr id="26" name="TextBox 25"/>
          <p:cNvSpPr txBox="1"/>
          <p:nvPr/>
        </p:nvSpPr>
        <p:spPr>
          <a:xfrm>
            <a:off x="4508906" y="4930726"/>
            <a:ext cx="3301898" cy="298938"/>
          </a:xfrm>
          <a:prstGeom prst="rect">
            <a:avLst/>
          </a:prstGeom>
          <a:noFill/>
        </p:spPr>
        <p:txBody>
          <a:bodyPr wrap="square" anchor="t" lIns="0" rIns="0" tIns="0" bIns="0">
            <a:spAutoFit/>
          </a:bodyPr>
          <a:lstStyle/>
          <a:p>
            <a:pPr algn="l">
              <a:spcAft>
                <a:spcPts val="600"/>
              </a:spcAft>
            </a:pPr>
            <a:r>
              <a:rPr sz="1300" b="1" i="0">
                <a:solidFill>
                  <a:srgbClr val="A37BE6"/>
                </a:solidFill>
                <a:latin typeface="Kaspersky Sans Display"/>
              </a:rPr>
              <a:t>20  </a:t>
            </a:r>
            <a:r>
              <a:rPr sz="1300" b="0" i="0">
                <a:solidFill>
                  <a:srgbClr val="ECEEF2"/>
                </a:solidFill>
                <a:latin typeface="Kaspersky Sans Display"/>
              </a:rPr>
              <a:t>Same contract, new amount</a:t>
            </a:r>
          </a:p>
        </p:txBody>
      </p:sp>
      <p:sp>
        <p:nvSpPr>
          <p:cNvPr id="27" name="TextBox 26"/>
          <p:cNvSpPr txBox="1"/>
          <p:nvPr/>
        </p:nvSpPr>
        <p:spPr>
          <a:xfrm>
            <a:off x="4508906" y="5229664"/>
            <a:ext cx="3301898" cy="298938"/>
          </a:xfrm>
          <a:prstGeom prst="rect">
            <a:avLst/>
          </a:prstGeom>
          <a:noFill/>
        </p:spPr>
        <p:txBody>
          <a:bodyPr wrap="square" anchor="t" lIns="0" rIns="0" tIns="0" bIns="0">
            <a:spAutoFit/>
          </a:bodyPr>
          <a:lstStyle/>
          <a:p>
            <a:pPr algn="l">
              <a:spcAft>
                <a:spcPts val="600"/>
              </a:spcAft>
            </a:pPr>
            <a:r>
              <a:rPr sz="1300" b="1" i="0">
                <a:solidFill>
                  <a:srgbClr val="A37BE6"/>
                </a:solidFill>
                <a:latin typeface="Kaspersky Sans Display"/>
              </a:rPr>
              <a:t>21  </a:t>
            </a:r>
            <a:r>
              <a:rPr sz="1300" b="0" i="0">
                <a:solidFill>
                  <a:srgbClr val="ECEEF2"/>
                </a:solidFill>
                <a:latin typeface="Kaspersky Sans Display"/>
              </a:rPr>
              <a:t>Renewed vs churned</a:t>
            </a:r>
          </a:p>
        </p:txBody>
      </p:sp>
      <p:sp>
        <p:nvSpPr>
          <p:cNvPr id="28" name="TextBox 27"/>
          <p:cNvSpPr txBox="1"/>
          <p:nvPr/>
        </p:nvSpPr>
        <p:spPr>
          <a:xfrm>
            <a:off x="4508906" y="5528603"/>
            <a:ext cx="3301898" cy="298938"/>
          </a:xfrm>
          <a:prstGeom prst="rect">
            <a:avLst/>
          </a:prstGeom>
          <a:noFill/>
        </p:spPr>
        <p:txBody>
          <a:bodyPr wrap="square" anchor="t" lIns="0" rIns="0" tIns="0" bIns="0">
            <a:spAutoFit/>
          </a:bodyPr>
          <a:lstStyle/>
          <a:p>
            <a:pPr algn="l">
              <a:spcAft>
                <a:spcPts val="600"/>
              </a:spcAft>
            </a:pPr>
            <a:r>
              <a:rPr sz="1300" b="1" i="0">
                <a:solidFill>
                  <a:srgbClr val="A37BE6"/>
                </a:solidFill>
                <a:latin typeface="Kaspersky Sans Display"/>
              </a:rPr>
              <a:t>22  </a:t>
            </a:r>
            <a:r>
              <a:rPr sz="1300" b="0" i="0">
                <a:solidFill>
                  <a:srgbClr val="ECEEF2"/>
                </a:solidFill>
                <a:latin typeface="Kaspersky Sans Display"/>
              </a:rPr>
              <a:t>Price cap</a:t>
            </a:r>
          </a:p>
        </p:txBody>
      </p:sp>
      <p:sp>
        <p:nvSpPr>
          <p:cNvPr id="29" name="TextBox 28"/>
          <p:cNvSpPr txBox="1"/>
          <p:nvPr/>
        </p:nvSpPr>
        <p:spPr>
          <a:xfrm>
            <a:off x="4508906" y="5827541"/>
            <a:ext cx="3301898" cy="298938"/>
          </a:xfrm>
          <a:prstGeom prst="rect">
            <a:avLst/>
          </a:prstGeom>
          <a:noFill/>
        </p:spPr>
        <p:txBody>
          <a:bodyPr wrap="square" anchor="t" lIns="0" rIns="0" tIns="0" bIns="0">
            <a:spAutoFit/>
          </a:bodyPr>
          <a:lstStyle/>
          <a:p>
            <a:pPr algn="l">
              <a:spcAft>
                <a:spcPts val="600"/>
              </a:spcAft>
            </a:pPr>
            <a:r>
              <a:rPr sz="1300" b="1" i="0">
                <a:solidFill>
                  <a:srgbClr val="A37BE6"/>
                </a:solidFill>
                <a:latin typeface="Kaspersky Sans Display"/>
              </a:rPr>
              <a:t>23  </a:t>
            </a:r>
            <a:r>
              <a:rPr sz="1300" b="0" i="0">
                <a:solidFill>
                  <a:srgbClr val="ECEEF2"/>
                </a:solidFill>
                <a:latin typeface="Kaspersky Sans Display"/>
              </a:rPr>
              <a:t>MSRP at any date</a:t>
            </a:r>
          </a:p>
        </p:txBody>
      </p:sp>
      <p:sp>
        <p:nvSpPr>
          <p:cNvPr id="30" name="Rounded Rectangle 29"/>
          <p:cNvSpPr/>
          <p:nvPr/>
        </p:nvSpPr>
        <p:spPr>
          <a:xfrm>
            <a:off x="8066836" y="1463040"/>
            <a:ext cx="3576218" cy="4754880"/>
          </a:xfrm>
          <a:prstGeom prst="roundRect">
            <a:avLst>
              <a:gd name="adj" fmla="val 12000"/>
            </a:avLst>
          </a:prstGeom>
          <a:solidFill>
            <a:srgbClr val="2A2E37"/>
          </a:solidFill>
          <a:ln w="19050">
            <a:solidFill>
              <a:srgbClr val="F79A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68004" y="1664208"/>
            <a:ext cx="3256178" cy="457200"/>
          </a:xfrm>
          <a:prstGeom prst="rect">
            <a:avLst/>
          </a:prstGeom>
          <a:noFill/>
        </p:spPr>
        <p:txBody>
          <a:bodyPr wrap="square" anchor="t" lIns="0" rIns="0" tIns="0" bIns="0">
            <a:spAutoFit/>
          </a:bodyPr>
          <a:lstStyle/>
          <a:p>
            <a:pPr algn="l">
              <a:spcAft>
                <a:spcPts val="600"/>
              </a:spcAft>
            </a:pPr>
            <a:r>
              <a:rPr sz="1800" b="1" i="0">
                <a:solidFill>
                  <a:srgbClr val="F79A6A"/>
                </a:solidFill>
                <a:latin typeface="Kaspersky Sans Display"/>
              </a:rPr>
              <a:t>3 · The plan</a:t>
            </a:r>
          </a:p>
        </p:txBody>
      </p:sp>
      <p:sp>
        <p:nvSpPr>
          <p:cNvPr id="32" name="TextBox 31"/>
          <p:cNvSpPr txBox="1"/>
          <p:nvPr/>
        </p:nvSpPr>
        <p:spPr>
          <a:xfrm>
            <a:off x="8268004" y="2240280"/>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24  </a:t>
            </a:r>
            <a:r>
              <a:rPr sz="1300" b="0" i="0">
                <a:solidFill>
                  <a:srgbClr val="ECEEF2"/>
                </a:solidFill>
                <a:latin typeface="Kaspersky Sans Display"/>
              </a:rPr>
              <a:t>Three challenges</a:t>
            </a:r>
          </a:p>
        </p:txBody>
      </p:sp>
      <p:sp>
        <p:nvSpPr>
          <p:cNvPr id="33" name="TextBox 32"/>
          <p:cNvSpPr txBox="1"/>
          <p:nvPr/>
        </p:nvSpPr>
        <p:spPr>
          <a:xfrm>
            <a:off x="8268004" y="2624328"/>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25  </a:t>
            </a:r>
            <a:r>
              <a:rPr sz="1300" b="0" i="0">
                <a:solidFill>
                  <a:srgbClr val="ECEEF2"/>
                </a:solidFill>
                <a:latin typeface="Kaspersky Sans Display"/>
              </a:rPr>
              <a:t>How each is solved</a:t>
            </a:r>
          </a:p>
        </p:txBody>
      </p:sp>
      <p:sp>
        <p:nvSpPr>
          <p:cNvPr id="34" name="TextBox 33"/>
          <p:cNvSpPr txBox="1"/>
          <p:nvPr/>
        </p:nvSpPr>
        <p:spPr>
          <a:xfrm>
            <a:off x="8268004" y="3008376"/>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26  </a:t>
            </a:r>
            <a:r>
              <a:rPr sz="1300" b="0" i="0">
                <a:solidFill>
                  <a:srgbClr val="ECEEF2"/>
                </a:solidFill>
                <a:latin typeface="Kaspersky Sans Display"/>
              </a:rPr>
              <a:t>1 · MSRP in the transaction</a:t>
            </a:r>
          </a:p>
        </p:txBody>
      </p:sp>
      <p:sp>
        <p:nvSpPr>
          <p:cNvPr id="35" name="TextBox 34"/>
          <p:cNvSpPr txBox="1"/>
          <p:nvPr/>
        </p:nvSpPr>
        <p:spPr>
          <a:xfrm>
            <a:off x="8268004" y="3392424"/>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27  </a:t>
            </a:r>
            <a:r>
              <a:rPr sz="1300" b="0" i="0">
                <a:solidFill>
                  <a:srgbClr val="ECEEF2"/>
                </a:solidFill>
                <a:latin typeface="Kaspersky Sans Display"/>
              </a:rPr>
              <a:t>2 · Coverage</a:t>
            </a:r>
          </a:p>
        </p:txBody>
      </p:sp>
      <p:sp>
        <p:nvSpPr>
          <p:cNvPr id="36" name="TextBox 35"/>
          <p:cNvSpPr txBox="1"/>
          <p:nvPr/>
        </p:nvSpPr>
        <p:spPr>
          <a:xfrm>
            <a:off x="8268004" y="3776472"/>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28  </a:t>
            </a:r>
            <a:r>
              <a:rPr sz="1300" b="0" i="0">
                <a:solidFill>
                  <a:srgbClr val="ECEEF2"/>
                </a:solidFill>
                <a:latin typeface="Kaspersky Sans Display"/>
              </a:rPr>
              <a:t>3 · Reference price source</a:t>
            </a:r>
          </a:p>
        </p:txBody>
      </p:sp>
      <p:sp>
        <p:nvSpPr>
          <p:cNvPr id="37" name="TextBox 36"/>
          <p:cNvSpPr txBox="1"/>
          <p:nvPr/>
        </p:nvSpPr>
        <p:spPr>
          <a:xfrm>
            <a:off x="8268004" y="4160520"/>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29  </a:t>
            </a:r>
            <a:r>
              <a:rPr sz="1300" b="0" i="0">
                <a:solidFill>
                  <a:srgbClr val="ECEEF2"/>
                </a:solidFill>
                <a:latin typeface="Kaspersky Sans Display"/>
              </a:rPr>
              <a:t>Retention's criteria</a:t>
            </a:r>
          </a:p>
        </p:txBody>
      </p:sp>
      <p:sp>
        <p:nvSpPr>
          <p:cNvPr id="38" name="TextBox 37"/>
          <p:cNvSpPr txBox="1"/>
          <p:nvPr/>
        </p:nvSpPr>
        <p:spPr>
          <a:xfrm>
            <a:off x="8268004" y="4544568"/>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30  </a:t>
            </a:r>
            <a:r>
              <a:rPr sz="1300" b="0" i="0">
                <a:solidFill>
                  <a:srgbClr val="ECEEF2"/>
                </a:solidFill>
                <a:latin typeface="Kaspersky Sans Display"/>
              </a:rPr>
              <a:t>Plan and status</a:t>
            </a:r>
          </a:p>
        </p:txBody>
      </p:sp>
      <p:sp>
        <p:nvSpPr>
          <p:cNvPr id="39" name="TextBox 38"/>
          <p:cNvSpPr txBox="1"/>
          <p:nvPr/>
        </p:nvSpPr>
        <p:spPr>
          <a:xfrm>
            <a:off x="8268004" y="4928616"/>
            <a:ext cx="3301898" cy="384048"/>
          </a:xfrm>
          <a:prstGeom prst="rect">
            <a:avLst/>
          </a:prstGeom>
          <a:noFill/>
        </p:spPr>
        <p:txBody>
          <a:bodyPr wrap="square" anchor="t" lIns="0" rIns="0" tIns="0" bIns="0">
            <a:spAutoFit/>
          </a:bodyPr>
          <a:lstStyle/>
          <a:p>
            <a:pPr algn="l">
              <a:spcAft>
                <a:spcPts val="600"/>
              </a:spcAft>
            </a:pPr>
            <a:r>
              <a:rPr sz="1300" b="1" i="0">
                <a:solidFill>
                  <a:srgbClr val="F79A6A"/>
                </a:solidFill>
                <a:latin typeface="Kaspersky Sans Display"/>
              </a:rPr>
              <a:t>31  </a:t>
            </a:r>
            <a:r>
              <a:rPr sz="1300" b="0" i="0">
                <a:solidFill>
                  <a:srgbClr val="ECEEF2"/>
                </a:solidFill>
                <a:latin typeface="Kaspersky Sans Display"/>
              </a:rPr>
              <a:t>What we ask today</a:t>
            </a:r>
          </a:p>
        </p:txBody>
      </p:sp>
      <p:sp>
        <p:nvSpPr>
          <p:cNvPr id="40" name="TextBox 39"/>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731520"/>
            <a:ext cx="6400800" cy="822960"/>
          </a:xfrm>
          <a:prstGeom prst="rect">
            <a:avLst/>
          </a:prstGeom>
          <a:noFill/>
        </p:spPr>
        <p:txBody>
          <a:bodyPr wrap="square" anchor="t" lIns="0" rIns="0" tIns="0" bIns="0">
            <a:spAutoFit/>
          </a:bodyPr>
          <a:lstStyle/>
          <a:p>
            <a:pPr algn="l">
              <a:spcAft>
                <a:spcPts val="600"/>
              </a:spcAft>
            </a:pPr>
            <a:r>
              <a:rPr sz="4400" b="1" i="0">
                <a:solidFill>
                  <a:srgbClr val="FFFFFF"/>
                </a:solidFill>
                <a:latin typeface="Kaspersky Sans Display"/>
              </a:rPr>
              <a:t>Transaction model</a:t>
            </a:r>
          </a:p>
        </p:txBody>
      </p:sp>
      <p:sp>
        <p:nvSpPr>
          <p:cNvPr id="3" name="Rounded Rectangle 2"/>
          <p:cNvSpPr/>
          <p:nvPr/>
        </p:nvSpPr>
        <p:spPr>
          <a:xfrm>
            <a:off x="7498079" y="960120"/>
            <a:ext cx="4142232" cy="457200"/>
          </a:xfrm>
          <a:prstGeom prst="roundRect">
            <a:avLst>
              <a:gd name="adj" fmla="val 12000"/>
            </a:avLst>
          </a:prstGeom>
          <a:solidFill>
            <a:srgbClr val="14171C"/>
          </a:solidFill>
          <a:ln w="19050">
            <a:solidFill>
              <a:srgbClr val="EEDB5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EEDB5C"/>
                </a:solidFill>
                <a:latin typeface="Kaspersky Sans Display"/>
              </a:rPr>
              <a:t>THEORETICAL TRANSACTION</a:t>
            </a:r>
          </a:p>
        </p:txBody>
      </p:sp>
      <p:sp>
        <p:nvSpPr>
          <p:cNvPr id="4" name="TextBox 3"/>
          <p:cNvSpPr txBox="1"/>
          <p:nvPr/>
        </p:nvSpPr>
        <p:spPr>
          <a:xfrm>
            <a:off x="731520" y="1645920"/>
            <a:ext cx="10881360" cy="1645920"/>
          </a:xfrm>
          <a:prstGeom prst="rect">
            <a:avLst/>
          </a:prstGeom>
          <a:noFill/>
        </p:spPr>
        <p:txBody>
          <a:bodyPr wrap="square" anchor="t" lIns="0" rIns="0" tIns="0" bIns="0">
            <a:spAutoFit/>
          </a:bodyPr>
          <a:lstStyle/>
          <a:p>
            <a:pPr algn="l">
              <a:spcAft>
                <a:spcPts val="700"/>
              </a:spcAft>
            </a:pPr>
            <a:r>
              <a:rPr sz="2000" b="0" i="0">
                <a:solidFill>
                  <a:srgbClr val="FFFFFF"/>
                </a:solidFill>
                <a:latin typeface="Kaspersky Sans Display"/>
              </a:rPr>
              <a:t>A transaction is unique: one product, bought or renewed, at one moment.</a:t>
            </a:r>
          </a:p>
          <a:p>
            <a:pPr algn="l">
              <a:spcAft>
                <a:spcPts val="700"/>
              </a:spcAft>
            </a:pPr>
            <a:r>
              <a:rPr sz="1400" b="1" i="0">
                <a:solidFill>
                  <a:srgbClr val="EEDB5C"/>
                </a:solidFill>
                <a:latin typeface="Kaspersky Sans Display"/>
              </a:rPr>
              <a:t>Known inputs: </a:t>
            </a:r>
            <a:r>
              <a:rPr sz="1400" b="0" i="0">
                <a:solidFill>
                  <a:srgbClr val="B8C2D0"/>
                </a:solidFill>
                <a:latin typeface="Kaspersky Sans Display"/>
              </a:rPr>
              <a:t>an order of SKU X on 2 May 2026 in Germany · MSRP €59.99 · discount 60% · VAT 19% · Nexway fee 7.5%</a:t>
            </a:r>
          </a:p>
          <a:p>
            <a:pPr algn="l">
              <a:spcAft>
                <a:spcPts val="700"/>
              </a:spcAft>
            </a:pPr>
            <a:r>
              <a:rPr sz="1500" b="0" i="0">
                <a:solidFill>
                  <a:srgbClr val="B8C2D0"/>
                </a:solidFill>
                <a:latin typeface="Kaspersky Sans Display"/>
              </a:rPr>
              <a:t>From what the customer pays, </a:t>
            </a:r>
            <a:r>
              <a:rPr sz="1500" b="1" i="0">
                <a:solidFill>
                  <a:srgbClr val="FFFFFF"/>
                </a:solidFill>
                <a:latin typeface="Kaspersky Sans Display"/>
              </a:rPr>
              <a:t>taxes</a:t>
            </a:r>
            <a:r>
              <a:rPr sz="1500" b="0" i="0">
                <a:solidFill>
                  <a:srgbClr val="B8C2D0"/>
                </a:solidFill>
                <a:latin typeface="Kaspersky Sans Display"/>
              </a:rPr>
              <a:t> go to the State, the </a:t>
            </a:r>
            <a:r>
              <a:rPr sz="1500" b="1" i="0">
                <a:solidFill>
                  <a:srgbClr val="FFFFFF"/>
                </a:solidFill>
                <a:latin typeface="Kaspersky Sans Display"/>
              </a:rPr>
              <a:t>partner fee</a:t>
            </a:r>
            <a:r>
              <a:rPr sz="1500" b="0" i="0">
                <a:solidFill>
                  <a:srgbClr val="B8C2D0"/>
                </a:solidFill>
                <a:latin typeface="Kaspersky Sans Display"/>
              </a:rPr>
              <a:t> goes to the e-commerce provider (also in our P&amp;L), and </a:t>
            </a:r>
            <a:r>
              <a:rPr sz="1500" b="1" i="0">
                <a:solidFill>
                  <a:srgbClr val="FFFFFF"/>
                </a:solidFill>
                <a:latin typeface="Kaspersky Sans Display"/>
              </a:rPr>
              <a:t>Due to KL</a:t>
            </a:r>
            <a:r>
              <a:rPr sz="1500" b="0" i="0">
                <a:solidFill>
                  <a:srgbClr val="B8C2D0"/>
                </a:solidFill>
                <a:latin typeface="Kaspersky Sans Display"/>
              </a:rPr>
              <a:t> is what we earn net.</a:t>
            </a:r>
          </a:p>
        </p:txBody>
      </p:sp>
      <p:sp>
        <p:nvSpPr>
          <p:cNvPr id="5" name="Rectangle 4"/>
          <p:cNvSpPr/>
          <p:nvPr/>
        </p:nvSpPr>
        <p:spPr>
          <a:xfrm>
            <a:off x="731520" y="3886200"/>
            <a:ext cx="6400800" cy="27432"/>
          </a:xfrm>
          <a:prstGeom prst="rect">
            <a:avLst/>
          </a:prstGeom>
          <a:solidFill>
            <a:srgbClr val="B8C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886200"/>
            <a:ext cx="27432" cy="146304"/>
          </a:xfrm>
          <a:prstGeom prst="rect">
            <a:avLst/>
          </a:prstGeom>
          <a:solidFill>
            <a:srgbClr val="B8C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04888" y="3886200"/>
            <a:ext cx="27432" cy="146304"/>
          </a:xfrm>
          <a:prstGeom prst="rect">
            <a:avLst/>
          </a:prstGeom>
          <a:solidFill>
            <a:srgbClr val="B8C2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538728"/>
            <a:ext cx="6400800" cy="292608"/>
          </a:xfrm>
          <a:prstGeom prst="rect">
            <a:avLst/>
          </a:prstGeom>
          <a:noFill/>
        </p:spPr>
        <p:txBody>
          <a:bodyPr wrap="square" anchor="b" lIns="0" rIns="0" tIns="0" bIns="0">
            <a:spAutoFit/>
          </a:bodyPr>
          <a:lstStyle/>
          <a:p>
            <a:pPr algn="ctr">
              <a:spcAft>
                <a:spcPts val="600"/>
              </a:spcAft>
            </a:pPr>
            <a:r>
              <a:rPr sz="1300" b="1" i="0">
                <a:solidFill>
                  <a:srgbClr val="FFFFFF"/>
                </a:solidFill>
                <a:latin typeface="Kaspersky Sans Display"/>
              </a:rPr>
              <a:t>MSRP with taxes: €59.99</a:t>
            </a:r>
          </a:p>
        </p:txBody>
      </p:sp>
      <p:sp>
        <p:nvSpPr>
          <p:cNvPr id="9" name="Rectangle 8"/>
          <p:cNvSpPr/>
          <p:nvPr/>
        </p:nvSpPr>
        <p:spPr>
          <a:xfrm>
            <a:off x="731520" y="4069080"/>
            <a:ext cx="2560746" cy="548640"/>
          </a:xfrm>
          <a:prstGeom prst="rect">
            <a:avLst/>
          </a:prstGeom>
          <a:solidFill>
            <a:srgbClr val="6CC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Customer amount</a:t>
            </a:r>
          </a:p>
          <a:p>
            <a:pPr algn="ctr">
              <a:spcAft>
                <a:spcPts val="0"/>
              </a:spcAft>
            </a:pPr>
            <a:r>
              <a:rPr sz="1200" b="1" i="0">
                <a:solidFill>
                  <a:srgbClr val="14171C"/>
                </a:solidFill>
                <a:latin typeface="Kaspersky Sans Display"/>
              </a:rPr>
              <a:t>with taxes €24.00</a:t>
            </a:r>
          </a:p>
        </p:txBody>
      </p:sp>
      <p:sp>
        <p:nvSpPr>
          <p:cNvPr id="10" name="Rectangle 9"/>
          <p:cNvSpPr/>
          <p:nvPr/>
        </p:nvSpPr>
        <p:spPr>
          <a:xfrm>
            <a:off x="3292266" y="4069080"/>
            <a:ext cx="3840053" cy="548640"/>
          </a:xfrm>
          <a:prstGeom prst="rect">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Discount amount</a:t>
            </a:r>
          </a:p>
          <a:p>
            <a:pPr algn="ctr">
              <a:spcAft>
                <a:spcPts val="0"/>
              </a:spcAft>
            </a:pPr>
            <a:r>
              <a:rPr sz="1200" b="1" i="0">
                <a:solidFill>
                  <a:srgbClr val="14171C"/>
                </a:solidFill>
                <a:latin typeface="Kaspersky Sans Display"/>
              </a:rPr>
              <a:t>€35.99</a:t>
            </a:r>
          </a:p>
        </p:txBody>
      </p:sp>
      <p:cxnSp>
        <p:nvCxnSpPr>
          <p:cNvPr id="11" name="Connector 10"/>
          <p:cNvCxnSpPr/>
          <p:nvPr/>
        </p:nvCxnSpPr>
        <p:spPr>
          <a:xfrm>
            <a:off x="731520" y="4617720"/>
            <a:ext cx="0" cy="320040"/>
          </a:xfrm>
          <a:prstGeom prst="line">
            <a:avLst/>
          </a:prstGeom>
          <a:ln w="15875">
            <a:solidFill>
              <a:srgbClr val="B8C2D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292266" y="4617720"/>
            <a:ext cx="3840054" cy="320040"/>
          </a:xfrm>
          <a:prstGeom prst="line">
            <a:avLst/>
          </a:prstGeom>
          <a:ln w="15875">
            <a:solidFill>
              <a:srgbClr val="B8C2D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31520" y="4937760"/>
            <a:ext cx="4976622" cy="548640"/>
          </a:xfrm>
          <a:prstGeom prst="rect">
            <a:avLst/>
          </a:prstGeom>
          <a:solidFill>
            <a:srgbClr val="6F8F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FFFFF"/>
                </a:solidFill>
                <a:latin typeface="Kaspersky Sans Display"/>
              </a:rPr>
              <a:t>Due to KL</a:t>
            </a:r>
          </a:p>
          <a:p>
            <a:pPr algn="ctr">
              <a:spcAft>
                <a:spcPts val="0"/>
              </a:spcAft>
            </a:pPr>
            <a:r>
              <a:rPr sz="1100" b="1" i="0">
                <a:solidFill>
                  <a:srgbClr val="FFFFFF"/>
                </a:solidFill>
                <a:latin typeface="Kaspersky Sans Display"/>
              </a:rPr>
              <a:t>€18.66</a:t>
            </a:r>
          </a:p>
        </p:txBody>
      </p:sp>
      <p:sp>
        <p:nvSpPr>
          <p:cNvPr id="14" name="Rectangle 13"/>
          <p:cNvSpPr/>
          <p:nvPr/>
        </p:nvSpPr>
        <p:spPr>
          <a:xfrm>
            <a:off x="5708142" y="4937760"/>
            <a:ext cx="402717" cy="548640"/>
          </a:xfrm>
          <a:prstGeom prst="rect">
            <a:avLst/>
          </a:prstGeom>
          <a:solidFill>
            <a:srgbClr val="A37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77980" y="5522976"/>
            <a:ext cx="1463040" cy="228600"/>
          </a:xfrm>
          <a:prstGeom prst="rect">
            <a:avLst/>
          </a:prstGeom>
          <a:noFill/>
        </p:spPr>
        <p:txBody>
          <a:bodyPr wrap="square" anchor="t" lIns="0" rIns="0" tIns="0" bIns="0">
            <a:spAutoFit/>
          </a:bodyPr>
          <a:lstStyle/>
          <a:p>
            <a:pPr algn="ctr">
              <a:spcAft>
                <a:spcPts val="600"/>
              </a:spcAft>
            </a:pPr>
            <a:r>
              <a:rPr sz="1000" b="1" i="0">
                <a:solidFill>
                  <a:srgbClr val="A37BE6"/>
                </a:solidFill>
                <a:latin typeface="Kaspersky Sans Display"/>
              </a:rPr>
              <a:t>Partner fee €1.51</a:t>
            </a:r>
          </a:p>
        </p:txBody>
      </p:sp>
      <p:sp>
        <p:nvSpPr>
          <p:cNvPr id="16" name="Rectangle 15"/>
          <p:cNvSpPr/>
          <p:nvPr/>
        </p:nvSpPr>
        <p:spPr>
          <a:xfrm>
            <a:off x="6110859" y="4937760"/>
            <a:ext cx="1021461" cy="548640"/>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Taxes</a:t>
            </a:r>
          </a:p>
          <a:p>
            <a:pPr algn="ctr">
              <a:spcAft>
                <a:spcPts val="0"/>
              </a:spcAft>
            </a:pPr>
            <a:r>
              <a:rPr sz="1100" b="1" i="0">
                <a:solidFill>
                  <a:srgbClr val="14171C"/>
                </a:solidFill>
                <a:latin typeface="Kaspersky Sans Display"/>
              </a:rPr>
              <a:t>€3.83</a:t>
            </a:r>
          </a:p>
        </p:txBody>
      </p:sp>
      <p:sp>
        <p:nvSpPr>
          <p:cNvPr id="17" name="Rounded Rectangle 16"/>
          <p:cNvSpPr/>
          <p:nvPr/>
        </p:nvSpPr>
        <p:spPr>
          <a:xfrm>
            <a:off x="7498079" y="3429000"/>
            <a:ext cx="4142232" cy="3063240"/>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3611880"/>
            <a:ext cx="3730752" cy="2743200"/>
          </a:xfrm>
          <a:prstGeom prst="rect">
            <a:avLst/>
          </a:prstGeom>
          <a:noFill/>
        </p:spPr>
        <p:txBody>
          <a:bodyPr wrap="square" anchor="t" lIns="0" rIns="0" tIns="0" bIns="0">
            <a:spAutoFit/>
          </a:bodyPr>
          <a:lstStyle/>
          <a:p>
            <a:pPr algn="l">
              <a:spcAft>
                <a:spcPts val="400"/>
              </a:spcAft>
            </a:pPr>
            <a:r>
              <a:rPr sz="1600" b="1" i="0">
                <a:solidFill>
                  <a:srgbClr val="FFFFFF"/>
                </a:solidFill>
                <a:latin typeface="Kaspersky Sans Display"/>
              </a:rPr>
              <a:t>Transaction model</a:t>
            </a:r>
            <a:r>
              <a:rPr sz="1200" b="0" i="0">
                <a:solidFill>
                  <a:srgbClr val="EEDB5C"/>
                </a:solidFill>
                <a:latin typeface="Kaspersky Sans Display"/>
              </a:rPr>
              <a:t>  ·  these equalities are the check</a:t>
            </a:r>
          </a:p>
          <a:p>
            <a:pPr algn="l">
              <a:spcAft>
                <a:spcPts val="400"/>
              </a:spcAft>
            </a:pPr>
            <a:r>
              <a:rPr sz="1200" b="1" i="0">
                <a:solidFill>
                  <a:srgbClr val="EEDB5C"/>
                </a:solidFill>
                <a:latin typeface="Kaspersky Sans Display"/>
              </a:rPr>
              <a:t>1  </a:t>
            </a:r>
            <a:r>
              <a:rPr sz="1200" b="0" i="0">
                <a:solidFill>
                  <a:srgbClr val="FFFFFF"/>
                </a:solidFill>
                <a:latin typeface="Kaspersky Sans Display"/>
              </a:rPr>
              <a:t>Due to KL + Partner fee + Taxes = Customer amount with taxes</a:t>
            </a:r>
          </a:p>
          <a:p>
            <a:pPr algn="l">
              <a:spcAft>
                <a:spcPts val="400"/>
              </a:spcAft>
            </a:pPr>
            <a:r>
              <a:rPr sz="1200" b="1" i="0">
                <a:solidFill>
                  <a:srgbClr val="3DC4A2"/>
                </a:solidFill>
                <a:latin typeface="Kaspersky Sans Display"/>
              </a:rPr>
              <a:t>     18.66 + 1.51 + 3.83 = 24.00  ✓</a:t>
            </a:r>
          </a:p>
          <a:p>
            <a:pPr algn="l">
              <a:spcAft>
                <a:spcPts val="400"/>
              </a:spcAft>
            </a:pPr>
            <a:r>
              <a:rPr sz="1200" b="1" i="0">
                <a:solidFill>
                  <a:srgbClr val="EEDB5C"/>
                </a:solidFill>
                <a:latin typeface="Kaspersky Sans Display"/>
              </a:rPr>
              <a:t>2  </a:t>
            </a:r>
            <a:r>
              <a:rPr sz="1200" b="0" i="0">
                <a:solidFill>
                  <a:srgbClr val="FFFFFF"/>
                </a:solidFill>
                <a:latin typeface="Kaspersky Sans Display"/>
              </a:rPr>
              <a:t>Customer amount with taxes + Discount amount = MSRP with taxes</a:t>
            </a:r>
          </a:p>
          <a:p>
            <a:pPr algn="l">
              <a:spcAft>
                <a:spcPts val="400"/>
              </a:spcAft>
            </a:pPr>
            <a:r>
              <a:rPr sz="1200" b="1" i="0">
                <a:solidFill>
                  <a:srgbClr val="3DC4A2"/>
                </a:solidFill>
                <a:latin typeface="Kaspersky Sans Display"/>
              </a:rPr>
              <a:t>     24.00 + 35.99 = 59.99  ✓</a:t>
            </a:r>
          </a:p>
          <a:p>
            <a:pPr algn="l">
              <a:spcAft>
                <a:spcPts val="400"/>
              </a:spcAft>
            </a:pPr>
            <a:r>
              <a:rPr sz="1200" b="1" i="0">
                <a:solidFill>
                  <a:srgbClr val="EEDB5C"/>
                </a:solidFill>
                <a:latin typeface="Kaspersky Sans Display"/>
              </a:rPr>
              <a:t>3  </a:t>
            </a:r>
            <a:r>
              <a:rPr sz="1200" b="0" i="0">
                <a:solidFill>
                  <a:srgbClr val="FFFFFF"/>
                </a:solidFill>
                <a:latin typeface="Kaspersky Sans Display"/>
              </a:rPr>
              <a:t>MSRP with taxes − Customer amount with taxes = Discount amount</a:t>
            </a:r>
          </a:p>
          <a:p>
            <a:pPr algn="l">
              <a:spcAft>
                <a:spcPts val="400"/>
              </a:spcAft>
            </a:pPr>
            <a:r>
              <a:rPr sz="1200" b="1" i="0">
                <a:solidFill>
                  <a:srgbClr val="3DC4A2"/>
                </a:solidFill>
                <a:latin typeface="Kaspersky Sans Display"/>
              </a:rPr>
              <a:t>     59.99 − 24.00 = 35.99  ✓</a:t>
            </a:r>
          </a:p>
          <a:p>
            <a:pPr algn="l">
              <a:spcAft>
                <a:spcPts val="400"/>
              </a:spcAft>
            </a:pPr>
            <a:r>
              <a:rPr sz="1200" b="1" i="0">
                <a:solidFill>
                  <a:srgbClr val="EEDB5C"/>
                </a:solidFill>
                <a:latin typeface="Kaspersky Sans Display"/>
              </a:rPr>
              <a:t>4  </a:t>
            </a:r>
            <a:r>
              <a:rPr sz="1200" b="0" i="0">
                <a:solidFill>
                  <a:srgbClr val="FFFFFF"/>
                </a:solidFill>
                <a:latin typeface="Kaspersky Sans Display"/>
              </a:rPr>
              <a:t>Discount amount / MSRP with taxes = % discount</a:t>
            </a:r>
          </a:p>
          <a:p>
            <a:pPr algn="l">
              <a:spcAft>
                <a:spcPts val="400"/>
              </a:spcAft>
            </a:pPr>
            <a:r>
              <a:rPr sz="1200" b="1" i="0">
                <a:solidFill>
                  <a:srgbClr val="3DC4A2"/>
                </a:solidFill>
                <a:latin typeface="Kaspersky Sans Display"/>
              </a:rPr>
              <a:t>     35.99 / 59.99 = 60%  ✓</a:t>
            </a:r>
          </a:p>
        </p:txBody>
      </p:sp>
      <p:sp>
        <p:nvSpPr>
          <p:cNvPr id="19" name="TextBox 18"/>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3</a:t>
            </a:r>
          </a:p>
        </p:txBody>
      </p:sp>
      <p:sp>
        <p:nvSpPr>
          <p:cNvPr id="20" name="Rounded Rectangle 19"/>
          <p:cNvSpPr/>
          <p:nvPr/>
        </p:nvSpPr>
        <p:spPr>
          <a:xfrm>
            <a:off x="9357055" y="274320"/>
            <a:ext cx="1737360" cy="292608"/>
          </a:xfrm>
          <a:prstGeom prst="roundRect">
            <a:avLst>
              <a:gd name="adj" fmla="val 12000"/>
            </a:avLst>
          </a:prstGeom>
          <a:solidFill>
            <a:srgbClr val="1E2128"/>
          </a:solidFill>
          <a:ln w="19050">
            <a:solidFill>
              <a:srgbClr val="6CC9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6CC9EC"/>
                </a:solidFill>
                <a:latin typeface="Kaspersky Sans Display"/>
              </a:rPr>
              <a:t>1 · THE NEED</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The same transaction in percentages</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Same theoretical transaction. Each percentage has its own reference</a:t>
            </a:r>
          </a:p>
        </p:txBody>
      </p:sp>
      <p:sp>
        <p:nvSpPr>
          <p:cNvPr id="4" name="Rectangle 3"/>
          <p:cNvSpPr/>
          <p:nvPr/>
        </p:nvSpPr>
        <p:spPr>
          <a:xfrm>
            <a:off x="548640" y="2103120"/>
            <a:ext cx="6400800" cy="27432"/>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2103120"/>
            <a:ext cx="27432" cy="146304"/>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22007" y="2103120"/>
            <a:ext cx="27432" cy="146304"/>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55648"/>
            <a:ext cx="6400800" cy="292608"/>
          </a:xfrm>
          <a:prstGeom prst="rect">
            <a:avLst/>
          </a:prstGeom>
          <a:noFill/>
        </p:spPr>
        <p:txBody>
          <a:bodyPr wrap="square" anchor="b" lIns="0" rIns="0" tIns="0" bIns="0">
            <a:spAutoFit/>
          </a:bodyPr>
          <a:lstStyle/>
          <a:p>
            <a:pPr algn="ctr">
              <a:spcAft>
                <a:spcPts val="600"/>
              </a:spcAft>
            </a:pPr>
            <a:r>
              <a:rPr sz="1300" b="1" i="0">
                <a:solidFill>
                  <a:srgbClr val="ECEEF2"/>
                </a:solidFill>
                <a:latin typeface="Kaspersky Sans Display"/>
              </a:rPr>
              <a:t>MSRP with taxes: €59.99  ·  reference for the discount</a:t>
            </a:r>
          </a:p>
        </p:txBody>
      </p:sp>
      <p:sp>
        <p:nvSpPr>
          <p:cNvPr id="8" name="Rectangle 7"/>
          <p:cNvSpPr/>
          <p:nvPr/>
        </p:nvSpPr>
        <p:spPr>
          <a:xfrm>
            <a:off x="548640" y="2286000"/>
            <a:ext cx="2560746" cy="640080"/>
          </a:xfrm>
          <a:prstGeom prst="rect">
            <a:avLst/>
          </a:prstGeom>
          <a:solidFill>
            <a:srgbClr val="6CC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Customer amount</a:t>
            </a:r>
          </a:p>
          <a:p>
            <a:pPr algn="ctr">
              <a:spcAft>
                <a:spcPts val="0"/>
              </a:spcAft>
            </a:pPr>
            <a:r>
              <a:rPr sz="1200" b="1" i="0">
                <a:solidFill>
                  <a:srgbClr val="14171C"/>
                </a:solidFill>
                <a:latin typeface="Kaspersky Sans Display"/>
              </a:rPr>
              <a:t>with taxes €24.00</a:t>
            </a:r>
          </a:p>
        </p:txBody>
      </p:sp>
      <p:sp>
        <p:nvSpPr>
          <p:cNvPr id="9" name="Rectangle 8"/>
          <p:cNvSpPr/>
          <p:nvPr/>
        </p:nvSpPr>
        <p:spPr>
          <a:xfrm>
            <a:off x="3109386" y="2286000"/>
            <a:ext cx="3840053" cy="640080"/>
          </a:xfrm>
          <a:prstGeom prst="rect">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Discount €35.99</a:t>
            </a:r>
          </a:p>
          <a:p>
            <a:pPr algn="ctr">
              <a:spcAft>
                <a:spcPts val="0"/>
              </a:spcAft>
            </a:pPr>
            <a:r>
              <a:rPr sz="1200" b="1" i="0">
                <a:solidFill>
                  <a:srgbClr val="14171C"/>
                </a:solidFill>
                <a:latin typeface="Kaspersky Sans Display"/>
              </a:rPr>
              <a:t>60% of MSRP</a:t>
            </a:r>
          </a:p>
        </p:txBody>
      </p:sp>
      <p:cxnSp>
        <p:nvCxnSpPr>
          <p:cNvPr id="10" name="Connector 9"/>
          <p:cNvCxnSpPr/>
          <p:nvPr/>
        </p:nvCxnSpPr>
        <p:spPr>
          <a:xfrm>
            <a:off x="548640" y="2926080"/>
            <a:ext cx="0" cy="274320"/>
          </a:xfrm>
          <a:prstGeom prst="line">
            <a:avLst/>
          </a:prstGeom>
          <a:ln w="15875">
            <a:solidFill>
              <a:srgbClr val="A9B1B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09386" y="2926080"/>
            <a:ext cx="3840054" cy="274320"/>
          </a:xfrm>
          <a:prstGeom prst="line">
            <a:avLst/>
          </a:prstGeom>
          <a:ln w="15875">
            <a:solidFill>
              <a:srgbClr val="A9B1BF"/>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48640" y="3200400"/>
            <a:ext cx="4976622" cy="640080"/>
          </a:xfrm>
          <a:prstGeom prst="rect">
            <a:avLst/>
          </a:prstGeom>
          <a:solidFill>
            <a:srgbClr val="6F8F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FFFFF"/>
                </a:solidFill>
                <a:latin typeface="Kaspersky Sans Display"/>
              </a:rPr>
              <a:t>Due to KL €18.66</a:t>
            </a:r>
          </a:p>
          <a:p>
            <a:pPr algn="ctr">
              <a:spcAft>
                <a:spcPts val="0"/>
              </a:spcAft>
            </a:pPr>
            <a:r>
              <a:rPr sz="1100" b="1" i="0">
                <a:solidFill>
                  <a:srgbClr val="FFFFFF"/>
                </a:solidFill>
                <a:latin typeface="Kaspersky Sans Display"/>
              </a:rPr>
              <a:t>92.5%</a:t>
            </a:r>
          </a:p>
        </p:txBody>
      </p:sp>
      <p:sp>
        <p:nvSpPr>
          <p:cNvPr id="13" name="Rectangle 12"/>
          <p:cNvSpPr/>
          <p:nvPr/>
        </p:nvSpPr>
        <p:spPr>
          <a:xfrm>
            <a:off x="5525262" y="3200400"/>
            <a:ext cx="402717" cy="640080"/>
          </a:xfrm>
          <a:prstGeom prst="rect">
            <a:avLst/>
          </a:prstGeom>
          <a:solidFill>
            <a:srgbClr val="A37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95100" y="3877056"/>
            <a:ext cx="1463040" cy="228600"/>
          </a:xfrm>
          <a:prstGeom prst="rect">
            <a:avLst/>
          </a:prstGeom>
          <a:noFill/>
        </p:spPr>
        <p:txBody>
          <a:bodyPr wrap="square" anchor="t" lIns="0" rIns="0" tIns="0" bIns="0">
            <a:spAutoFit/>
          </a:bodyPr>
          <a:lstStyle/>
          <a:p>
            <a:pPr algn="ctr">
              <a:spcAft>
                <a:spcPts val="600"/>
              </a:spcAft>
            </a:pPr>
            <a:r>
              <a:rPr sz="1000" b="1" i="0">
                <a:solidFill>
                  <a:srgbClr val="A37BE6"/>
                </a:solidFill>
                <a:latin typeface="Kaspersky Sans Display"/>
              </a:rPr>
              <a:t>Partner fee €1.51 · 7.5%</a:t>
            </a:r>
          </a:p>
        </p:txBody>
      </p:sp>
      <p:sp>
        <p:nvSpPr>
          <p:cNvPr id="15" name="Rectangle 14"/>
          <p:cNvSpPr/>
          <p:nvPr/>
        </p:nvSpPr>
        <p:spPr>
          <a:xfrm>
            <a:off x="5927979" y="3200400"/>
            <a:ext cx="1021461" cy="640080"/>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VAT €3.83</a:t>
            </a:r>
          </a:p>
          <a:p>
            <a:pPr algn="ctr">
              <a:spcAft>
                <a:spcPts val="0"/>
              </a:spcAft>
            </a:pPr>
            <a:r>
              <a:rPr sz="1100" b="1" i="0">
                <a:solidFill>
                  <a:srgbClr val="14171C"/>
                </a:solidFill>
                <a:latin typeface="Kaspersky Sans Display"/>
              </a:rPr>
              <a:t>19%</a:t>
            </a:r>
          </a:p>
        </p:txBody>
      </p:sp>
      <p:sp>
        <p:nvSpPr>
          <p:cNvPr id="16" name="Rectangle 15"/>
          <p:cNvSpPr/>
          <p:nvPr/>
        </p:nvSpPr>
        <p:spPr>
          <a:xfrm>
            <a:off x="548640" y="4343400"/>
            <a:ext cx="5379339" cy="27432"/>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97096"/>
            <a:ext cx="27432" cy="173736"/>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00547" y="4197096"/>
            <a:ext cx="27432" cy="173736"/>
          </a:xfrm>
          <a:prstGeom prst="rect">
            <a:avLst/>
          </a:prstGeom>
          <a:solidFill>
            <a:srgbClr val="A9B1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416552"/>
            <a:ext cx="6400800" cy="292608"/>
          </a:xfrm>
          <a:prstGeom prst="rect">
            <a:avLst/>
          </a:prstGeom>
          <a:noFill/>
        </p:spPr>
        <p:txBody>
          <a:bodyPr wrap="square" anchor="t" lIns="0" rIns="0" tIns="0" bIns="0">
            <a:spAutoFit/>
          </a:bodyPr>
          <a:lstStyle/>
          <a:p>
            <a:pPr algn="l">
              <a:spcAft>
                <a:spcPts val="600"/>
              </a:spcAft>
            </a:pPr>
            <a:r>
              <a:rPr sz="1200" b="1" i="0">
                <a:solidFill>
                  <a:srgbClr val="ECEEF2"/>
                </a:solidFill>
                <a:latin typeface="Kaspersky Sans Display"/>
              </a:rPr>
              <a:t>Customer amount without taxes: €20.17  ·  reference for VAT, partner fee and Due to KL</a:t>
            </a:r>
          </a:p>
        </p:txBody>
      </p:sp>
      <p:sp>
        <p:nvSpPr>
          <p:cNvPr id="20" name="TextBox 19"/>
          <p:cNvSpPr txBox="1"/>
          <p:nvPr/>
        </p:nvSpPr>
        <p:spPr>
          <a:xfrm>
            <a:off x="548640" y="4892040"/>
            <a:ext cx="6400800" cy="1600200"/>
          </a:xfrm>
          <a:prstGeom prst="rect">
            <a:avLst/>
          </a:prstGeom>
          <a:noFill/>
        </p:spPr>
        <p:txBody>
          <a:bodyPr wrap="square" anchor="t" lIns="0" rIns="0" tIns="0" bIns="0">
            <a:spAutoFit/>
          </a:bodyPr>
          <a:lstStyle/>
          <a:p>
            <a:pPr algn="l">
              <a:spcAft>
                <a:spcPts val="400"/>
              </a:spcAft>
            </a:pPr>
            <a:r>
              <a:rPr sz="1500" b="1" i="0">
                <a:solidFill>
                  <a:srgbClr val="ECEEF2"/>
                </a:solidFill>
                <a:latin typeface="Kaspersky Sans Display"/>
              </a:rPr>
              <a:t>How VAT is removed (Germany, 19% VAT)</a:t>
            </a:r>
          </a:p>
          <a:p>
            <a:pPr algn="l">
              <a:spcAft>
                <a:spcPts val="400"/>
              </a:spcAft>
            </a:pPr>
            <a:r>
              <a:rPr sz="1400" b="1" i="0">
                <a:solidFill>
                  <a:srgbClr val="ECEEF2"/>
                </a:solidFill>
                <a:latin typeface="Kaspersky Sans Display"/>
              </a:rPr>
              <a:t>Without taxes: </a:t>
            </a:r>
            <a:r>
              <a:rPr sz="1400" b="0" i="0">
                <a:solidFill>
                  <a:srgbClr val="A9B1BF"/>
                </a:solidFill>
                <a:latin typeface="Kaspersky Sans Display"/>
              </a:rPr>
              <a:t>24.00 / 1.19 = 20.17</a:t>
            </a:r>
          </a:p>
          <a:p>
            <a:pPr algn="l">
              <a:spcAft>
                <a:spcPts val="400"/>
              </a:spcAft>
            </a:pPr>
            <a:r>
              <a:rPr sz="1400" b="1" i="0">
                <a:solidFill>
                  <a:srgbClr val="ECEEF2"/>
                </a:solidFill>
                <a:latin typeface="Kaspersky Sans Display"/>
              </a:rPr>
              <a:t>VAT: </a:t>
            </a:r>
            <a:r>
              <a:rPr sz="1400" b="0" i="0">
                <a:solidFill>
                  <a:srgbClr val="A9B1BF"/>
                </a:solidFill>
                <a:latin typeface="Kaspersky Sans Display"/>
              </a:rPr>
              <a:t>24.00 − 20.17 = 3.83 = 20.17 × 19%</a:t>
            </a:r>
          </a:p>
          <a:p>
            <a:pPr algn="l">
              <a:spcAft>
                <a:spcPts val="400"/>
              </a:spcAft>
            </a:pPr>
            <a:r>
              <a:rPr sz="1400" b="1" i="0">
                <a:solidFill>
                  <a:srgbClr val="ECEEF2"/>
                </a:solidFill>
                <a:latin typeface="Kaspersky Sans Display"/>
              </a:rPr>
              <a:t>Partner fee and Due to KL: </a:t>
            </a:r>
            <a:r>
              <a:rPr sz="1400" b="0" i="0">
                <a:solidFill>
                  <a:srgbClr val="A9B1BF"/>
                </a:solidFill>
                <a:latin typeface="Kaspersky Sans Display"/>
              </a:rPr>
              <a:t>the provider charges on what we collect, not on the taxes.</a:t>
            </a:r>
          </a:p>
        </p:txBody>
      </p:sp>
      <p:sp>
        <p:nvSpPr>
          <p:cNvPr id="21" name="Rounded Rectangle 20"/>
          <p:cNvSpPr/>
          <p:nvPr/>
        </p:nvSpPr>
        <p:spPr>
          <a:xfrm>
            <a:off x="7315200" y="1600200"/>
            <a:ext cx="4327855" cy="4800600"/>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1783080"/>
            <a:ext cx="2286000" cy="36576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Discount</a:t>
            </a:r>
          </a:p>
        </p:txBody>
      </p:sp>
      <p:sp>
        <p:nvSpPr>
          <p:cNvPr id="23" name="TextBox 22"/>
          <p:cNvSpPr txBox="1"/>
          <p:nvPr/>
        </p:nvSpPr>
        <p:spPr>
          <a:xfrm>
            <a:off x="10225735" y="1783080"/>
            <a:ext cx="1188720" cy="365760"/>
          </a:xfrm>
          <a:prstGeom prst="rect">
            <a:avLst/>
          </a:prstGeom>
          <a:noFill/>
        </p:spPr>
        <p:txBody>
          <a:bodyPr wrap="square" anchor="t" lIns="0" rIns="0" tIns="0" bIns="0">
            <a:spAutoFit/>
          </a:bodyPr>
          <a:lstStyle/>
          <a:p>
            <a:pPr algn="r">
              <a:spcAft>
                <a:spcPts val="600"/>
              </a:spcAft>
            </a:pPr>
            <a:r>
              <a:rPr sz="2000" b="1" i="0">
                <a:solidFill>
                  <a:srgbClr val="F79A6A"/>
                </a:solidFill>
                <a:latin typeface="Kaspersky Sans Display"/>
              </a:rPr>
              <a:t>60%</a:t>
            </a:r>
          </a:p>
        </p:txBody>
      </p:sp>
      <p:sp>
        <p:nvSpPr>
          <p:cNvPr id="24" name="TextBox 23"/>
          <p:cNvSpPr txBox="1"/>
          <p:nvPr/>
        </p:nvSpPr>
        <p:spPr>
          <a:xfrm>
            <a:off x="7589520" y="2148840"/>
            <a:ext cx="3824935" cy="32004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35.99 / 59.99  of MSRP with taxes</a:t>
            </a:r>
          </a:p>
        </p:txBody>
      </p:sp>
      <p:sp>
        <p:nvSpPr>
          <p:cNvPr id="25" name="TextBox 24"/>
          <p:cNvSpPr txBox="1"/>
          <p:nvPr/>
        </p:nvSpPr>
        <p:spPr>
          <a:xfrm>
            <a:off x="7589520" y="2560320"/>
            <a:ext cx="2286000" cy="36576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VAT</a:t>
            </a:r>
          </a:p>
        </p:txBody>
      </p:sp>
      <p:sp>
        <p:nvSpPr>
          <p:cNvPr id="26" name="TextBox 25"/>
          <p:cNvSpPr txBox="1"/>
          <p:nvPr/>
        </p:nvSpPr>
        <p:spPr>
          <a:xfrm>
            <a:off x="10225735" y="2560320"/>
            <a:ext cx="1188720" cy="365760"/>
          </a:xfrm>
          <a:prstGeom prst="rect">
            <a:avLst/>
          </a:prstGeom>
          <a:noFill/>
        </p:spPr>
        <p:txBody>
          <a:bodyPr wrap="square" anchor="t" lIns="0" rIns="0" tIns="0" bIns="0">
            <a:spAutoFit/>
          </a:bodyPr>
          <a:lstStyle/>
          <a:p>
            <a:pPr algn="r">
              <a:spcAft>
                <a:spcPts val="600"/>
              </a:spcAft>
            </a:pPr>
            <a:r>
              <a:rPr sz="2000" b="1" i="0">
                <a:solidFill>
                  <a:srgbClr val="A9B1BF"/>
                </a:solidFill>
                <a:latin typeface="Kaspersky Sans Display"/>
              </a:rPr>
              <a:t>19%</a:t>
            </a:r>
          </a:p>
        </p:txBody>
      </p:sp>
      <p:sp>
        <p:nvSpPr>
          <p:cNvPr id="27" name="TextBox 26"/>
          <p:cNvSpPr txBox="1"/>
          <p:nvPr/>
        </p:nvSpPr>
        <p:spPr>
          <a:xfrm>
            <a:off x="7589520" y="2926079"/>
            <a:ext cx="3824935" cy="32004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3.83 / 20.17  of customer amount without taxes</a:t>
            </a:r>
          </a:p>
        </p:txBody>
      </p:sp>
      <p:sp>
        <p:nvSpPr>
          <p:cNvPr id="28" name="TextBox 27"/>
          <p:cNvSpPr txBox="1"/>
          <p:nvPr/>
        </p:nvSpPr>
        <p:spPr>
          <a:xfrm>
            <a:off x="7589520" y="3337560"/>
            <a:ext cx="2286000" cy="36576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Partner fee</a:t>
            </a:r>
          </a:p>
        </p:txBody>
      </p:sp>
      <p:sp>
        <p:nvSpPr>
          <p:cNvPr id="29" name="TextBox 28"/>
          <p:cNvSpPr txBox="1"/>
          <p:nvPr/>
        </p:nvSpPr>
        <p:spPr>
          <a:xfrm>
            <a:off x="10225735" y="3337560"/>
            <a:ext cx="1188720" cy="365760"/>
          </a:xfrm>
          <a:prstGeom prst="rect">
            <a:avLst/>
          </a:prstGeom>
          <a:noFill/>
        </p:spPr>
        <p:txBody>
          <a:bodyPr wrap="square" anchor="t" lIns="0" rIns="0" tIns="0" bIns="0">
            <a:spAutoFit/>
          </a:bodyPr>
          <a:lstStyle/>
          <a:p>
            <a:pPr algn="r">
              <a:spcAft>
                <a:spcPts val="600"/>
              </a:spcAft>
            </a:pPr>
            <a:r>
              <a:rPr sz="2000" b="1" i="0">
                <a:solidFill>
                  <a:srgbClr val="A37BE6"/>
                </a:solidFill>
                <a:latin typeface="Kaspersky Sans Display"/>
              </a:rPr>
              <a:t>7.5%</a:t>
            </a:r>
          </a:p>
        </p:txBody>
      </p:sp>
      <p:sp>
        <p:nvSpPr>
          <p:cNvPr id="30" name="TextBox 29"/>
          <p:cNvSpPr txBox="1"/>
          <p:nvPr/>
        </p:nvSpPr>
        <p:spPr>
          <a:xfrm>
            <a:off x="7589520" y="3703320"/>
            <a:ext cx="3824935" cy="32004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1.51 / 20.17  of customer amount without taxes</a:t>
            </a:r>
          </a:p>
        </p:txBody>
      </p:sp>
      <p:sp>
        <p:nvSpPr>
          <p:cNvPr id="31" name="TextBox 30"/>
          <p:cNvSpPr txBox="1"/>
          <p:nvPr/>
        </p:nvSpPr>
        <p:spPr>
          <a:xfrm>
            <a:off x="7589520" y="4114800"/>
            <a:ext cx="2286000" cy="36576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Due to KL</a:t>
            </a:r>
          </a:p>
        </p:txBody>
      </p:sp>
      <p:sp>
        <p:nvSpPr>
          <p:cNvPr id="32" name="TextBox 31"/>
          <p:cNvSpPr txBox="1"/>
          <p:nvPr/>
        </p:nvSpPr>
        <p:spPr>
          <a:xfrm>
            <a:off x="10225735" y="4114800"/>
            <a:ext cx="1188720" cy="365760"/>
          </a:xfrm>
          <a:prstGeom prst="rect">
            <a:avLst/>
          </a:prstGeom>
          <a:noFill/>
        </p:spPr>
        <p:txBody>
          <a:bodyPr wrap="square" anchor="t" lIns="0" rIns="0" tIns="0" bIns="0">
            <a:spAutoFit/>
          </a:bodyPr>
          <a:lstStyle/>
          <a:p>
            <a:pPr algn="r">
              <a:spcAft>
                <a:spcPts val="600"/>
              </a:spcAft>
            </a:pPr>
            <a:r>
              <a:rPr sz="2000" b="1" i="0">
                <a:solidFill>
                  <a:srgbClr val="6F8FF0"/>
                </a:solidFill>
                <a:latin typeface="Kaspersky Sans Display"/>
              </a:rPr>
              <a:t>92.5%</a:t>
            </a:r>
          </a:p>
        </p:txBody>
      </p:sp>
      <p:sp>
        <p:nvSpPr>
          <p:cNvPr id="33" name="TextBox 32"/>
          <p:cNvSpPr txBox="1"/>
          <p:nvPr/>
        </p:nvSpPr>
        <p:spPr>
          <a:xfrm>
            <a:off x="7589520" y="4480560"/>
            <a:ext cx="3824935" cy="32004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18.66 / 20.17  of customer amount without taxes</a:t>
            </a:r>
          </a:p>
        </p:txBody>
      </p:sp>
      <p:sp>
        <p:nvSpPr>
          <p:cNvPr id="34" name="Rounded Rectangle 33"/>
          <p:cNvSpPr/>
          <p:nvPr/>
        </p:nvSpPr>
        <p:spPr>
          <a:xfrm>
            <a:off x="7498079" y="4846320"/>
            <a:ext cx="3962095" cy="141732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0" y="4937760"/>
            <a:ext cx="3642055" cy="1280160"/>
          </a:xfrm>
          <a:prstGeom prst="rect">
            <a:avLst/>
          </a:prstGeom>
          <a:noFill/>
        </p:spPr>
        <p:txBody>
          <a:bodyPr wrap="square" anchor="t" lIns="0" rIns="0" tIns="0" bIns="0">
            <a:spAutoFit/>
          </a:bodyPr>
          <a:lstStyle/>
          <a:p>
            <a:pPr algn="l">
              <a:spcAft>
                <a:spcPts val="300"/>
              </a:spcAft>
            </a:pPr>
            <a:r>
              <a:rPr sz="1200" b="1" i="0">
                <a:solidFill>
                  <a:srgbClr val="EEDB5C"/>
                </a:solidFill>
                <a:latin typeface="Kaspersky Sans Display"/>
              </a:rPr>
              <a:t>Same reference: amount without taxes = 100%</a:t>
            </a:r>
          </a:p>
          <a:p>
            <a:pPr algn="l">
              <a:spcAft>
                <a:spcPts val="300"/>
              </a:spcAft>
            </a:pPr>
            <a:r>
              <a:rPr sz="1300" b="1" i="0">
                <a:solidFill>
                  <a:srgbClr val="ECEEF2"/>
                </a:solidFill>
                <a:latin typeface="Kaspersky Sans Display"/>
              </a:rPr>
              <a:t>Due to KL 92.5% + partner fee 7.5% = 100%</a:t>
            </a:r>
          </a:p>
          <a:p>
            <a:pPr algn="l">
              <a:spcAft>
                <a:spcPts val="300"/>
              </a:spcAft>
            </a:pPr>
            <a:r>
              <a:rPr sz="1300" b="1" i="0">
                <a:solidFill>
                  <a:srgbClr val="ECEEF2"/>
                </a:solidFill>
                <a:latin typeface="Kaspersky Sans Display"/>
              </a:rPr>
              <a:t>+ VAT 19% = 119% = amount with taxes</a:t>
            </a:r>
          </a:p>
          <a:p>
            <a:pPr algn="l">
              <a:spcAft>
                <a:spcPts val="300"/>
              </a:spcAft>
            </a:pPr>
            <a:r>
              <a:rPr sz="1300" b="1" i="0">
                <a:solidFill>
                  <a:srgbClr val="3DC4A2"/>
                </a:solidFill>
                <a:latin typeface="Kaspersky Sans Display"/>
              </a:rPr>
              <a:t>20.17 × 1.19 = 24.00</a:t>
            </a:r>
          </a:p>
        </p:txBody>
      </p:sp>
      <p:sp>
        <p:nvSpPr>
          <p:cNvPr id="36" name="TextBox 35"/>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4</a:t>
            </a:r>
          </a:p>
        </p:txBody>
      </p:sp>
      <p:sp>
        <p:nvSpPr>
          <p:cNvPr id="37" name="Rounded Rectangle 36"/>
          <p:cNvSpPr/>
          <p:nvPr/>
        </p:nvSpPr>
        <p:spPr>
          <a:xfrm>
            <a:off x="9357055" y="274320"/>
            <a:ext cx="1737360" cy="292608"/>
          </a:xfrm>
          <a:prstGeom prst="roundRect">
            <a:avLst>
              <a:gd name="adj" fmla="val 12000"/>
            </a:avLst>
          </a:prstGeom>
          <a:solidFill>
            <a:srgbClr val="1E2128"/>
          </a:solidFill>
          <a:ln w="19050">
            <a:solidFill>
              <a:srgbClr val="6CC9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6CC9EC"/>
                </a:solidFill>
                <a:latin typeface="Kaspersky Sans Display"/>
              </a:rPr>
              <a:t>1 · THE NEED</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Transaction model: definitions and checks</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Each amount, how it is calculated, and the equalities that must always hold</a:t>
            </a:r>
          </a:p>
        </p:txBody>
      </p:sp>
      <p:sp>
        <p:nvSpPr>
          <p:cNvPr id="4" name="Rounded Rectangle 3"/>
          <p:cNvSpPr/>
          <p:nvPr/>
        </p:nvSpPr>
        <p:spPr>
          <a:xfrm>
            <a:off x="548640" y="1600200"/>
            <a:ext cx="6949440" cy="450799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09928"/>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MSRP with taxes</a:t>
            </a:r>
          </a:p>
          <a:p>
            <a:pPr algn="l">
              <a:spcAft>
                <a:spcPts val="0"/>
              </a:spcAft>
            </a:pPr>
            <a:r>
              <a:rPr sz="1100" b="0" i="0">
                <a:solidFill>
                  <a:srgbClr val="B8C2D0"/>
                </a:solidFill>
                <a:latin typeface="Kaspersky Sans Display"/>
              </a:rPr>
              <a:t>Full price for product × country × currency at that moment</a:t>
            </a:r>
          </a:p>
        </p:txBody>
      </p:sp>
      <p:sp>
        <p:nvSpPr>
          <p:cNvPr id="6" name="TextBox 5"/>
          <p:cNvSpPr txBox="1"/>
          <p:nvPr/>
        </p:nvSpPr>
        <p:spPr>
          <a:xfrm>
            <a:off x="6172199" y="1709928"/>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€59.99</a:t>
            </a:r>
          </a:p>
        </p:txBody>
      </p:sp>
      <p:sp>
        <p:nvSpPr>
          <p:cNvPr id="7" name="TextBox 6"/>
          <p:cNvSpPr txBox="1"/>
          <p:nvPr/>
        </p:nvSpPr>
        <p:spPr>
          <a:xfrm>
            <a:off x="777240" y="2185416"/>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Discount %</a:t>
            </a:r>
          </a:p>
          <a:p>
            <a:pPr algn="l">
              <a:spcAft>
                <a:spcPts val="0"/>
              </a:spcAft>
            </a:pPr>
            <a:r>
              <a:rPr sz="1100" b="0" i="0">
                <a:solidFill>
                  <a:srgbClr val="B8C2D0"/>
                </a:solidFill>
                <a:latin typeface="Kaspersky Sans Display"/>
              </a:rPr>
              <a:t>Effective discount of the transaction (demand level, coupon, ladder, offer)</a:t>
            </a:r>
          </a:p>
        </p:txBody>
      </p:sp>
      <p:sp>
        <p:nvSpPr>
          <p:cNvPr id="8" name="TextBox 7"/>
          <p:cNvSpPr txBox="1"/>
          <p:nvPr/>
        </p:nvSpPr>
        <p:spPr>
          <a:xfrm>
            <a:off x="6172199" y="2185416"/>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60%</a:t>
            </a:r>
          </a:p>
        </p:txBody>
      </p:sp>
      <p:sp>
        <p:nvSpPr>
          <p:cNvPr id="9" name="TextBox 8"/>
          <p:cNvSpPr txBox="1"/>
          <p:nvPr/>
        </p:nvSpPr>
        <p:spPr>
          <a:xfrm>
            <a:off x="777240" y="2660904"/>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Discount amount</a:t>
            </a:r>
          </a:p>
          <a:p>
            <a:pPr algn="l">
              <a:spcAft>
                <a:spcPts val="0"/>
              </a:spcAft>
            </a:pPr>
            <a:r>
              <a:rPr sz="1100" b="0" i="0">
                <a:solidFill>
                  <a:srgbClr val="B8C2D0"/>
                </a:solidFill>
                <a:latin typeface="Kaspersky Sans Display"/>
              </a:rPr>
              <a:t>MSRP with taxes × discount %</a:t>
            </a:r>
          </a:p>
        </p:txBody>
      </p:sp>
      <p:sp>
        <p:nvSpPr>
          <p:cNvPr id="10" name="TextBox 9"/>
          <p:cNvSpPr txBox="1"/>
          <p:nvPr/>
        </p:nvSpPr>
        <p:spPr>
          <a:xfrm>
            <a:off x="6172199" y="2660904"/>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€35.99</a:t>
            </a:r>
          </a:p>
        </p:txBody>
      </p:sp>
      <p:sp>
        <p:nvSpPr>
          <p:cNvPr id="11" name="TextBox 10"/>
          <p:cNvSpPr txBox="1"/>
          <p:nvPr/>
        </p:nvSpPr>
        <p:spPr>
          <a:xfrm>
            <a:off x="777240" y="3136392"/>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Customer amount with taxes</a:t>
            </a:r>
          </a:p>
          <a:p>
            <a:pPr algn="l">
              <a:spcAft>
                <a:spcPts val="0"/>
              </a:spcAft>
            </a:pPr>
            <a:r>
              <a:rPr sz="1100" b="0" i="0">
                <a:solidFill>
                  <a:srgbClr val="B8C2D0"/>
                </a:solidFill>
                <a:latin typeface="Kaspersky Sans Display"/>
              </a:rPr>
              <a:t>MSRP with taxes − discount amount</a:t>
            </a:r>
          </a:p>
        </p:txBody>
      </p:sp>
      <p:sp>
        <p:nvSpPr>
          <p:cNvPr id="12" name="TextBox 11"/>
          <p:cNvSpPr txBox="1"/>
          <p:nvPr/>
        </p:nvSpPr>
        <p:spPr>
          <a:xfrm>
            <a:off x="6172199" y="3136392"/>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€24.00</a:t>
            </a:r>
          </a:p>
        </p:txBody>
      </p:sp>
      <p:sp>
        <p:nvSpPr>
          <p:cNvPr id="13" name="TextBox 12"/>
          <p:cNvSpPr txBox="1"/>
          <p:nvPr/>
        </p:nvSpPr>
        <p:spPr>
          <a:xfrm>
            <a:off x="777240" y="3611880"/>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VAT rate</a:t>
            </a:r>
          </a:p>
          <a:p>
            <a:pPr algn="l">
              <a:spcAft>
                <a:spcPts val="0"/>
              </a:spcAft>
            </a:pPr>
            <a:r>
              <a:rPr sz="1100" b="0" i="0">
                <a:solidFill>
                  <a:srgbClr val="B8C2D0"/>
                </a:solidFill>
                <a:latin typeface="Kaspersky Sans Display"/>
              </a:rPr>
              <a:t>Known rate of the country (Germany)</a:t>
            </a:r>
          </a:p>
        </p:txBody>
      </p:sp>
      <p:sp>
        <p:nvSpPr>
          <p:cNvPr id="14" name="TextBox 13"/>
          <p:cNvSpPr txBox="1"/>
          <p:nvPr/>
        </p:nvSpPr>
        <p:spPr>
          <a:xfrm>
            <a:off x="6172199" y="3611880"/>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19%</a:t>
            </a:r>
          </a:p>
        </p:txBody>
      </p:sp>
      <p:sp>
        <p:nvSpPr>
          <p:cNvPr id="15" name="TextBox 14"/>
          <p:cNvSpPr txBox="1"/>
          <p:nvPr/>
        </p:nvSpPr>
        <p:spPr>
          <a:xfrm>
            <a:off x="777240" y="4087368"/>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Customer amount without taxes</a:t>
            </a:r>
          </a:p>
          <a:p>
            <a:pPr algn="l">
              <a:spcAft>
                <a:spcPts val="0"/>
              </a:spcAft>
            </a:pPr>
            <a:r>
              <a:rPr sz="1100" b="0" i="0">
                <a:solidFill>
                  <a:srgbClr val="B8C2D0"/>
                </a:solidFill>
                <a:latin typeface="Kaspersky Sans Display"/>
              </a:rPr>
              <a:t>Customer amount with taxes / 1.19</a:t>
            </a:r>
          </a:p>
        </p:txBody>
      </p:sp>
      <p:sp>
        <p:nvSpPr>
          <p:cNvPr id="16" name="TextBox 15"/>
          <p:cNvSpPr txBox="1"/>
          <p:nvPr/>
        </p:nvSpPr>
        <p:spPr>
          <a:xfrm>
            <a:off x="6172199" y="4087368"/>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€20.17</a:t>
            </a:r>
          </a:p>
        </p:txBody>
      </p:sp>
      <p:sp>
        <p:nvSpPr>
          <p:cNvPr id="17" name="TextBox 16"/>
          <p:cNvSpPr txBox="1"/>
          <p:nvPr/>
        </p:nvSpPr>
        <p:spPr>
          <a:xfrm>
            <a:off x="777240" y="4562856"/>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VAT amount</a:t>
            </a:r>
          </a:p>
          <a:p>
            <a:pPr algn="l">
              <a:spcAft>
                <a:spcPts val="0"/>
              </a:spcAft>
            </a:pPr>
            <a:r>
              <a:rPr sz="1100" b="0" i="0">
                <a:solidFill>
                  <a:srgbClr val="B8C2D0"/>
                </a:solidFill>
                <a:latin typeface="Kaspersky Sans Display"/>
              </a:rPr>
              <a:t>Customer amount without taxes × VAT rate</a:t>
            </a:r>
          </a:p>
        </p:txBody>
      </p:sp>
      <p:sp>
        <p:nvSpPr>
          <p:cNvPr id="18" name="TextBox 17"/>
          <p:cNvSpPr txBox="1"/>
          <p:nvPr/>
        </p:nvSpPr>
        <p:spPr>
          <a:xfrm>
            <a:off x="6172199" y="4562856"/>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€3.83</a:t>
            </a:r>
          </a:p>
        </p:txBody>
      </p:sp>
      <p:sp>
        <p:nvSpPr>
          <p:cNvPr id="19" name="TextBox 18"/>
          <p:cNvSpPr txBox="1"/>
          <p:nvPr/>
        </p:nvSpPr>
        <p:spPr>
          <a:xfrm>
            <a:off x="777240" y="5038344"/>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Partner fee</a:t>
            </a:r>
          </a:p>
          <a:p>
            <a:pPr algn="l">
              <a:spcAft>
                <a:spcPts val="0"/>
              </a:spcAft>
            </a:pPr>
            <a:r>
              <a:rPr sz="1100" b="0" i="0">
                <a:solidFill>
                  <a:srgbClr val="B8C2D0"/>
                </a:solidFill>
                <a:latin typeface="Kaspersky Sans Display"/>
              </a:rPr>
              <a:t>Customer amount without taxes × fee rate (7.5%, Nexway)</a:t>
            </a:r>
          </a:p>
        </p:txBody>
      </p:sp>
      <p:sp>
        <p:nvSpPr>
          <p:cNvPr id="20" name="TextBox 19"/>
          <p:cNvSpPr txBox="1"/>
          <p:nvPr/>
        </p:nvSpPr>
        <p:spPr>
          <a:xfrm>
            <a:off x="6172199" y="5038344"/>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€1.51</a:t>
            </a:r>
          </a:p>
        </p:txBody>
      </p:sp>
      <p:sp>
        <p:nvSpPr>
          <p:cNvPr id="21" name="TextBox 20"/>
          <p:cNvSpPr txBox="1"/>
          <p:nvPr/>
        </p:nvSpPr>
        <p:spPr>
          <a:xfrm>
            <a:off x="777240" y="5513832"/>
            <a:ext cx="5394959" cy="475488"/>
          </a:xfrm>
          <a:prstGeom prst="rect">
            <a:avLst/>
          </a:prstGeom>
          <a:noFill/>
        </p:spPr>
        <p:txBody>
          <a:bodyPr wrap="square" anchor="ctr" lIns="0" rIns="0" tIns="0" bIns="0">
            <a:spAutoFit/>
          </a:bodyPr>
          <a:lstStyle/>
          <a:p>
            <a:pPr algn="l">
              <a:spcAft>
                <a:spcPts val="0"/>
              </a:spcAft>
            </a:pPr>
            <a:r>
              <a:rPr sz="1300" b="1" i="0">
                <a:solidFill>
                  <a:srgbClr val="FFFFFF"/>
                </a:solidFill>
                <a:latin typeface="Kaspersky Sans Display"/>
              </a:rPr>
              <a:t>Due to KL</a:t>
            </a:r>
          </a:p>
          <a:p>
            <a:pPr algn="l">
              <a:spcAft>
                <a:spcPts val="0"/>
              </a:spcAft>
            </a:pPr>
            <a:r>
              <a:rPr sz="1100" b="0" i="0">
                <a:solidFill>
                  <a:srgbClr val="B8C2D0"/>
                </a:solidFill>
                <a:latin typeface="Kaspersky Sans Display"/>
              </a:rPr>
              <a:t>Customer amount without taxes − partner fee</a:t>
            </a:r>
          </a:p>
        </p:txBody>
      </p:sp>
      <p:sp>
        <p:nvSpPr>
          <p:cNvPr id="22" name="TextBox 21"/>
          <p:cNvSpPr txBox="1"/>
          <p:nvPr/>
        </p:nvSpPr>
        <p:spPr>
          <a:xfrm>
            <a:off x="6172199" y="5513832"/>
            <a:ext cx="1097280" cy="475488"/>
          </a:xfrm>
          <a:prstGeom prst="rect">
            <a:avLst/>
          </a:prstGeom>
          <a:noFill/>
        </p:spPr>
        <p:txBody>
          <a:bodyPr wrap="square" anchor="ctr" lIns="0" rIns="0" tIns="0" bIns="0">
            <a:spAutoFit/>
          </a:bodyPr>
          <a:lstStyle/>
          <a:p>
            <a:pPr algn="r">
              <a:spcAft>
                <a:spcPts val="600"/>
              </a:spcAft>
            </a:pPr>
            <a:r>
              <a:rPr sz="1400" b="1" i="0">
                <a:solidFill>
                  <a:srgbClr val="EEDB5C"/>
                </a:solidFill>
                <a:latin typeface="Kaspersky Sans Display"/>
              </a:rPr>
              <a:t>€18.66</a:t>
            </a:r>
          </a:p>
        </p:txBody>
      </p:sp>
      <p:sp>
        <p:nvSpPr>
          <p:cNvPr id="23" name="Rounded Rectangle 22"/>
          <p:cNvSpPr/>
          <p:nvPr/>
        </p:nvSpPr>
        <p:spPr>
          <a:xfrm>
            <a:off x="7726679" y="1600200"/>
            <a:ext cx="3916375" cy="4507992"/>
          </a:xfrm>
          <a:prstGeom prst="roundRect">
            <a:avLst>
              <a:gd name="adj" fmla="val 12000"/>
            </a:avLst>
          </a:prstGeom>
          <a:solidFill>
            <a:srgbClr val="2A2E37"/>
          </a:solidFill>
          <a:ln w="19050">
            <a:solidFill>
              <a:srgbClr val="3DC4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79" y="1737360"/>
            <a:ext cx="3550615" cy="4507992"/>
          </a:xfrm>
          <a:prstGeom prst="rect">
            <a:avLst/>
          </a:prstGeom>
          <a:noFill/>
        </p:spPr>
        <p:txBody>
          <a:bodyPr wrap="square" anchor="t" lIns="0" rIns="0" tIns="0" bIns="0">
            <a:spAutoFit/>
          </a:bodyPr>
          <a:lstStyle/>
          <a:p>
            <a:pPr algn="l">
              <a:spcAft>
                <a:spcPts val="300"/>
              </a:spcAft>
            </a:pPr>
            <a:r>
              <a:rPr sz="1600" b="1" i="0">
                <a:solidFill>
                  <a:srgbClr val="3DC4A2"/>
                </a:solidFill>
                <a:latin typeface="Kaspersky Sans Display"/>
              </a:rPr>
              <a:t>Must always hold</a:t>
            </a:r>
          </a:p>
          <a:p>
            <a:pPr algn="l">
              <a:spcAft>
                <a:spcPts val="300"/>
              </a:spcAft>
            </a:pPr>
            <a:r>
              <a:rPr sz="1200" b="1" i="0">
                <a:solidFill>
                  <a:srgbClr val="EEDB5C"/>
                </a:solidFill>
                <a:latin typeface="Kaspersky Sans Display"/>
              </a:rPr>
              <a:t>1  </a:t>
            </a:r>
            <a:r>
              <a:rPr sz="1200" b="1" i="0">
                <a:solidFill>
                  <a:srgbClr val="FFFFFF"/>
                </a:solidFill>
                <a:latin typeface="Kaspersky Sans Display"/>
              </a:rPr>
              <a:t>Due to KL + partner fee + VAT = customer amount with taxes</a:t>
            </a:r>
          </a:p>
          <a:p>
            <a:pPr algn="l">
              <a:spcAft>
                <a:spcPts val="300"/>
              </a:spcAft>
            </a:pPr>
            <a:r>
              <a:rPr sz="1200" b="1" i="0">
                <a:solidFill>
                  <a:srgbClr val="3DC4A2"/>
                </a:solidFill>
                <a:latin typeface="Kaspersky Sans Display"/>
              </a:rPr>
              <a:t>     18.66 + 1.51 + 3.83 = 24.00  ✓</a:t>
            </a:r>
          </a:p>
          <a:p>
            <a:pPr algn="l">
              <a:spcAft>
                <a:spcPts val="300"/>
              </a:spcAft>
            </a:pPr>
            <a:r>
              <a:rPr sz="1200" b="1" i="0">
                <a:solidFill>
                  <a:srgbClr val="EEDB5C"/>
                </a:solidFill>
                <a:latin typeface="Kaspersky Sans Display"/>
              </a:rPr>
              <a:t>2  </a:t>
            </a:r>
            <a:r>
              <a:rPr sz="1200" b="1" i="0">
                <a:solidFill>
                  <a:srgbClr val="FFFFFF"/>
                </a:solidFill>
                <a:latin typeface="Kaspersky Sans Display"/>
              </a:rPr>
              <a:t>Customer amount + discount = MSRP (same tax basis)</a:t>
            </a:r>
          </a:p>
          <a:p>
            <a:pPr algn="l">
              <a:spcAft>
                <a:spcPts val="300"/>
              </a:spcAft>
            </a:pPr>
            <a:r>
              <a:rPr sz="1200" b="1" i="0">
                <a:solidFill>
                  <a:srgbClr val="3DC4A2"/>
                </a:solidFill>
                <a:latin typeface="Kaspersky Sans Display"/>
              </a:rPr>
              <a:t>     24.00 + 35.99 = 59.99  ✓</a:t>
            </a:r>
          </a:p>
          <a:p>
            <a:pPr algn="l">
              <a:spcAft>
                <a:spcPts val="300"/>
              </a:spcAft>
            </a:pPr>
            <a:r>
              <a:rPr sz="1200" b="1" i="0">
                <a:solidFill>
                  <a:srgbClr val="EEDB5C"/>
                </a:solidFill>
                <a:latin typeface="Kaspersky Sans Display"/>
              </a:rPr>
              <a:t>3  </a:t>
            </a:r>
            <a:r>
              <a:rPr sz="1200" b="1" i="0">
                <a:solidFill>
                  <a:srgbClr val="FFFFFF"/>
                </a:solidFill>
                <a:latin typeface="Kaspersky Sans Display"/>
              </a:rPr>
              <a:t>Discount / MSRP = discount %</a:t>
            </a:r>
          </a:p>
          <a:p>
            <a:pPr algn="l">
              <a:spcAft>
                <a:spcPts val="300"/>
              </a:spcAft>
            </a:pPr>
            <a:r>
              <a:rPr sz="1200" b="1" i="0">
                <a:solidFill>
                  <a:srgbClr val="3DC4A2"/>
                </a:solidFill>
                <a:latin typeface="Kaspersky Sans Display"/>
              </a:rPr>
              <a:t>     35.99 / 59.99 = 60%  ✓</a:t>
            </a:r>
          </a:p>
          <a:p>
            <a:pPr algn="l">
              <a:spcAft>
                <a:spcPts val="300"/>
              </a:spcAft>
            </a:pPr>
            <a:r>
              <a:rPr sz="1200" b="1" i="0">
                <a:solidFill>
                  <a:srgbClr val="EEDB5C"/>
                </a:solidFill>
                <a:latin typeface="Kaspersky Sans Display"/>
              </a:rPr>
              <a:t>4  </a:t>
            </a:r>
            <a:r>
              <a:rPr sz="1200" b="1" i="0">
                <a:solidFill>
                  <a:srgbClr val="FFFFFF"/>
                </a:solidFill>
                <a:latin typeface="Kaspersky Sans Display"/>
              </a:rPr>
              <a:t>VAT / amount without taxes = country VAT rate</a:t>
            </a:r>
          </a:p>
          <a:p>
            <a:pPr algn="l">
              <a:spcAft>
                <a:spcPts val="300"/>
              </a:spcAft>
            </a:pPr>
            <a:r>
              <a:rPr sz="1200" b="1" i="0">
                <a:solidFill>
                  <a:srgbClr val="3DC4A2"/>
                </a:solidFill>
                <a:latin typeface="Kaspersky Sans Display"/>
              </a:rPr>
              <a:t>     3.83 / 20.17 = 19%  ✓</a:t>
            </a:r>
          </a:p>
          <a:p>
            <a:pPr algn="l">
              <a:spcAft>
                <a:spcPts val="300"/>
              </a:spcAft>
            </a:pPr>
            <a:r>
              <a:rPr sz="1200" b="1" i="0">
                <a:solidFill>
                  <a:srgbClr val="EEDB5C"/>
                </a:solidFill>
                <a:latin typeface="Kaspersky Sans Display"/>
              </a:rPr>
              <a:t>5  </a:t>
            </a:r>
            <a:r>
              <a:rPr sz="1200" b="1" i="0">
                <a:solidFill>
                  <a:srgbClr val="FFFFFF"/>
                </a:solidFill>
                <a:latin typeface="Kaspersky Sans Display"/>
              </a:rPr>
              <a:t>Partner fee / amount without taxes = agreed fee rate</a:t>
            </a:r>
          </a:p>
          <a:p>
            <a:pPr algn="l">
              <a:spcAft>
                <a:spcPts val="300"/>
              </a:spcAft>
            </a:pPr>
            <a:r>
              <a:rPr sz="1200" b="1" i="0">
                <a:solidFill>
                  <a:srgbClr val="3DC4A2"/>
                </a:solidFill>
                <a:latin typeface="Kaspersky Sans Display"/>
              </a:rPr>
              <a:t>     1.51 / 20.17 = 7.5%  ✓</a:t>
            </a:r>
          </a:p>
          <a:p>
            <a:pPr algn="l">
              <a:spcAft>
                <a:spcPts val="300"/>
              </a:spcAft>
            </a:pPr>
            <a:r>
              <a:rPr sz="1100" b="0" i="1">
                <a:solidFill>
                  <a:srgbClr val="B8C2D0"/>
                </a:solidFill>
                <a:latin typeface="Kaspersky Sans Display"/>
              </a:rPr>
              <a:t>Rounding tolerance ±0.01. If one fails, the record is wrong.</a:t>
            </a:r>
          </a:p>
        </p:txBody>
      </p:sp>
      <p:sp>
        <p:nvSpPr>
          <p:cNvPr id="25" name="TextBox 24"/>
          <p:cNvSpPr txBox="1"/>
          <p:nvPr/>
        </p:nvSpPr>
        <p:spPr>
          <a:xfrm>
            <a:off x="548640" y="6172200"/>
            <a:ext cx="11094415" cy="365760"/>
          </a:xfrm>
          <a:prstGeom prst="rect">
            <a:avLst/>
          </a:prstGeom>
          <a:noFill/>
        </p:spPr>
        <p:txBody>
          <a:bodyPr wrap="square" anchor="t" lIns="0" rIns="0" tIns="0" bIns="0">
            <a:spAutoFit/>
          </a:bodyPr>
          <a:lstStyle/>
          <a:p>
            <a:pPr algn="l">
              <a:spcAft>
                <a:spcPts val="600"/>
              </a:spcAft>
            </a:pPr>
            <a:r>
              <a:rPr sz="1400" b="0" i="1">
                <a:solidFill>
                  <a:srgbClr val="B8C2D0"/>
                </a:solidFill>
                <a:latin typeface="Kaspersky Sans Display"/>
              </a:rPr>
              <a:t>Known inputs: what we sell, where, with which discount, fee and taxes. Everything else is calculated.</a:t>
            </a:r>
          </a:p>
        </p:txBody>
      </p:sp>
      <p:sp>
        <p:nvSpPr>
          <p:cNvPr id="26" name="TextBox 25"/>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5</a:t>
            </a:r>
          </a:p>
        </p:txBody>
      </p:sp>
      <p:sp>
        <p:nvSpPr>
          <p:cNvPr id="27" name="Rounded Rectangle 26"/>
          <p:cNvSpPr/>
          <p:nvPr/>
        </p:nvSpPr>
        <p:spPr>
          <a:xfrm>
            <a:off x="9357055" y="274320"/>
            <a:ext cx="1737360" cy="292608"/>
          </a:xfrm>
          <a:prstGeom prst="roundRect">
            <a:avLst>
              <a:gd name="adj" fmla="val 12000"/>
            </a:avLst>
          </a:prstGeom>
          <a:solidFill>
            <a:srgbClr val="1E2128"/>
          </a:solidFill>
          <a:ln w="19050">
            <a:solidFill>
              <a:srgbClr val="6CC9E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6CC9EC"/>
                </a:solidFill>
                <a:latin typeface="Kaspersky Sans Display"/>
              </a:rPr>
              <a:t>1 · THE NEED</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What Retention needs to know</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Questions we must answer for each customer, with precision</a:t>
            </a:r>
          </a:p>
        </p:txBody>
      </p:sp>
      <p:sp>
        <p:nvSpPr>
          <p:cNvPr id="4" name="TextBox 3"/>
          <p:cNvSpPr txBox="1"/>
          <p:nvPr/>
        </p:nvSpPr>
        <p:spPr>
          <a:xfrm>
            <a:off x="548640" y="1554480"/>
            <a:ext cx="5989320" cy="320040"/>
          </a:xfrm>
          <a:prstGeom prst="rect">
            <a:avLst/>
          </a:prstGeom>
          <a:noFill/>
        </p:spPr>
        <p:txBody>
          <a:bodyPr wrap="square" anchor="t" lIns="0" rIns="0" tIns="0" bIns="0">
            <a:spAutoFit/>
          </a:bodyPr>
          <a:lstStyle/>
          <a:p>
            <a:pPr algn="l">
              <a:spcAft>
                <a:spcPts val="600"/>
              </a:spcAft>
            </a:pPr>
            <a:r>
              <a:rPr sz="1500" b="1" i="0">
                <a:solidFill>
                  <a:srgbClr val="3BA8DE"/>
                </a:solidFill>
                <a:latin typeface="Kaspersky Sans Display"/>
              </a:rPr>
              <a:t>Acquisition</a:t>
            </a:r>
          </a:p>
        </p:txBody>
      </p:sp>
      <p:sp>
        <p:nvSpPr>
          <p:cNvPr id="5" name="Oval 4"/>
          <p:cNvSpPr/>
          <p:nvPr/>
        </p:nvSpPr>
        <p:spPr>
          <a:xfrm>
            <a:off x="548640" y="1938528"/>
            <a:ext cx="457200" cy="457200"/>
          </a:xfrm>
          <a:prstGeom prst="ellipse">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Q1</a:t>
            </a:r>
          </a:p>
        </p:txBody>
      </p:sp>
      <p:sp>
        <p:nvSpPr>
          <p:cNvPr id="6" name="TextBox 5"/>
          <p:cNvSpPr txBox="1"/>
          <p:nvPr/>
        </p:nvSpPr>
        <p:spPr>
          <a:xfrm>
            <a:off x="1188719" y="1911096"/>
            <a:ext cx="5989320" cy="512064"/>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What discount did each customer have at acquisition?</a:t>
            </a:r>
          </a:p>
        </p:txBody>
      </p:sp>
      <p:sp>
        <p:nvSpPr>
          <p:cNvPr id="7" name="Oval 6"/>
          <p:cNvSpPr/>
          <p:nvPr/>
        </p:nvSpPr>
        <p:spPr>
          <a:xfrm>
            <a:off x="548640" y="2487168"/>
            <a:ext cx="457200" cy="457200"/>
          </a:xfrm>
          <a:prstGeom prst="ellipse">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Q2</a:t>
            </a:r>
          </a:p>
        </p:txBody>
      </p:sp>
      <p:sp>
        <p:nvSpPr>
          <p:cNvPr id="8" name="TextBox 7"/>
          <p:cNvSpPr txBox="1"/>
          <p:nvPr/>
        </p:nvSpPr>
        <p:spPr>
          <a:xfrm>
            <a:off x="1188719" y="2459736"/>
            <a:ext cx="5989320" cy="512064"/>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Across many customers and over time: which discounts brought more acquisitions?</a:t>
            </a:r>
          </a:p>
        </p:txBody>
      </p:sp>
      <p:sp>
        <p:nvSpPr>
          <p:cNvPr id="9" name="TextBox 8"/>
          <p:cNvSpPr txBox="1"/>
          <p:nvPr/>
        </p:nvSpPr>
        <p:spPr>
          <a:xfrm>
            <a:off x="548640" y="3108960"/>
            <a:ext cx="5989320" cy="320040"/>
          </a:xfrm>
          <a:prstGeom prst="rect">
            <a:avLst/>
          </a:prstGeom>
          <a:noFill/>
        </p:spPr>
        <p:txBody>
          <a:bodyPr wrap="square" anchor="t" lIns="0" rIns="0" tIns="0" bIns="0">
            <a:spAutoFit/>
          </a:bodyPr>
          <a:lstStyle/>
          <a:p>
            <a:pPr algn="l">
              <a:spcAft>
                <a:spcPts val="600"/>
              </a:spcAft>
            </a:pPr>
            <a:r>
              <a:rPr sz="1500" b="1" i="0">
                <a:solidFill>
                  <a:srgbClr val="3BA8DE"/>
                </a:solidFill>
                <a:latin typeface="Kaspersky Sans Display"/>
              </a:rPr>
              <a:t>Renewal or churn</a:t>
            </a:r>
          </a:p>
        </p:txBody>
      </p:sp>
      <p:sp>
        <p:nvSpPr>
          <p:cNvPr id="10" name="Oval 9"/>
          <p:cNvSpPr/>
          <p:nvPr/>
        </p:nvSpPr>
        <p:spPr>
          <a:xfrm>
            <a:off x="548640" y="3493008"/>
            <a:ext cx="457200" cy="457200"/>
          </a:xfrm>
          <a:prstGeom prst="ellipse">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Q3</a:t>
            </a:r>
          </a:p>
        </p:txBody>
      </p:sp>
      <p:sp>
        <p:nvSpPr>
          <p:cNvPr id="11" name="TextBox 10"/>
          <p:cNvSpPr txBox="1"/>
          <p:nvPr/>
        </p:nvSpPr>
        <p:spPr>
          <a:xfrm>
            <a:off x="1188719" y="3465576"/>
            <a:ext cx="5989320" cy="512064"/>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What discount did they have, and what was the renewal tactic?</a:t>
            </a:r>
          </a:p>
        </p:txBody>
      </p:sp>
      <p:sp>
        <p:nvSpPr>
          <p:cNvPr id="12" name="Oval 11"/>
          <p:cNvSpPr/>
          <p:nvPr/>
        </p:nvSpPr>
        <p:spPr>
          <a:xfrm>
            <a:off x="548640" y="4041648"/>
            <a:ext cx="457200" cy="457200"/>
          </a:xfrm>
          <a:prstGeom prst="ellipse">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Q4</a:t>
            </a:r>
          </a:p>
        </p:txBody>
      </p:sp>
      <p:sp>
        <p:nvSpPr>
          <p:cNvPr id="13" name="TextBox 12"/>
          <p:cNvSpPr txBox="1"/>
          <p:nvPr/>
        </p:nvSpPr>
        <p:spPr>
          <a:xfrm>
            <a:off x="1188719" y="4014215"/>
            <a:ext cx="5989320" cy="512064"/>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No discount plan: the discount is lost. How big is the price delta, in % and in money?</a:t>
            </a:r>
          </a:p>
        </p:txBody>
      </p:sp>
      <p:sp>
        <p:nvSpPr>
          <p:cNvPr id="14" name="Oval 13"/>
          <p:cNvSpPr/>
          <p:nvPr/>
        </p:nvSpPr>
        <p:spPr>
          <a:xfrm>
            <a:off x="548640" y="4590288"/>
            <a:ext cx="457200" cy="457200"/>
          </a:xfrm>
          <a:prstGeom prst="ellipse">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Q5</a:t>
            </a:r>
          </a:p>
        </p:txBody>
      </p:sp>
      <p:sp>
        <p:nvSpPr>
          <p:cNvPr id="15" name="TextBox 14"/>
          <p:cNvSpPr txBox="1"/>
          <p:nvPr/>
        </p:nvSpPr>
        <p:spPr>
          <a:xfrm>
            <a:off x="1188719" y="4562855"/>
            <a:ext cx="5989320" cy="512064"/>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With a discount plan (price ladder): what discount does the plan set?</a:t>
            </a:r>
          </a:p>
        </p:txBody>
      </p:sp>
      <p:sp>
        <p:nvSpPr>
          <p:cNvPr id="16" name="Oval 15"/>
          <p:cNvSpPr/>
          <p:nvPr/>
        </p:nvSpPr>
        <p:spPr>
          <a:xfrm>
            <a:off x="548640" y="5138927"/>
            <a:ext cx="457200" cy="457200"/>
          </a:xfrm>
          <a:prstGeom prst="ellipse">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Q6</a:t>
            </a:r>
          </a:p>
        </p:txBody>
      </p:sp>
      <p:sp>
        <p:nvSpPr>
          <p:cNvPr id="17" name="TextBox 16"/>
          <p:cNvSpPr txBox="1"/>
          <p:nvPr/>
        </p:nvSpPr>
        <p:spPr>
          <a:xfrm>
            <a:off x="1188719" y="5111495"/>
            <a:ext cx="5989320" cy="512064"/>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Are they price capped (zero discount)? Did an MSRP increase give room to grow?</a:t>
            </a:r>
          </a:p>
        </p:txBody>
      </p:sp>
      <p:sp>
        <p:nvSpPr>
          <p:cNvPr id="18" name="TextBox 17"/>
          <p:cNvSpPr txBox="1"/>
          <p:nvPr/>
        </p:nvSpPr>
        <p:spPr>
          <a:xfrm>
            <a:off x="548640" y="5989320"/>
            <a:ext cx="6400800" cy="365760"/>
          </a:xfrm>
          <a:prstGeom prst="rect">
            <a:avLst/>
          </a:prstGeom>
          <a:noFill/>
        </p:spPr>
        <p:txBody>
          <a:bodyPr wrap="square" anchor="t" lIns="0" rIns="0" tIns="0" bIns="0">
            <a:spAutoFit/>
          </a:bodyPr>
          <a:lstStyle/>
          <a:p>
            <a:pPr algn="l">
              <a:spcAft>
                <a:spcPts val="600"/>
              </a:spcAft>
            </a:pPr>
            <a:r>
              <a:rPr sz="1400" b="0" i="0">
                <a:solidFill>
                  <a:srgbClr val="5B6472"/>
                </a:solidFill>
                <a:latin typeface="Kaspersky Sans Display"/>
              </a:rPr>
              <a:t>All amounts with and without taxes.</a:t>
            </a:r>
          </a:p>
        </p:txBody>
      </p:sp>
      <p:sp>
        <p:nvSpPr>
          <p:cNvPr id="19" name="Rounded Rectangle 18"/>
          <p:cNvSpPr/>
          <p:nvPr/>
        </p:nvSpPr>
        <p:spPr>
          <a:xfrm>
            <a:off x="7498079" y="1554480"/>
            <a:ext cx="4142232" cy="329184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1737360"/>
            <a:ext cx="3593592" cy="365760"/>
          </a:xfrm>
          <a:prstGeom prst="rect">
            <a:avLst/>
          </a:prstGeom>
          <a:noFill/>
        </p:spPr>
        <p:txBody>
          <a:bodyPr wrap="square" anchor="t" lIns="0" rIns="0" tIns="0" bIns="0">
            <a:spAutoFit/>
          </a:bodyPr>
          <a:lstStyle/>
          <a:p>
            <a:pPr algn="l">
              <a:spcAft>
                <a:spcPts val="600"/>
              </a:spcAft>
            </a:pPr>
            <a:r>
              <a:rPr sz="1700" b="1" i="0">
                <a:solidFill>
                  <a:srgbClr val="1F2937"/>
                </a:solidFill>
                <a:latin typeface="Kaspersky Sans Display"/>
              </a:rPr>
              <a:t>We need two prices</a:t>
            </a:r>
          </a:p>
        </p:txBody>
      </p:sp>
      <p:sp>
        <p:nvSpPr>
          <p:cNvPr id="21" name="Rounded Rectangle 20"/>
          <p:cNvSpPr/>
          <p:nvPr/>
        </p:nvSpPr>
        <p:spPr>
          <a:xfrm>
            <a:off x="7772400" y="2240280"/>
            <a:ext cx="3593592" cy="54864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FFFFF"/>
                </a:solidFill>
                <a:latin typeface="Kaspersky Sans Display"/>
              </a:rPr>
              <a:t>MSRP valid at the transaction</a:t>
            </a:r>
          </a:p>
        </p:txBody>
      </p:sp>
      <p:sp>
        <p:nvSpPr>
          <p:cNvPr id="22" name="TextBox 21"/>
          <p:cNvSpPr txBox="1"/>
          <p:nvPr/>
        </p:nvSpPr>
        <p:spPr>
          <a:xfrm>
            <a:off x="7772400" y="2816352"/>
            <a:ext cx="3593592" cy="2743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Q1 to Q3 · the need and the gaps</a:t>
            </a:r>
          </a:p>
        </p:txBody>
      </p:sp>
      <p:sp>
        <p:nvSpPr>
          <p:cNvPr id="23" name="Rounded Rectangle 22"/>
          <p:cNvSpPr/>
          <p:nvPr/>
        </p:nvSpPr>
        <p:spPr>
          <a:xfrm>
            <a:off x="7772400" y="3291840"/>
            <a:ext cx="3593592" cy="548640"/>
          </a:xfrm>
          <a:prstGeom prst="roundRect">
            <a:avLst>
              <a:gd name="adj" fmla="val 12000"/>
            </a:avLst>
          </a:prstGeom>
          <a:solidFill>
            <a:srgbClr val="7B47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FFFFFF"/>
                </a:solidFill>
                <a:latin typeface="Kaspersky Sans Display"/>
              </a:rPr>
              <a:t>MSRP at expiration, or today</a:t>
            </a:r>
          </a:p>
        </p:txBody>
      </p:sp>
      <p:sp>
        <p:nvSpPr>
          <p:cNvPr id="24" name="TextBox 23"/>
          <p:cNvSpPr txBox="1"/>
          <p:nvPr/>
        </p:nvSpPr>
        <p:spPr>
          <a:xfrm>
            <a:off x="7772400" y="3867912"/>
            <a:ext cx="3593592" cy="5486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Q4 to Q6 · the gaps: the projection</a:t>
            </a:r>
          </a:p>
        </p:txBody>
      </p:sp>
      <p:sp>
        <p:nvSpPr>
          <p:cNvPr id="25" name="TextBox 24"/>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6</a:t>
            </a:r>
          </a:p>
        </p:txBody>
      </p:sp>
      <p:sp>
        <p:nvSpPr>
          <p:cNvPr id="26" name="Rounded Rectangle 25"/>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Why the model is needed per transaction</a:t>
            </a:r>
          </a:p>
        </p:txBody>
      </p:sp>
      <p:sp>
        <p:nvSpPr>
          <p:cNvPr id="3" name="Rounded Rectangle 2"/>
          <p:cNvSpPr/>
          <p:nvPr/>
        </p:nvSpPr>
        <p:spPr>
          <a:xfrm>
            <a:off x="548640" y="1371600"/>
            <a:ext cx="11094415" cy="868680"/>
          </a:xfrm>
          <a:prstGeom prst="roundRect">
            <a:avLst>
              <a:gd name="adj" fmla="val 12000"/>
            </a:avLst>
          </a:prstGeom>
          <a:solidFill>
            <a:srgbClr val="F1F3F6"/>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59" y="1371600"/>
            <a:ext cx="10545775" cy="868680"/>
          </a:xfrm>
          <a:prstGeom prst="rect">
            <a:avLst/>
          </a:prstGeom>
          <a:noFill/>
        </p:spPr>
        <p:txBody>
          <a:bodyPr wrap="square" anchor="ctr" lIns="0" rIns="0" tIns="0" bIns="0">
            <a:spAutoFit/>
          </a:bodyPr>
          <a:lstStyle/>
          <a:p>
            <a:pPr algn="l">
              <a:spcAft>
                <a:spcPts val="600"/>
              </a:spcAft>
            </a:pPr>
            <a:r>
              <a:rPr sz="1600" b="1" i="0">
                <a:solidFill>
                  <a:srgbClr val="1F2937"/>
                </a:solidFill>
                <a:latin typeface="Kaspersky Sans Display"/>
              </a:rPr>
              <a:t>Each transaction has its own configuration. </a:t>
            </a:r>
            <a:r>
              <a:rPr sz="1500" b="0" i="0">
                <a:solidFill>
                  <a:srgbClr val="5B6472"/>
                </a:solidFill>
                <a:latin typeface="Kaspersky Sans Display"/>
              </a:rPr>
              <a:t>A customer acquired today can have a different discount than one acquired tomorrow, because e-commerce changed the demand level. The MSRP stays the same until a price increase; everything else is relative to it.</a:t>
            </a:r>
          </a:p>
        </p:txBody>
      </p:sp>
      <p:sp>
        <p:nvSpPr>
          <p:cNvPr id="5" name="TextBox 4"/>
          <p:cNvSpPr txBox="1"/>
          <p:nvPr/>
        </p:nvSpPr>
        <p:spPr>
          <a:xfrm>
            <a:off x="548640" y="2377440"/>
            <a:ext cx="5486400" cy="320040"/>
          </a:xfrm>
          <a:prstGeom prst="rect">
            <a:avLst/>
          </a:prstGeom>
          <a:noFill/>
        </p:spPr>
        <p:txBody>
          <a:bodyPr wrap="square" anchor="t" lIns="0" rIns="0" tIns="0" bIns="0">
            <a:spAutoFit/>
          </a:bodyPr>
          <a:lstStyle/>
          <a:p>
            <a:pPr algn="l">
              <a:spcAft>
                <a:spcPts val="600"/>
              </a:spcAft>
            </a:pPr>
            <a:r>
              <a:rPr sz="1500" b="1" i="0">
                <a:solidFill>
                  <a:srgbClr val="5B6472"/>
                </a:solidFill>
                <a:latin typeface="Kaspersky Sans Display"/>
              </a:rPr>
              <a:t>It unlocks two studies</a:t>
            </a:r>
          </a:p>
        </p:txBody>
      </p:sp>
      <p:sp>
        <p:nvSpPr>
          <p:cNvPr id="6" name="Rounded Rectangle 5"/>
          <p:cNvSpPr/>
          <p:nvPr/>
        </p:nvSpPr>
        <p:spPr>
          <a:xfrm>
            <a:off x="548640" y="2743200"/>
            <a:ext cx="5394960" cy="36118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59" y="2926080"/>
            <a:ext cx="457200" cy="457200"/>
          </a:xfrm>
          <a:prstGeom prst="ellipse">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171C"/>
                </a:solidFill>
                <a:latin typeface="Kaspersky Sans Display"/>
              </a:rPr>
              <a:t>1</a:t>
            </a:r>
          </a:p>
        </p:txBody>
      </p:sp>
      <p:sp>
        <p:nvSpPr>
          <p:cNvPr id="8" name="TextBox 7"/>
          <p:cNvSpPr txBox="1"/>
          <p:nvPr/>
        </p:nvSpPr>
        <p:spPr>
          <a:xfrm>
            <a:off x="1417319" y="2926080"/>
            <a:ext cx="4297680" cy="457200"/>
          </a:xfrm>
          <a:prstGeom prst="rect">
            <a:avLst/>
          </a:prstGeom>
          <a:noFill/>
        </p:spPr>
        <p:txBody>
          <a:bodyPr wrap="square" anchor="ctr" lIns="0" rIns="0" tIns="0" bIns="0">
            <a:spAutoFit/>
          </a:bodyPr>
          <a:lstStyle/>
          <a:p>
            <a:pPr algn="l">
              <a:spcAft>
                <a:spcPts val="600"/>
              </a:spcAft>
            </a:pPr>
            <a:r>
              <a:rPr sz="1800" b="1" i="0">
                <a:solidFill>
                  <a:srgbClr val="1F2937"/>
                </a:solidFill>
                <a:latin typeface="Kaspersky Sans Display"/>
              </a:rPr>
              <a:t>Individual price sensitivity</a:t>
            </a:r>
          </a:p>
        </p:txBody>
      </p:sp>
      <p:sp>
        <p:nvSpPr>
          <p:cNvPr id="9" name="TextBox 8"/>
          <p:cNvSpPr txBox="1"/>
          <p:nvPr/>
        </p:nvSpPr>
        <p:spPr>
          <a:xfrm>
            <a:off x="822959" y="3520440"/>
            <a:ext cx="4846320" cy="1371600"/>
          </a:xfrm>
          <a:prstGeom prst="rect">
            <a:avLst/>
          </a:prstGeom>
          <a:noFill/>
        </p:spPr>
        <p:txBody>
          <a:bodyPr wrap="square" anchor="t" lIns="0" rIns="0" tIns="0" bIns="0">
            <a:spAutoFit/>
          </a:bodyPr>
          <a:lstStyle/>
          <a:p>
            <a:pPr algn="l">
              <a:spcAft>
                <a:spcPts val="500"/>
              </a:spcAft>
            </a:pPr>
            <a:r>
              <a:rPr sz="1400" b="0" i="0">
                <a:solidFill>
                  <a:srgbClr val="1F2937"/>
                </a:solidFill>
                <a:latin typeface="Kaspersky Sans Display"/>
              </a:rPr>
              <a:t>We need positive and negative cases: who renews and who does not, each with its discount.</a:t>
            </a:r>
          </a:p>
          <a:p>
            <a:pPr algn="l">
              <a:spcAft>
                <a:spcPts val="500"/>
              </a:spcAft>
            </a:pPr>
            <a:r>
              <a:rPr sz="1400" b="0" i="0">
                <a:solidFill>
                  <a:srgbClr val="1F2937"/>
                </a:solidFill>
                <a:latin typeface="Kaspersky Sans Display"/>
              </a:rPr>
              <a:t>Then we can simulate the tactic, at acquisition and at renewal.</a:t>
            </a:r>
          </a:p>
          <a:p>
            <a:pPr algn="l">
              <a:spcAft>
                <a:spcPts val="500"/>
              </a:spcAft>
            </a:pPr>
            <a:r>
              <a:rPr sz="1400" b="1" i="1">
                <a:solidFill>
                  <a:srgbClr val="EC7A3C"/>
                </a:solidFill>
                <a:latin typeface="Kaspersky Sans Display"/>
              </a:rPr>
              <a:t>Discount is a key driver of renewal. How much, we can only measure with all transactions.</a:t>
            </a:r>
          </a:p>
        </p:txBody>
      </p:sp>
      <p:sp>
        <p:nvSpPr>
          <p:cNvPr id="10" name="Rounded Rectangle 9"/>
          <p:cNvSpPr/>
          <p:nvPr/>
        </p:nvSpPr>
        <p:spPr>
          <a:xfrm>
            <a:off x="822960" y="5074920"/>
            <a:ext cx="1417320" cy="64008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Acquisition</a:t>
            </a:r>
          </a:p>
          <a:p>
            <a:pPr algn="ctr">
              <a:spcAft>
                <a:spcPts val="0"/>
              </a:spcAft>
            </a:pPr>
            <a:r>
              <a:rPr sz="1200" b="1" i="0">
                <a:solidFill>
                  <a:srgbClr val="FFFFFF"/>
                </a:solidFill>
                <a:latin typeface="Kaspersky Sans Display"/>
              </a:rPr>
              <a:t>with discount</a:t>
            </a:r>
          </a:p>
        </p:txBody>
      </p:sp>
      <p:sp>
        <p:nvSpPr>
          <p:cNvPr id="11" name="Right Arrow 10"/>
          <p:cNvSpPr/>
          <p:nvPr/>
        </p:nvSpPr>
        <p:spPr>
          <a:xfrm>
            <a:off x="2331720" y="5239512"/>
            <a:ext cx="411480" cy="32004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34640" y="5074920"/>
            <a:ext cx="1234440" cy="64008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Renews?</a:t>
            </a:r>
          </a:p>
        </p:txBody>
      </p:sp>
      <p:sp>
        <p:nvSpPr>
          <p:cNvPr id="13" name="Right Arrow 12"/>
          <p:cNvSpPr/>
          <p:nvPr/>
        </p:nvSpPr>
        <p:spPr>
          <a:xfrm>
            <a:off x="4160520" y="5239512"/>
            <a:ext cx="365760" cy="32004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17720" y="4937759"/>
            <a:ext cx="1097280" cy="429768"/>
          </a:xfrm>
          <a:prstGeom prst="roundRect">
            <a:avLst>
              <a:gd name="adj" fmla="val 12000"/>
            </a:avLst>
          </a:prstGeom>
          <a:solidFill>
            <a:srgbClr val="DD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9A7A"/>
                </a:solidFill>
                <a:latin typeface="Kaspersky Sans Display"/>
              </a:rPr>
              <a:t>Renews</a:t>
            </a:r>
          </a:p>
        </p:txBody>
      </p:sp>
      <p:sp>
        <p:nvSpPr>
          <p:cNvPr id="15" name="Rounded Rectangle 14"/>
          <p:cNvSpPr/>
          <p:nvPr/>
        </p:nvSpPr>
        <p:spPr>
          <a:xfrm>
            <a:off x="4617720" y="5440680"/>
            <a:ext cx="1097280" cy="429768"/>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Does not renew</a:t>
            </a:r>
          </a:p>
        </p:txBody>
      </p:sp>
      <p:sp>
        <p:nvSpPr>
          <p:cNvPr id="16" name="Rounded Rectangle 15"/>
          <p:cNvSpPr/>
          <p:nvPr/>
        </p:nvSpPr>
        <p:spPr>
          <a:xfrm>
            <a:off x="6245352" y="2743200"/>
            <a:ext cx="5394960" cy="36118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19672" y="2926080"/>
            <a:ext cx="457200" cy="45720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171C"/>
                </a:solidFill>
                <a:latin typeface="Kaspersky Sans Display"/>
              </a:rPr>
              <a:t>2</a:t>
            </a:r>
          </a:p>
        </p:txBody>
      </p:sp>
      <p:sp>
        <p:nvSpPr>
          <p:cNvPr id="18" name="TextBox 17"/>
          <p:cNvSpPr txBox="1"/>
          <p:nvPr/>
        </p:nvSpPr>
        <p:spPr>
          <a:xfrm>
            <a:off x="7114032" y="2926080"/>
            <a:ext cx="4297680" cy="457200"/>
          </a:xfrm>
          <a:prstGeom prst="rect">
            <a:avLst/>
          </a:prstGeom>
          <a:noFill/>
        </p:spPr>
        <p:txBody>
          <a:bodyPr wrap="square" anchor="ctr" lIns="0" rIns="0" tIns="0" bIns="0">
            <a:spAutoFit/>
          </a:bodyPr>
          <a:lstStyle/>
          <a:p>
            <a:pPr algn="l">
              <a:spcAft>
                <a:spcPts val="600"/>
              </a:spcAft>
            </a:pPr>
            <a:r>
              <a:rPr sz="1800" b="1" i="0">
                <a:solidFill>
                  <a:srgbClr val="1F2937"/>
                </a:solidFill>
                <a:latin typeface="Kaspersky Sans Display"/>
              </a:rPr>
              <a:t>Growth potential of the pipeline</a:t>
            </a:r>
          </a:p>
        </p:txBody>
      </p:sp>
      <p:sp>
        <p:nvSpPr>
          <p:cNvPr id="19" name="TextBox 18"/>
          <p:cNvSpPr txBox="1"/>
          <p:nvPr/>
        </p:nvSpPr>
        <p:spPr>
          <a:xfrm>
            <a:off x="6519672" y="3520440"/>
            <a:ext cx="4846320" cy="1371600"/>
          </a:xfrm>
          <a:prstGeom prst="rect">
            <a:avLst/>
          </a:prstGeom>
          <a:noFill/>
        </p:spPr>
        <p:txBody>
          <a:bodyPr wrap="square" anchor="t" lIns="0" rIns="0" tIns="0" bIns="0">
            <a:spAutoFit/>
          </a:bodyPr>
          <a:lstStyle/>
          <a:p>
            <a:pPr algn="l">
              <a:spcAft>
                <a:spcPts val="500"/>
              </a:spcAft>
            </a:pPr>
            <a:r>
              <a:rPr sz="1400" b="0" i="0">
                <a:solidFill>
                  <a:srgbClr val="1F2937"/>
                </a:solidFill>
                <a:latin typeface="Kaspersky Sans Display"/>
              </a:rPr>
              <a:t>Discounts decrease with each renewal until they reach zero: </a:t>
            </a:r>
            <a:r>
              <a:rPr sz="1400" b="1" i="0">
                <a:solidFill>
                  <a:srgbClr val="D42A4F"/>
                </a:solidFill>
                <a:latin typeface="Kaspersky Sans Display"/>
              </a:rPr>
              <a:t>price cap.</a:t>
            </a:r>
          </a:p>
          <a:p>
            <a:pPr algn="l">
              <a:spcAft>
                <a:spcPts val="500"/>
              </a:spcAft>
            </a:pPr>
            <a:r>
              <a:rPr sz="1400" b="0" i="0">
                <a:solidFill>
                  <a:srgbClr val="1F2937"/>
                </a:solidFill>
                <a:latin typeface="Kaspersky Sans Display"/>
              </a:rPr>
              <a:t>Transaction by transaction we measure the growth potential of the whole pipeline, and who leaves the price cap after an MSRP increase.</a:t>
            </a:r>
          </a:p>
        </p:txBody>
      </p:sp>
      <p:sp>
        <p:nvSpPr>
          <p:cNvPr id="20" name="Rectangle 19"/>
          <p:cNvSpPr/>
          <p:nvPr/>
        </p:nvSpPr>
        <p:spPr>
          <a:xfrm>
            <a:off x="6656832" y="5166360"/>
            <a:ext cx="777240" cy="7315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4873752"/>
            <a:ext cx="1508760" cy="274320"/>
          </a:xfrm>
          <a:prstGeom prst="rect">
            <a:avLst/>
          </a:prstGeom>
          <a:noFill/>
        </p:spPr>
        <p:txBody>
          <a:bodyPr wrap="square" anchor="t" lIns="0" rIns="0" tIns="0" bIns="0">
            <a:spAutoFit/>
          </a:bodyPr>
          <a:lstStyle/>
          <a:p>
            <a:pPr algn="ctr">
              <a:spcAft>
                <a:spcPts val="600"/>
              </a:spcAft>
            </a:pPr>
            <a:r>
              <a:rPr sz="1300" b="1" i="0">
                <a:solidFill>
                  <a:srgbClr val="EC7A3C"/>
                </a:solidFill>
                <a:latin typeface="Kaspersky Sans Display"/>
              </a:rPr>
              <a:t>50%</a:t>
            </a:r>
          </a:p>
        </p:txBody>
      </p:sp>
      <p:sp>
        <p:nvSpPr>
          <p:cNvPr id="22" name="TextBox 21"/>
          <p:cNvSpPr txBox="1"/>
          <p:nvPr/>
        </p:nvSpPr>
        <p:spPr>
          <a:xfrm>
            <a:off x="6382512" y="5952744"/>
            <a:ext cx="1325880" cy="274320"/>
          </a:xfrm>
          <a:prstGeom prst="rect">
            <a:avLst/>
          </a:prstGeom>
          <a:noFill/>
        </p:spPr>
        <p:txBody>
          <a:bodyPr wrap="square" anchor="t" lIns="0" rIns="0" tIns="0" bIns="0">
            <a:spAutoFit/>
          </a:bodyPr>
          <a:lstStyle/>
          <a:p>
            <a:pPr algn="ctr">
              <a:spcAft>
                <a:spcPts val="600"/>
              </a:spcAft>
            </a:pPr>
            <a:r>
              <a:rPr sz="1200" b="0" i="0">
                <a:solidFill>
                  <a:srgbClr val="5B6472"/>
                </a:solidFill>
                <a:latin typeface="Kaspersky Sans Display"/>
              </a:rPr>
              <a:t>Acquisition</a:t>
            </a:r>
          </a:p>
        </p:txBody>
      </p:sp>
      <p:sp>
        <p:nvSpPr>
          <p:cNvPr id="23" name="Rectangle 22"/>
          <p:cNvSpPr/>
          <p:nvPr/>
        </p:nvSpPr>
        <p:spPr>
          <a:xfrm>
            <a:off x="7845552" y="5458968"/>
            <a:ext cx="777240" cy="438912"/>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79792" y="5166360"/>
            <a:ext cx="1508760" cy="274320"/>
          </a:xfrm>
          <a:prstGeom prst="rect">
            <a:avLst/>
          </a:prstGeom>
          <a:noFill/>
        </p:spPr>
        <p:txBody>
          <a:bodyPr wrap="square" anchor="t" lIns="0" rIns="0" tIns="0" bIns="0">
            <a:spAutoFit/>
          </a:bodyPr>
          <a:lstStyle/>
          <a:p>
            <a:pPr algn="ctr">
              <a:spcAft>
                <a:spcPts val="600"/>
              </a:spcAft>
            </a:pPr>
            <a:r>
              <a:rPr sz="1300" b="1" i="0">
                <a:solidFill>
                  <a:srgbClr val="EC7A3C"/>
                </a:solidFill>
                <a:latin typeface="Kaspersky Sans Display"/>
              </a:rPr>
              <a:t>30%</a:t>
            </a:r>
          </a:p>
        </p:txBody>
      </p:sp>
      <p:sp>
        <p:nvSpPr>
          <p:cNvPr id="25" name="TextBox 24"/>
          <p:cNvSpPr txBox="1"/>
          <p:nvPr/>
        </p:nvSpPr>
        <p:spPr>
          <a:xfrm>
            <a:off x="7571231" y="5952744"/>
            <a:ext cx="1325880" cy="274320"/>
          </a:xfrm>
          <a:prstGeom prst="rect">
            <a:avLst/>
          </a:prstGeom>
          <a:noFill/>
        </p:spPr>
        <p:txBody>
          <a:bodyPr wrap="square" anchor="t" lIns="0" rIns="0" tIns="0" bIns="0">
            <a:spAutoFit/>
          </a:bodyPr>
          <a:lstStyle/>
          <a:p>
            <a:pPr algn="ctr">
              <a:spcAft>
                <a:spcPts val="600"/>
              </a:spcAft>
            </a:pPr>
            <a:r>
              <a:rPr sz="1200" b="0" i="0">
                <a:solidFill>
                  <a:srgbClr val="5B6472"/>
                </a:solidFill>
                <a:latin typeface="Kaspersky Sans Display"/>
              </a:rPr>
              <a:t>Renewal 1</a:t>
            </a:r>
          </a:p>
        </p:txBody>
      </p:sp>
      <p:sp>
        <p:nvSpPr>
          <p:cNvPr id="26" name="Rectangle 25"/>
          <p:cNvSpPr/>
          <p:nvPr/>
        </p:nvSpPr>
        <p:spPr>
          <a:xfrm>
            <a:off x="9034272" y="5678424"/>
            <a:ext cx="777240" cy="219456"/>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68512" y="5385816"/>
            <a:ext cx="1508760" cy="274320"/>
          </a:xfrm>
          <a:prstGeom prst="rect">
            <a:avLst/>
          </a:prstGeom>
          <a:noFill/>
        </p:spPr>
        <p:txBody>
          <a:bodyPr wrap="square" anchor="t" lIns="0" rIns="0" tIns="0" bIns="0">
            <a:spAutoFit/>
          </a:bodyPr>
          <a:lstStyle/>
          <a:p>
            <a:pPr algn="ctr">
              <a:spcAft>
                <a:spcPts val="600"/>
              </a:spcAft>
            </a:pPr>
            <a:r>
              <a:rPr sz="1300" b="1" i="0">
                <a:solidFill>
                  <a:srgbClr val="EC7A3C"/>
                </a:solidFill>
                <a:latin typeface="Kaspersky Sans Display"/>
              </a:rPr>
              <a:t>15%</a:t>
            </a:r>
          </a:p>
        </p:txBody>
      </p:sp>
      <p:sp>
        <p:nvSpPr>
          <p:cNvPr id="28" name="TextBox 27"/>
          <p:cNvSpPr txBox="1"/>
          <p:nvPr/>
        </p:nvSpPr>
        <p:spPr>
          <a:xfrm>
            <a:off x="8759952" y="5952744"/>
            <a:ext cx="1325880" cy="274320"/>
          </a:xfrm>
          <a:prstGeom prst="rect">
            <a:avLst/>
          </a:prstGeom>
          <a:noFill/>
        </p:spPr>
        <p:txBody>
          <a:bodyPr wrap="square" anchor="t" lIns="0" rIns="0" tIns="0" bIns="0">
            <a:spAutoFit/>
          </a:bodyPr>
          <a:lstStyle/>
          <a:p>
            <a:pPr algn="ctr">
              <a:spcAft>
                <a:spcPts val="600"/>
              </a:spcAft>
            </a:pPr>
            <a:r>
              <a:rPr sz="1200" b="0" i="0">
                <a:solidFill>
                  <a:srgbClr val="5B6472"/>
                </a:solidFill>
                <a:latin typeface="Kaspersky Sans Display"/>
              </a:rPr>
              <a:t>Renewal 2</a:t>
            </a:r>
          </a:p>
        </p:txBody>
      </p:sp>
      <p:sp>
        <p:nvSpPr>
          <p:cNvPr id="29" name="Rectangle 28"/>
          <p:cNvSpPr/>
          <p:nvPr/>
        </p:nvSpPr>
        <p:spPr>
          <a:xfrm>
            <a:off x="10222992" y="5861304"/>
            <a:ext cx="777240" cy="36576"/>
          </a:xfrm>
          <a:prstGeom prst="rect">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7232" y="5568696"/>
            <a:ext cx="1508760" cy="274320"/>
          </a:xfrm>
          <a:prstGeom prst="rect">
            <a:avLst/>
          </a:prstGeom>
          <a:noFill/>
        </p:spPr>
        <p:txBody>
          <a:bodyPr wrap="square" anchor="t" lIns="0" rIns="0" tIns="0" bIns="0">
            <a:spAutoFit/>
          </a:bodyPr>
          <a:lstStyle/>
          <a:p>
            <a:pPr algn="ctr">
              <a:spcAft>
                <a:spcPts val="600"/>
              </a:spcAft>
            </a:pPr>
            <a:r>
              <a:rPr sz="1300" b="1" i="0">
                <a:solidFill>
                  <a:srgbClr val="D42A4F"/>
                </a:solidFill>
                <a:latin typeface="Kaspersky Sans Display"/>
              </a:rPr>
              <a:t>0%  price cap</a:t>
            </a:r>
          </a:p>
        </p:txBody>
      </p:sp>
      <p:sp>
        <p:nvSpPr>
          <p:cNvPr id="31" name="TextBox 30"/>
          <p:cNvSpPr txBox="1"/>
          <p:nvPr/>
        </p:nvSpPr>
        <p:spPr>
          <a:xfrm>
            <a:off x="9948672" y="5952744"/>
            <a:ext cx="1325880" cy="274320"/>
          </a:xfrm>
          <a:prstGeom prst="rect">
            <a:avLst/>
          </a:prstGeom>
          <a:noFill/>
        </p:spPr>
        <p:txBody>
          <a:bodyPr wrap="square" anchor="t" lIns="0" rIns="0" tIns="0" bIns="0">
            <a:spAutoFit/>
          </a:bodyPr>
          <a:lstStyle/>
          <a:p>
            <a:pPr algn="ctr">
              <a:spcAft>
                <a:spcPts val="600"/>
              </a:spcAft>
            </a:pPr>
            <a:r>
              <a:rPr sz="1200" b="0" i="0">
                <a:solidFill>
                  <a:srgbClr val="5B6472"/>
                </a:solidFill>
                <a:latin typeface="Kaspersky Sans Display"/>
              </a:rPr>
              <a:t>Renewal 3</a:t>
            </a:r>
          </a:p>
        </p:txBody>
      </p:sp>
      <p:sp>
        <p:nvSpPr>
          <p:cNvPr id="32" name="TextBox 31"/>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7</a:t>
            </a:r>
          </a:p>
        </p:txBody>
      </p:sp>
      <p:sp>
        <p:nvSpPr>
          <p:cNvPr id="33" name="Rounded Rectangle 32"/>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Premise 1: one price, many discounts</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At a given moment the MSRP is the same for everyone. The operation changes the discount</a:t>
            </a:r>
          </a:p>
        </p:txBody>
      </p:sp>
      <p:sp>
        <p:nvSpPr>
          <p:cNvPr id="4" name="TextBox 3"/>
          <p:cNvSpPr txBox="1"/>
          <p:nvPr/>
        </p:nvSpPr>
        <p:spPr>
          <a:xfrm>
            <a:off x="548640" y="1508760"/>
            <a:ext cx="2377440" cy="320040"/>
          </a:xfrm>
          <a:prstGeom prst="rect">
            <a:avLst/>
          </a:prstGeom>
          <a:noFill/>
        </p:spPr>
        <p:txBody>
          <a:bodyPr wrap="square" anchor="t" lIns="0" rIns="0" tIns="0" bIns="0">
            <a:spAutoFit/>
          </a:bodyPr>
          <a:lstStyle/>
          <a:p>
            <a:pPr algn="ctr">
              <a:spcAft>
                <a:spcPts val="600"/>
              </a:spcAft>
            </a:pPr>
            <a:r>
              <a:rPr sz="1400" b="1" i="0">
                <a:solidFill>
                  <a:srgbClr val="5B6472"/>
                </a:solidFill>
                <a:latin typeface="Kaspersky Sans Display"/>
              </a:rPr>
              <a:t>What defines the MSRP</a:t>
            </a:r>
          </a:p>
        </p:txBody>
      </p:sp>
      <p:sp>
        <p:nvSpPr>
          <p:cNvPr id="5" name="TextBox 4"/>
          <p:cNvSpPr txBox="1"/>
          <p:nvPr/>
        </p:nvSpPr>
        <p:spPr>
          <a:xfrm>
            <a:off x="8595360" y="1417320"/>
            <a:ext cx="3017520" cy="457200"/>
          </a:xfrm>
          <a:prstGeom prst="rect">
            <a:avLst/>
          </a:prstGeom>
          <a:noFill/>
        </p:spPr>
        <p:txBody>
          <a:bodyPr wrap="square" anchor="t" lIns="0" rIns="0" tIns="0" bIns="0">
            <a:spAutoFit/>
          </a:bodyPr>
          <a:lstStyle/>
          <a:p>
            <a:pPr algn="ctr">
              <a:spcAft>
                <a:spcPts val="0"/>
              </a:spcAft>
            </a:pPr>
            <a:r>
              <a:rPr sz="1400" b="1" i="0">
                <a:solidFill>
                  <a:srgbClr val="EC7A3C"/>
                </a:solidFill>
                <a:latin typeface="Kaspersky Sans Display"/>
              </a:rPr>
              <a:t>Discount modifiers</a:t>
            </a:r>
          </a:p>
          <a:p>
            <a:pPr algn="ctr">
              <a:spcAft>
                <a:spcPts val="0"/>
              </a:spcAft>
            </a:pPr>
            <a:r>
              <a:rPr sz="1100" b="0" i="0">
                <a:solidFill>
                  <a:srgbClr val="5B6472"/>
                </a:solidFill>
                <a:latin typeface="Kaspersky Sans Display"/>
              </a:rPr>
              <a:t>they change the discount, not the MSRP</a:t>
            </a:r>
          </a:p>
        </p:txBody>
      </p:sp>
      <p:sp>
        <p:nvSpPr>
          <p:cNvPr id="6" name="Rounded Rectangle 5"/>
          <p:cNvSpPr/>
          <p:nvPr/>
        </p:nvSpPr>
        <p:spPr>
          <a:xfrm>
            <a:off x="548640" y="1965960"/>
            <a:ext cx="2377440" cy="566928"/>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Product</a:t>
            </a:r>
          </a:p>
        </p:txBody>
      </p:sp>
      <p:sp>
        <p:nvSpPr>
          <p:cNvPr id="7" name="Rounded Rectangle 6"/>
          <p:cNvSpPr/>
          <p:nvPr/>
        </p:nvSpPr>
        <p:spPr>
          <a:xfrm>
            <a:off x="548640" y="2697480"/>
            <a:ext cx="2377440" cy="566928"/>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Region</a:t>
            </a:r>
          </a:p>
        </p:txBody>
      </p:sp>
      <p:sp>
        <p:nvSpPr>
          <p:cNvPr id="8" name="Rounded Rectangle 7"/>
          <p:cNvSpPr/>
          <p:nvPr/>
        </p:nvSpPr>
        <p:spPr>
          <a:xfrm>
            <a:off x="548640" y="3429000"/>
            <a:ext cx="2377440" cy="566928"/>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Currency</a:t>
            </a:r>
          </a:p>
        </p:txBody>
      </p:sp>
      <p:sp>
        <p:nvSpPr>
          <p:cNvPr id="9" name="Rounded Rectangle 8"/>
          <p:cNvSpPr/>
          <p:nvPr/>
        </p:nvSpPr>
        <p:spPr>
          <a:xfrm>
            <a:off x="548640" y="4160520"/>
            <a:ext cx="2377440" cy="566928"/>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Validity period</a:t>
            </a:r>
          </a:p>
        </p:txBody>
      </p:sp>
      <p:sp>
        <p:nvSpPr>
          <p:cNvPr id="10" name="Right Arrow 9"/>
          <p:cNvSpPr/>
          <p:nvPr/>
        </p:nvSpPr>
        <p:spPr>
          <a:xfrm>
            <a:off x="3154680" y="3017520"/>
            <a:ext cx="731520" cy="54864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0" y="2194560"/>
            <a:ext cx="3291840" cy="219456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pPr>
            <a:r>
              <a:rPr sz="2800" b="1" i="0">
                <a:solidFill>
                  <a:srgbClr val="FFFFFF"/>
                </a:solidFill>
                <a:latin typeface="Kaspersky Sans Display"/>
              </a:rPr>
              <a:t>Valid MSRP</a:t>
            </a:r>
          </a:p>
          <a:p>
            <a:pPr algn="ctr">
              <a:spcAft>
                <a:spcPts val="400"/>
              </a:spcAft>
            </a:pPr>
            <a:r>
              <a:rPr sz="1600" b="0" i="0">
                <a:solidFill>
                  <a:srgbClr val="FFFFFF"/>
                </a:solidFill>
                <a:latin typeface="Kaspersky Sans Display"/>
              </a:rPr>
              <a:t>one price for everyone</a:t>
            </a:r>
          </a:p>
        </p:txBody>
      </p:sp>
      <p:sp>
        <p:nvSpPr>
          <p:cNvPr id="12" name="Right Arrow 11"/>
          <p:cNvSpPr/>
          <p:nvPr/>
        </p:nvSpPr>
        <p:spPr>
          <a:xfrm>
            <a:off x="7635240" y="3017520"/>
            <a:ext cx="731520" cy="54864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3611880"/>
            <a:ext cx="1005840" cy="274320"/>
          </a:xfrm>
          <a:prstGeom prst="rect">
            <a:avLst/>
          </a:prstGeom>
          <a:noFill/>
        </p:spPr>
        <p:txBody>
          <a:bodyPr wrap="square" anchor="t" lIns="0" rIns="0" tIns="0" bIns="0">
            <a:spAutoFit/>
          </a:bodyPr>
          <a:lstStyle/>
          <a:p>
            <a:pPr algn="ctr">
              <a:spcAft>
                <a:spcPts val="600"/>
              </a:spcAft>
            </a:pPr>
            <a:r>
              <a:rPr sz="1200" b="1" i="0">
                <a:solidFill>
                  <a:srgbClr val="EC7A3C"/>
                </a:solidFill>
                <a:latin typeface="Kaspersky Sans Display"/>
              </a:rPr>
              <a:t>− discount</a:t>
            </a:r>
          </a:p>
        </p:txBody>
      </p:sp>
      <p:sp>
        <p:nvSpPr>
          <p:cNvPr id="14" name="Rounded Rectangle 13"/>
          <p:cNvSpPr/>
          <p:nvPr/>
        </p:nvSpPr>
        <p:spPr>
          <a:xfrm>
            <a:off x="8595360" y="1965960"/>
            <a:ext cx="3017520" cy="566928"/>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Acquisition</a:t>
            </a:r>
          </a:p>
        </p:txBody>
      </p:sp>
      <p:sp>
        <p:nvSpPr>
          <p:cNvPr id="15" name="Rounded Rectangle 14"/>
          <p:cNvSpPr/>
          <p:nvPr/>
        </p:nvSpPr>
        <p:spPr>
          <a:xfrm>
            <a:off x="8595360" y="2697480"/>
            <a:ext cx="3017520" cy="566928"/>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Renewal</a:t>
            </a:r>
          </a:p>
        </p:txBody>
      </p:sp>
      <p:sp>
        <p:nvSpPr>
          <p:cNvPr id="16" name="Rounded Rectangle 15"/>
          <p:cNvSpPr/>
          <p:nvPr/>
        </p:nvSpPr>
        <p:spPr>
          <a:xfrm>
            <a:off x="8595360" y="3429000"/>
            <a:ext cx="3017520" cy="566928"/>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Stay Subscribed</a:t>
            </a:r>
          </a:p>
        </p:txBody>
      </p:sp>
      <p:sp>
        <p:nvSpPr>
          <p:cNvPr id="17" name="Rounded Rectangle 16"/>
          <p:cNvSpPr/>
          <p:nvPr/>
        </p:nvSpPr>
        <p:spPr>
          <a:xfrm>
            <a:off x="8595360" y="4160520"/>
            <a:ext cx="3017520" cy="566928"/>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F2937"/>
                </a:solidFill>
                <a:latin typeface="Kaspersky Sans Display"/>
              </a:rPr>
              <a:t>Winback</a:t>
            </a:r>
          </a:p>
        </p:txBody>
      </p:sp>
      <p:sp>
        <p:nvSpPr>
          <p:cNvPr id="18" name="TextBox 17"/>
          <p:cNvSpPr txBox="1"/>
          <p:nvPr/>
        </p:nvSpPr>
        <p:spPr>
          <a:xfrm>
            <a:off x="548640" y="5120640"/>
            <a:ext cx="11094415" cy="1188720"/>
          </a:xfrm>
          <a:prstGeom prst="rect">
            <a:avLst/>
          </a:prstGeom>
          <a:noFill/>
        </p:spPr>
        <p:txBody>
          <a:bodyPr wrap="square" anchor="t" lIns="0" rIns="0" tIns="0" bIns="0">
            <a:spAutoFit/>
          </a:bodyPr>
          <a:lstStyle/>
          <a:p>
            <a:pPr algn="l">
              <a:spcAft>
                <a:spcPts val="800"/>
              </a:spcAft>
            </a:pPr>
            <a:r>
              <a:rPr sz="1600" b="1" i="0">
                <a:solidFill>
                  <a:srgbClr val="1F2937"/>
                </a:solidFill>
                <a:latin typeface="Kaspersky Sans Display"/>
              </a:rPr>
              <a:t>One price for everyone at a given moment. </a:t>
            </a:r>
            <a:r>
              <a:rPr sz="1600" b="0" i="0">
                <a:solidFill>
                  <a:srgbClr val="1F2937"/>
                </a:solidFill>
                <a:latin typeface="Kaspersky Sans Display"/>
              </a:rPr>
              <a:t>Acquisition, Renewal, Stay Subscribed and Winback change the discount, never the MSRP.</a:t>
            </a:r>
          </a:p>
          <a:p>
            <a:pPr algn="l">
              <a:spcAft>
                <a:spcPts val="800"/>
              </a:spcAft>
            </a:pPr>
            <a:r>
              <a:rPr sz="1600" b="0" i="0">
                <a:solidFill>
                  <a:srgbClr val="5B6472"/>
                </a:solidFill>
                <a:latin typeface="Kaspersky Sans Display"/>
              </a:rPr>
              <a:t>The MSRP changes only with a price increase (by region and product). That is why the transaction time is part of the key.</a:t>
            </a:r>
          </a:p>
        </p:txBody>
      </p:sp>
      <p:sp>
        <p:nvSpPr>
          <p:cNvPr id="19" name="TextBox 18"/>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8</a:t>
            </a:r>
          </a:p>
        </p:txBody>
      </p:sp>
      <p:sp>
        <p:nvSpPr>
          <p:cNvPr id="20" name="Rounded Rectangle 19"/>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Premise 2: the discount belongs to the transaction</a:t>
            </a:r>
          </a:p>
        </p:txBody>
      </p:sp>
      <p:sp>
        <p:nvSpPr>
          <p:cNvPr id="3" name="Rectangle 2"/>
          <p:cNvSpPr/>
          <p:nvPr/>
        </p:nvSpPr>
        <p:spPr>
          <a:xfrm>
            <a:off x="3566160" y="1874519"/>
            <a:ext cx="5943600"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566160" y="1874519"/>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482328" y="1874519"/>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66160" y="1527048"/>
            <a:ext cx="5943600"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Same valid MSRP for all: €100</a:t>
            </a:r>
          </a:p>
        </p:txBody>
      </p:sp>
      <p:sp>
        <p:nvSpPr>
          <p:cNvPr id="7" name="TextBox 6"/>
          <p:cNvSpPr txBox="1"/>
          <p:nvPr/>
        </p:nvSpPr>
        <p:spPr>
          <a:xfrm>
            <a:off x="548640" y="2084831"/>
            <a:ext cx="2926080" cy="594360"/>
          </a:xfrm>
          <a:prstGeom prst="rect">
            <a:avLst/>
          </a:prstGeom>
          <a:noFill/>
        </p:spPr>
        <p:txBody>
          <a:bodyPr wrap="square" anchor="ctr" lIns="0" rIns="0" tIns="0" bIns="0">
            <a:spAutoFit/>
          </a:bodyPr>
          <a:lstStyle/>
          <a:p>
            <a:pPr algn="l">
              <a:spcAft>
                <a:spcPts val="0"/>
              </a:spcAft>
            </a:pPr>
            <a:r>
              <a:rPr sz="1500" b="1" i="0">
                <a:solidFill>
                  <a:srgbClr val="1F2937"/>
                </a:solidFill>
                <a:latin typeface="Kaspersky Sans Display"/>
              </a:rPr>
              <a:t>Acquisition</a:t>
            </a:r>
          </a:p>
          <a:p>
            <a:pPr algn="l">
              <a:spcAft>
                <a:spcPts val="0"/>
              </a:spcAft>
            </a:pPr>
            <a:r>
              <a:rPr sz="1200" b="0" i="0">
                <a:solidFill>
                  <a:srgbClr val="5B6472"/>
                </a:solidFill>
                <a:latin typeface="Kaspersky Sans Display"/>
              </a:rPr>
              <a:t>demand level</a:t>
            </a:r>
          </a:p>
        </p:txBody>
      </p:sp>
      <p:sp>
        <p:nvSpPr>
          <p:cNvPr id="8" name="Rectangle 7"/>
          <p:cNvSpPr/>
          <p:nvPr/>
        </p:nvSpPr>
        <p:spPr>
          <a:xfrm>
            <a:off x="3566160" y="2103120"/>
            <a:ext cx="2971800"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€50</a:t>
            </a:r>
          </a:p>
        </p:txBody>
      </p:sp>
      <p:sp>
        <p:nvSpPr>
          <p:cNvPr id="9" name="Rectangle 8"/>
          <p:cNvSpPr/>
          <p:nvPr/>
        </p:nvSpPr>
        <p:spPr>
          <a:xfrm>
            <a:off x="6537960" y="2103120"/>
            <a:ext cx="2971800" cy="5029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Demand level</a:t>
            </a:r>
          </a:p>
          <a:p>
            <a:pPr algn="ctr">
              <a:spcAft>
                <a:spcPts val="0"/>
              </a:spcAft>
            </a:pPr>
            <a:r>
              <a:rPr sz="1100" b="1" i="0">
                <a:solidFill>
                  <a:srgbClr val="14171C"/>
                </a:solidFill>
                <a:latin typeface="Kaspersky Sans Display"/>
              </a:rPr>
              <a:t>€50</a:t>
            </a:r>
          </a:p>
        </p:txBody>
      </p:sp>
      <p:sp>
        <p:nvSpPr>
          <p:cNvPr id="10" name="TextBox 9"/>
          <p:cNvSpPr txBox="1"/>
          <p:nvPr/>
        </p:nvSpPr>
        <p:spPr>
          <a:xfrm>
            <a:off x="9829800" y="2103120"/>
            <a:ext cx="1828800" cy="502920"/>
          </a:xfrm>
          <a:prstGeom prst="rect">
            <a:avLst/>
          </a:prstGeom>
          <a:noFill/>
        </p:spPr>
        <p:txBody>
          <a:bodyPr wrap="square" anchor="ctr" lIns="0" rIns="0" tIns="0" bIns="0">
            <a:spAutoFit/>
          </a:bodyPr>
          <a:lstStyle/>
          <a:p>
            <a:pPr algn="l">
              <a:spcAft>
                <a:spcPts val="600"/>
              </a:spcAft>
            </a:pPr>
            <a:r>
              <a:rPr sz="1300" b="0" i="0">
                <a:solidFill>
                  <a:srgbClr val="5B6472"/>
                </a:solidFill>
                <a:latin typeface="Kaspersky Sans Display"/>
              </a:rPr>
              <a:t>Discount </a:t>
            </a:r>
            <a:r>
              <a:rPr sz="1700" b="1" i="0">
                <a:solidFill>
                  <a:srgbClr val="EC7A3C"/>
                </a:solidFill>
                <a:latin typeface="Kaspersky Sans Display"/>
              </a:rPr>
              <a:t>50%</a:t>
            </a:r>
          </a:p>
        </p:txBody>
      </p:sp>
      <p:sp>
        <p:nvSpPr>
          <p:cNvPr id="11" name="TextBox 10"/>
          <p:cNvSpPr txBox="1"/>
          <p:nvPr/>
        </p:nvSpPr>
        <p:spPr>
          <a:xfrm>
            <a:off x="548640" y="2926079"/>
            <a:ext cx="2926080" cy="594360"/>
          </a:xfrm>
          <a:prstGeom prst="rect">
            <a:avLst/>
          </a:prstGeom>
          <a:noFill/>
        </p:spPr>
        <p:txBody>
          <a:bodyPr wrap="square" anchor="ctr" lIns="0" rIns="0" tIns="0" bIns="0">
            <a:spAutoFit/>
          </a:bodyPr>
          <a:lstStyle/>
          <a:p>
            <a:pPr algn="l">
              <a:spcAft>
                <a:spcPts val="0"/>
              </a:spcAft>
            </a:pPr>
            <a:r>
              <a:rPr sz="1500" b="1" i="0">
                <a:solidFill>
                  <a:srgbClr val="1F2937"/>
                </a:solidFill>
                <a:latin typeface="Kaspersky Sans Display"/>
              </a:rPr>
              <a:t>Acquisition + coupon</a:t>
            </a:r>
          </a:p>
          <a:p>
            <a:pPr algn="l">
              <a:spcAft>
                <a:spcPts val="0"/>
              </a:spcAft>
            </a:pPr>
            <a:r>
              <a:rPr sz="1200" b="0" i="0">
                <a:solidFill>
                  <a:srgbClr val="5B6472"/>
                </a:solidFill>
                <a:latin typeface="Kaspersky Sans Display"/>
              </a:rPr>
              <a:t>demand level + additional coupon</a:t>
            </a:r>
          </a:p>
        </p:txBody>
      </p:sp>
      <p:sp>
        <p:nvSpPr>
          <p:cNvPr id="12" name="Rectangle 11"/>
          <p:cNvSpPr/>
          <p:nvPr/>
        </p:nvSpPr>
        <p:spPr>
          <a:xfrm>
            <a:off x="3566160" y="2944368"/>
            <a:ext cx="2674620"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€45</a:t>
            </a:r>
          </a:p>
        </p:txBody>
      </p:sp>
      <p:sp>
        <p:nvSpPr>
          <p:cNvPr id="13" name="Rectangle 12"/>
          <p:cNvSpPr/>
          <p:nvPr/>
        </p:nvSpPr>
        <p:spPr>
          <a:xfrm>
            <a:off x="6240780" y="2944368"/>
            <a:ext cx="2971800" cy="5029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Demand level</a:t>
            </a:r>
          </a:p>
          <a:p>
            <a:pPr algn="ctr">
              <a:spcAft>
                <a:spcPts val="0"/>
              </a:spcAft>
            </a:pPr>
            <a:r>
              <a:rPr sz="1100" b="1" i="0">
                <a:solidFill>
                  <a:srgbClr val="14171C"/>
                </a:solidFill>
                <a:latin typeface="Kaspersky Sans Display"/>
              </a:rPr>
              <a:t>€50</a:t>
            </a:r>
          </a:p>
        </p:txBody>
      </p:sp>
      <p:sp>
        <p:nvSpPr>
          <p:cNvPr id="14" name="Rectangle 13"/>
          <p:cNvSpPr/>
          <p:nvPr/>
        </p:nvSpPr>
        <p:spPr>
          <a:xfrm>
            <a:off x="9212580" y="2944368"/>
            <a:ext cx="297180" cy="502920"/>
          </a:xfrm>
          <a:prstGeom prst="rect">
            <a:avLst/>
          </a:prstGeom>
          <a:solidFill>
            <a:srgbClr val="E5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29649" y="3483863"/>
            <a:ext cx="1463040" cy="228600"/>
          </a:xfrm>
          <a:prstGeom prst="rect">
            <a:avLst/>
          </a:prstGeom>
          <a:noFill/>
        </p:spPr>
        <p:txBody>
          <a:bodyPr wrap="square" anchor="t" lIns="0" rIns="0" tIns="0" bIns="0">
            <a:spAutoFit/>
          </a:bodyPr>
          <a:lstStyle/>
          <a:p>
            <a:pPr algn="ctr">
              <a:spcAft>
                <a:spcPts val="600"/>
              </a:spcAft>
            </a:pPr>
            <a:r>
              <a:rPr sz="1000" b="1" i="0">
                <a:solidFill>
                  <a:srgbClr val="E5B400"/>
                </a:solidFill>
                <a:latin typeface="Kaspersky Sans Display"/>
              </a:rPr>
              <a:t>Coupon €5</a:t>
            </a:r>
          </a:p>
        </p:txBody>
      </p:sp>
      <p:sp>
        <p:nvSpPr>
          <p:cNvPr id="16" name="TextBox 15"/>
          <p:cNvSpPr txBox="1"/>
          <p:nvPr/>
        </p:nvSpPr>
        <p:spPr>
          <a:xfrm>
            <a:off x="9829800" y="2944368"/>
            <a:ext cx="1828800" cy="502920"/>
          </a:xfrm>
          <a:prstGeom prst="rect">
            <a:avLst/>
          </a:prstGeom>
          <a:noFill/>
        </p:spPr>
        <p:txBody>
          <a:bodyPr wrap="square" anchor="ctr" lIns="0" rIns="0" tIns="0" bIns="0">
            <a:spAutoFit/>
          </a:bodyPr>
          <a:lstStyle/>
          <a:p>
            <a:pPr algn="l">
              <a:spcAft>
                <a:spcPts val="600"/>
              </a:spcAft>
            </a:pPr>
            <a:r>
              <a:rPr sz="1300" b="0" i="0">
                <a:solidFill>
                  <a:srgbClr val="5B6472"/>
                </a:solidFill>
                <a:latin typeface="Kaspersky Sans Display"/>
              </a:rPr>
              <a:t>Discount </a:t>
            </a:r>
            <a:r>
              <a:rPr sz="1700" b="1" i="0">
                <a:solidFill>
                  <a:srgbClr val="EC7A3C"/>
                </a:solidFill>
                <a:latin typeface="Kaspersky Sans Display"/>
              </a:rPr>
              <a:t>55%</a:t>
            </a:r>
          </a:p>
        </p:txBody>
      </p:sp>
      <p:sp>
        <p:nvSpPr>
          <p:cNvPr id="17" name="TextBox 16"/>
          <p:cNvSpPr txBox="1"/>
          <p:nvPr/>
        </p:nvSpPr>
        <p:spPr>
          <a:xfrm>
            <a:off x="548640" y="3767328"/>
            <a:ext cx="2926080" cy="594360"/>
          </a:xfrm>
          <a:prstGeom prst="rect">
            <a:avLst/>
          </a:prstGeom>
          <a:noFill/>
        </p:spPr>
        <p:txBody>
          <a:bodyPr wrap="square" anchor="ctr" lIns="0" rIns="0" tIns="0" bIns="0">
            <a:spAutoFit/>
          </a:bodyPr>
          <a:lstStyle/>
          <a:p>
            <a:pPr algn="l">
              <a:spcAft>
                <a:spcPts val="0"/>
              </a:spcAft>
            </a:pPr>
            <a:r>
              <a:rPr sz="1500" b="1" i="0">
                <a:solidFill>
                  <a:srgbClr val="1F2937"/>
                </a:solidFill>
                <a:latin typeface="Kaspersky Sans Display"/>
              </a:rPr>
              <a:t>Renewal at 100%</a:t>
            </a:r>
          </a:p>
          <a:p>
            <a:pPr algn="l">
              <a:spcAft>
                <a:spcPts val="0"/>
              </a:spcAft>
            </a:pPr>
            <a:r>
              <a:rPr sz="1200" b="0" i="0">
                <a:solidFill>
                  <a:srgbClr val="5B6472"/>
                </a:solidFill>
                <a:latin typeface="Kaspersky Sans Display"/>
              </a:rPr>
              <a:t>no discount</a:t>
            </a:r>
          </a:p>
        </p:txBody>
      </p:sp>
      <p:sp>
        <p:nvSpPr>
          <p:cNvPr id="18" name="Rectangle 17"/>
          <p:cNvSpPr/>
          <p:nvPr/>
        </p:nvSpPr>
        <p:spPr>
          <a:xfrm>
            <a:off x="3566160" y="3785615"/>
            <a:ext cx="5943600"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€100</a:t>
            </a:r>
          </a:p>
        </p:txBody>
      </p:sp>
      <p:sp>
        <p:nvSpPr>
          <p:cNvPr id="19" name="TextBox 18"/>
          <p:cNvSpPr txBox="1"/>
          <p:nvPr/>
        </p:nvSpPr>
        <p:spPr>
          <a:xfrm>
            <a:off x="9829800" y="3785615"/>
            <a:ext cx="1828800" cy="502920"/>
          </a:xfrm>
          <a:prstGeom prst="rect">
            <a:avLst/>
          </a:prstGeom>
          <a:noFill/>
        </p:spPr>
        <p:txBody>
          <a:bodyPr wrap="square" anchor="ctr" lIns="0" rIns="0" tIns="0" bIns="0">
            <a:spAutoFit/>
          </a:bodyPr>
          <a:lstStyle/>
          <a:p>
            <a:pPr algn="l">
              <a:spcAft>
                <a:spcPts val="600"/>
              </a:spcAft>
            </a:pPr>
            <a:r>
              <a:rPr sz="1300" b="0" i="0">
                <a:solidFill>
                  <a:srgbClr val="5B6472"/>
                </a:solidFill>
                <a:latin typeface="Kaspersky Sans Display"/>
              </a:rPr>
              <a:t>Discount </a:t>
            </a:r>
            <a:r>
              <a:rPr sz="1700" b="1" i="0">
                <a:solidFill>
                  <a:srgbClr val="EC7A3C"/>
                </a:solidFill>
                <a:latin typeface="Kaspersky Sans Display"/>
              </a:rPr>
              <a:t>0%</a:t>
            </a:r>
          </a:p>
        </p:txBody>
      </p:sp>
      <p:sp>
        <p:nvSpPr>
          <p:cNvPr id="20" name="TextBox 19"/>
          <p:cNvSpPr txBox="1"/>
          <p:nvPr/>
        </p:nvSpPr>
        <p:spPr>
          <a:xfrm>
            <a:off x="548640" y="4608576"/>
            <a:ext cx="2926080" cy="594360"/>
          </a:xfrm>
          <a:prstGeom prst="rect">
            <a:avLst/>
          </a:prstGeom>
          <a:noFill/>
        </p:spPr>
        <p:txBody>
          <a:bodyPr wrap="square" anchor="ctr" lIns="0" rIns="0" tIns="0" bIns="0">
            <a:spAutoFit/>
          </a:bodyPr>
          <a:lstStyle/>
          <a:p>
            <a:pPr algn="l">
              <a:spcAft>
                <a:spcPts val="0"/>
              </a:spcAft>
            </a:pPr>
            <a:r>
              <a:rPr sz="1500" b="1" i="0">
                <a:solidFill>
                  <a:srgbClr val="1F2937"/>
                </a:solidFill>
                <a:latin typeface="Kaspersky Sans Display"/>
              </a:rPr>
              <a:t>Renewal with ladder</a:t>
            </a:r>
          </a:p>
          <a:p>
            <a:pPr algn="l">
              <a:spcAft>
                <a:spcPts val="0"/>
              </a:spcAft>
            </a:pPr>
            <a:r>
              <a:rPr sz="1200" b="0" i="0">
                <a:solidFill>
                  <a:srgbClr val="5B6472"/>
                </a:solidFill>
                <a:latin typeface="Kaspersky Sans Display"/>
              </a:rPr>
              <a:t>agreed ladder: 50% → 30%</a:t>
            </a:r>
          </a:p>
        </p:txBody>
      </p:sp>
      <p:sp>
        <p:nvSpPr>
          <p:cNvPr id="21" name="Rectangle 20"/>
          <p:cNvSpPr/>
          <p:nvPr/>
        </p:nvSpPr>
        <p:spPr>
          <a:xfrm>
            <a:off x="3566160" y="4626864"/>
            <a:ext cx="4160520"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€70</a:t>
            </a:r>
          </a:p>
        </p:txBody>
      </p:sp>
      <p:sp>
        <p:nvSpPr>
          <p:cNvPr id="22" name="Rectangle 21"/>
          <p:cNvSpPr/>
          <p:nvPr/>
        </p:nvSpPr>
        <p:spPr>
          <a:xfrm>
            <a:off x="7726679" y="4626864"/>
            <a:ext cx="1783080" cy="5029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Ladder</a:t>
            </a:r>
          </a:p>
          <a:p>
            <a:pPr algn="ctr">
              <a:spcAft>
                <a:spcPts val="0"/>
              </a:spcAft>
            </a:pPr>
            <a:r>
              <a:rPr sz="1100" b="1" i="0">
                <a:solidFill>
                  <a:srgbClr val="14171C"/>
                </a:solidFill>
                <a:latin typeface="Kaspersky Sans Display"/>
              </a:rPr>
              <a:t>€30</a:t>
            </a:r>
          </a:p>
        </p:txBody>
      </p:sp>
      <p:sp>
        <p:nvSpPr>
          <p:cNvPr id="23" name="TextBox 22"/>
          <p:cNvSpPr txBox="1"/>
          <p:nvPr/>
        </p:nvSpPr>
        <p:spPr>
          <a:xfrm>
            <a:off x="9829800" y="4626864"/>
            <a:ext cx="1828800" cy="502920"/>
          </a:xfrm>
          <a:prstGeom prst="rect">
            <a:avLst/>
          </a:prstGeom>
          <a:noFill/>
        </p:spPr>
        <p:txBody>
          <a:bodyPr wrap="square" anchor="ctr" lIns="0" rIns="0" tIns="0" bIns="0">
            <a:spAutoFit/>
          </a:bodyPr>
          <a:lstStyle/>
          <a:p>
            <a:pPr algn="l">
              <a:spcAft>
                <a:spcPts val="600"/>
              </a:spcAft>
            </a:pPr>
            <a:r>
              <a:rPr sz="1300" b="0" i="0">
                <a:solidFill>
                  <a:srgbClr val="5B6472"/>
                </a:solidFill>
                <a:latin typeface="Kaspersky Sans Display"/>
              </a:rPr>
              <a:t>Discount </a:t>
            </a:r>
            <a:r>
              <a:rPr sz="1700" b="1" i="0">
                <a:solidFill>
                  <a:srgbClr val="EC7A3C"/>
                </a:solidFill>
                <a:latin typeface="Kaspersky Sans Display"/>
              </a:rPr>
              <a:t>30%</a:t>
            </a:r>
          </a:p>
        </p:txBody>
      </p:sp>
      <p:sp>
        <p:nvSpPr>
          <p:cNvPr id="24" name="TextBox 23"/>
          <p:cNvSpPr txBox="1"/>
          <p:nvPr/>
        </p:nvSpPr>
        <p:spPr>
          <a:xfrm>
            <a:off x="548640" y="5449824"/>
            <a:ext cx="2926080" cy="594360"/>
          </a:xfrm>
          <a:prstGeom prst="rect">
            <a:avLst/>
          </a:prstGeom>
          <a:noFill/>
        </p:spPr>
        <p:txBody>
          <a:bodyPr wrap="square" anchor="ctr" lIns="0" rIns="0" tIns="0" bIns="0">
            <a:spAutoFit/>
          </a:bodyPr>
          <a:lstStyle/>
          <a:p>
            <a:pPr algn="l">
              <a:spcAft>
                <a:spcPts val="0"/>
              </a:spcAft>
            </a:pPr>
            <a:r>
              <a:rPr sz="1500" b="1" i="0">
                <a:solidFill>
                  <a:srgbClr val="1F2937"/>
                </a:solidFill>
                <a:latin typeface="Kaspersky Sans Display"/>
              </a:rPr>
              <a:t>Stay Subscribed</a:t>
            </a:r>
          </a:p>
          <a:p>
            <a:pPr algn="l">
              <a:spcAft>
                <a:spcPts val="0"/>
              </a:spcAft>
            </a:pPr>
            <a:r>
              <a:rPr sz="1200" b="0" i="0">
                <a:solidFill>
                  <a:srgbClr val="5B6472"/>
                </a:solidFill>
                <a:latin typeface="Kaspersky Sans Display"/>
              </a:rPr>
              <a:t>offer to keep the subscription</a:t>
            </a:r>
          </a:p>
        </p:txBody>
      </p:sp>
      <p:sp>
        <p:nvSpPr>
          <p:cNvPr id="25" name="Rectangle 24"/>
          <p:cNvSpPr/>
          <p:nvPr/>
        </p:nvSpPr>
        <p:spPr>
          <a:xfrm>
            <a:off x="3566160" y="5468112"/>
            <a:ext cx="3566160"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€60</a:t>
            </a:r>
          </a:p>
        </p:txBody>
      </p:sp>
      <p:sp>
        <p:nvSpPr>
          <p:cNvPr id="26" name="Rectangle 25"/>
          <p:cNvSpPr/>
          <p:nvPr/>
        </p:nvSpPr>
        <p:spPr>
          <a:xfrm>
            <a:off x="7132320" y="5468112"/>
            <a:ext cx="2377440" cy="5029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Stay Subscribed</a:t>
            </a:r>
          </a:p>
          <a:p>
            <a:pPr algn="ctr">
              <a:spcAft>
                <a:spcPts val="0"/>
              </a:spcAft>
            </a:pPr>
            <a:r>
              <a:rPr sz="1100" b="1" i="0">
                <a:solidFill>
                  <a:srgbClr val="14171C"/>
                </a:solidFill>
                <a:latin typeface="Kaspersky Sans Display"/>
              </a:rPr>
              <a:t>€40</a:t>
            </a:r>
          </a:p>
        </p:txBody>
      </p:sp>
      <p:sp>
        <p:nvSpPr>
          <p:cNvPr id="27" name="TextBox 26"/>
          <p:cNvSpPr txBox="1"/>
          <p:nvPr/>
        </p:nvSpPr>
        <p:spPr>
          <a:xfrm>
            <a:off x="9829800" y="5468112"/>
            <a:ext cx="1828800" cy="502920"/>
          </a:xfrm>
          <a:prstGeom prst="rect">
            <a:avLst/>
          </a:prstGeom>
          <a:noFill/>
        </p:spPr>
        <p:txBody>
          <a:bodyPr wrap="square" anchor="ctr" lIns="0" rIns="0" tIns="0" bIns="0">
            <a:spAutoFit/>
          </a:bodyPr>
          <a:lstStyle/>
          <a:p>
            <a:pPr algn="l">
              <a:spcAft>
                <a:spcPts val="600"/>
              </a:spcAft>
            </a:pPr>
            <a:r>
              <a:rPr sz="1300" b="0" i="0">
                <a:solidFill>
                  <a:srgbClr val="5B6472"/>
                </a:solidFill>
                <a:latin typeface="Kaspersky Sans Display"/>
              </a:rPr>
              <a:t>Discount </a:t>
            </a:r>
            <a:r>
              <a:rPr sz="1700" b="1" i="0">
                <a:solidFill>
                  <a:srgbClr val="EC7A3C"/>
                </a:solidFill>
                <a:latin typeface="Kaspersky Sans Display"/>
              </a:rPr>
              <a:t>40%</a:t>
            </a:r>
          </a:p>
        </p:txBody>
      </p:sp>
      <p:sp>
        <p:nvSpPr>
          <p:cNvPr id="28" name="TextBox 27"/>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9</a:t>
            </a:r>
          </a:p>
        </p:txBody>
      </p:sp>
      <p:sp>
        <p:nvSpPr>
          <p:cNvPr id="29" name="Rounded Rectangle 28"/>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A discount configuration is not a discount</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The same label can mean different discounts. Only the amounts at transaction time are reliable</a:t>
            </a:r>
          </a:p>
        </p:txBody>
      </p:sp>
      <p:sp>
        <p:nvSpPr>
          <p:cNvPr id="4" name="Rounded Rectangle 3"/>
          <p:cNvSpPr/>
          <p:nvPr/>
        </p:nvSpPr>
        <p:spPr>
          <a:xfrm>
            <a:off x="548640" y="1600200"/>
            <a:ext cx="3566160" cy="27889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1645920" cy="365760"/>
          </a:xfrm>
          <a:prstGeom prst="rect">
            <a:avLst/>
          </a:prstGeom>
          <a:noFill/>
        </p:spPr>
        <p:txBody>
          <a:bodyPr wrap="square" anchor="t" lIns="0" rIns="0" tIns="0" bIns="0">
            <a:spAutoFit/>
          </a:bodyPr>
          <a:lstStyle/>
          <a:p>
            <a:pPr algn="l">
              <a:spcAft>
                <a:spcPts val="600"/>
              </a:spcAft>
            </a:pPr>
            <a:r>
              <a:rPr sz="1700" b="1" i="0">
                <a:solidFill>
                  <a:srgbClr val="1F2937"/>
                </a:solidFill>
                <a:latin typeface="Kaspersky Sans Display"/>
              </a:rPr>
              <a:t>January</a:t>
            </a:r>
          </a:p>
        </p:txBody>
      </p:sp>
      <p:sp>
        <p:nvSpPr>
          <p:cNvPr id="6" name="Rounded Rectangle 5"/>
          <p:cNvSpPr/>
          <p:nvPr/>
        </p:nvSpPr>
        <p:spPr>
          <a:xfrm>
            <a:off x="2423160" y="1801368"/>
            <a:ext cx="1417320" cy="347472"/>
          </a:xfrm>
          <a:prstGeom prst="roundRect">
            <a:avLst>
              <a:gd name="adj" fmla="val 12000"/>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Demand level 1</a:t>
            </a:r>
          </a:p>
        </p:txBody>
      </p:sp>
      <p:sp>
        <p:nvSpPr>
          <p:cNvPr id="7" name="TextBox 6"/>
          <p:cNvSpPr txBox="1"/>
          <p:nvPr/>
        </p:nvSpPr>
        <p:spPr>
          <a:xfrm>
            <a:off x="822959" y="2240280"/>
            <a:ext cx="3017520" cy="32004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Demand level 1 means 50%</a:t>
            </a:r>
          </a:p>
        </p:txBody>
      </p:sp>
      <p:sp>
        <p:nvSpPr>
          <p:cNvPr id="8" name="Rectangle 7"/>
          <p:cNvSpPr/>
          <p:nvPr/>
        </p:nvSpPr>
        <p:spPr>
          <a:xfrm>
            <a:off x="822959" y="2971800"/>
            <a:ext cx="2560320"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59" y="297180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55848" y="297180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24328"/>
            <a:ext cx="2560320"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MSRP €100</a:t>
            </a:r>
          </a:p>
        </p:txBody>
      </p:sp>
      <p:sp>
        <p:nvSpPr>
          <p:cNvPr id="12" name="Rectangle 11"/>
          <p:cNvSpPr/>
          <p:nvPr/>
        </p:nvSpPr>
        <p:spPr>
          <a:xfrm>
            <a:off x="822959" y="3154680"/>
            <a:ext cx="1280160"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€50</a:t>
            </a:r>
          </a:p>
        </p:txBody>
      </p:sp>
      <p:sp>
        <p:nvSpPr>
          <p:cNvPr id="13" name="Rectangle 12"/>
          <p:cNvSpPr/>
          <p:nvPr/>
        </p:nvSpPr>
        <p:spPr>
          <a:xfrm>
            <a:off x="2103120" y="3154680"/>
            <a:ext cx="1280160" cy="5029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Discount</a:t>
            </a:r>
          </a:p>
          <a:p>
            <a:pPr algn="ctr">
              <a:spcAft>
                <a:spcPts val="0"/>
              </a:spcAft>
            </a:pPr>
            <a:r>
              <a:rPr sz="1100" b="1" i="0">
                <a:solidFill>
                  <a:srgbClr val="14171C"/>
                </a:solidFill>
                <a:latin typeface="Kaspersky Sans Display"/>
              </a:rPr>
              <a:t>€50</a:t>
            </a:r>
          </a:p>
        </p:txBody>
      </p:sp>
      <p:sp>
        <p:nvSpPr>
          <p:cNvPr id="14" name="TextBox 13"/>
          <p:cNvSpPr txBox="1"/>
          <p:nvPr/>
        </p:nvSpPr>
        <p:spPr>
          <a:xfrm>
            <a:off x="822959" y="3813048"/>
            <a:ext cx="3017520" cy="41148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Discount: </a:t>
            </a:r>
            <a:r>
              <a:rPr sz="1600" b="1" i="0">
                <a:solidFill>
                  <a:srgbClr val="EC7A3C"/>
                </a:solidFill>
                <a:latin typeface="Kaspersky Sans Display"/>
              </a:rPr>
              <a:t>50% = €50</a:t>
            </a:r>
          </a:p>
        </p:txBody>
      </p:sp>
      <p:sp>
        <p:nvSpPr>
          <p:cNvPr id="15" name="Rounded Rectangle 14"/>
          <p:cNvSpPr/>
          <p:nvPr/>
        </p:nvSpPr>
        <p:spPr>
          <a:xfrm>
            <a:off x="4297679" y="1600200"/>
            <a:ext cx="3566160" cy="27889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1999" y="1783080"/>
            <a:ext cx="1645920" cy="365760"/>
          </a:xfrm>
          <a:prstGeom prst="rect">
            <a:avLst/>
          </a:prstGeom>
          <a:noFill/>
        </p:spPr>
        <p:txBody>
          <a:bodyPr wrap="square" anchor="t" lIns="0" rIns="0" tIns="0" bIns="0">
            <a:spAutoFit/>
          </a:bodyPr>
          <a:lstStyle/>
          <a:p>
            <a:pPr algn="l">
              <a:spcAft>
                <a:spcPts val="600"/>
              </a:spcAft>
            </a:pPr>
            <a:r>
              <a:rPr sz="1700" b="1" i="0">
                <a:solidFill>
                  <a:srgbClr val="1F2937"/>
                </a:solidFill>
                <a:latin typeface="Kaspersky Sans Display"/>
              </a:rPr>
              <a:t>March</a:t>
            </a:r>
          </a:p>
        </p:txBody>
      </p:sp>
      <p:sp>
        <p:nvSpPr>
          <p:cNvPr id="17" name="Rounded Rectangle 16"/>
          <p:cNvSpPr/>
          <p:nvPr/>
        </p:nvSpPr>
        <p:spPr>
          <a:xfrm>
            <a:off x="6172200" y="1801368"/>
            <a:ext cx="1417320" cy="347472"/>
          </a:xfrm>
          <a:prstGeom prst="roundRect">
            <a:avLst>
              <a:gd name="adj" fmla="val 12000"/>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Demand level 1</a:t>
            </a:r>
          </a:p>
        </p:txBody>
      </p:sp>
      <p:sp>
        <p:nvSpPr>
          <p:cNvPr id="18" name="TextBox 17"/>
          <p:cNvSpPr txBox="1"/>
          <p:nvPr/>
        </p:nvSpPr>
        <p:spPr>
          <a:xfrm>
            <a:off x="4571999" y="2240280"/>
            <a:ext cx="3017520" cy="32004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E-commerce moves DL 1 to 60%</a:t>
            </a:r>
          </a:p>
        </p:txBody>
      </p:sp>
      <p:sp>
        <p:nvSpPr>
          <p:cNvPr id="19" name="Rectangle 18"/>
          <p:cNvSpPr/>
          <p:nvPr/>
        </p:nvSpPr>
        <p:spPr>
          <a:xfrm>
            <a:off x="4571999" y="2971800"/>
            <a:ext cx="2560320"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1999" y="297180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04887" y="297180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1999" y="2624328"/>
            <a:ext cx="2560320"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MSRP €100</a:t>
            </a:r>
          </a:p>
        </p:txBody>
      </p:sp>
      <p:sp>
        <p:nvSpPr>
          <p:cNvPr id="23" name="Rectangle 22"/>
          <p:cNvSpPr/>
          <p:nvPr/>
        </p:nvSpPr>
        <p:spPr>
          <a:xfrm>
            <a:off x="4571999" y="3154680"/>
            <a:ext cx="1024128"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€40</a:t>
            </a:r>
          </a:p>
        </p:txBody>
      </p:sp>
      <p:sp>
        <p:nvSpPr>
          <p:cNvPr id="24" name="Rectangle 23"/>
          <p:cNvSpPr/>
          <p:nvPr/>
        </p:nvSpPr>
        <p:spPr>
          <a:xfrm>
            <a:off x="5596127" y="3154680"/>
            <a:ext cx="1536192" cy="5029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Discount</a:t>
            </a:r>
          </a:p>
          <a:p>
            <a:pPr algn="ctr">
              <a:spcAft>
                <a:spcPts val="0"/>
              </a:spcAft>
            </a:pPr>
            <a:r>
              <a:rPr sz="1100" b="1" i="0">
                <a:solidFill>
                  <a:srgbClr val="14171C"/>
                </a:solidFill>
                <a:latin typeface="Kaspersky Sans Display"/>
              </a:rPr>
              <a:t>€60</a:t>
            </a:r>
          </a:p>
        </p:txBody>
      </p:sp>
      <p:sp>
        <p:nvSpPr>
          <p:cNvPr id="25" name="TextBox 24"/>
          <p:cNvSpPr txBox="1"/>
          <p:nvPr/>
        </p:nvSpPr>
        <p:spPr>
          <a:xfrm>
            <a:off x="4571999" y="3813048"/>
            <a:ext cx="3017520" cy="41148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Discount: </a:t>
            </a:r>
            <a:r>
              <a:rPr sz="1600" b="1" i="0">
                <a:solidFill>
                  <a:srgbClr val="EC7A3C"/>
                </a:solidFill>
                <a:latin typeface="Kaspersky Sans Display"/>
              </a:rPr>
              <a:t>60% = €60</a:t>
            </a:r>
          </a:p>
        </p:txBody>
      </p:sp>
      <p:sp>
        <p:nvSpPr>
          <p:cNvPr id="26" name="Rounded Rectangle 25"/>
          <p:cNvSpPr/>
          <p:nvPr/>
        </p:nvSpPr>
        <p:spPr>
          <a:xfrm>
            <a:off x="8046719" y="1600200"/>
            <a:ext cx="3566160" cy="27889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1783080"/>
            <a:ext cx="1645920" cy="365760"/>
          </a:xfrm>
          <a:prstGeom prst="rect">
            <a:avLst/>
          </a:prstGeom>
          <a:noFill/>
        </p:spPr>
        <p:txBody>
          <a:bodyPr wrap="square" anchor="t" lIns="0" rIns="0" tIns="0" bIns="0">
            <a:spAutoFit/>
          </a:bodyPr>
          <a:lstStyle/>
          <a:p>
            <a:pPr algn="l">
              <a:spcAft>
                <a:spcPts val="600"/>
              </a:spcAft>
            </a:pPr>
            <a:r>
              <a:rPr sz="1700" b="1" i="0">
                <a:solidFill>
                  <a:srgbClr val="1F2937"/>
                </a:solidFill>
                <a:latin typeface="Kaspersky Sans Display"/>
              </a:rPr>
              <a:t>June</a:t>
            </a:r>
          </a:p>
        </p:txBody>
      </p:sp>
      <p:sp>
        <p:nvSpPr>
          <p:cNvPr id="28" name="Rounded Rectangle 27"/>
          <p:cNvSpPr/>
          <p:nvPr/>
        </p:nvSpPr>
        <p:spPr>
          <a:xfrm>
            <a:off x="9921240" y="1801368"/>
            <a:ext cx="1417320" cy="347472"/>
          </a:xfrm>
          <a:prstGeom prst="roundRect">
            <a:avLst>
              <a:gd name="adj" fmla="val 12000"/>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Demand level 1</a:t>
            </a:r>
          </a:p>
        </p:txBody>
      </p:sp>
      <p:sp>
        <p:nvSpPr>
          <p:cNvPr id="29" name="TextBox 28"/>
          <p:cNvSpPr txBox="1"/>
          <p:nvPr/>
        </p:nvSpPr>
        <p:spPr>
          <a:xfrm>
            <a:off x="8321040" y="2240280"/>
            <a:ext cx="3017520" cy="32004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Price increase, DL 1 back to 50%</a:t>
            </a:r>
          </a:p>
        </p:txBody>
      </p:sp>
      <p:sp>
        <p:nvSpPr>
          <p:cNvPr id="30" name="Rectangle 29"/>
          <p:cNvSpPr/>
          <p:nvPr/>
        </p:nvSpPr>
        <p:spPr>
          <a:xfrm>
            <a:off x="8321040" y="2971800"/>
            <a:ext cx="2816352"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297180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109960" y="297180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2624328"/>
            <a:ext cx="2816352"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MSRP €110</a:t>
            </a:r>
          </a:p>
        </p:txBody>
      </p:sp>
      <p:sp>
        <p:nvSpPr>
          <p:cNvPr id="34" name="Rectangle 33"/>
          <p:cNvSpPr/>
          <p:nvPr/>
        </p:nvSpPr>
        <p:spPr>
          <a:xfrm>
            <a:off x="8321040" y="3154680"/>
            <a:ext cx="1408176" cy="50292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Paid</a:t>
            </a:r>
          </a:p>
          <a:p>
            <a:pPr algn="ctr">
              <a:spcAft>
                <a:spcPts val="0"/>
              </a:spcAft>
            </a:pPr>
            <a:r>
              <a:rPr sz="1100" b="1" i="0">
                <a:solidFill>
                  <a:srgbClr val="14171C"/>
                </a:solidFill>
                <a:latin typeface="Kaspersky Sans Display"/>
              </a:rPr>
              <a:t>€55</a:t>
            </a:r>
          </a:p>
        </p:txBody>
      </p:sp>
      <p:sp>
        <p:nvSpPr>
          <p:cNvPr id="35" name="Rectangle 34"/>
          <p:cNvSpPr/>
          <p:nvPr/>
        </p:nvSpPr>
        <p:spPr>
          <a:xfrm>
            <a:off x="9729216" y="3154680"/>
            <a:ext cx="1408176" cy="50292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171C"/>
                </a:solidFill>
                <a:latin typeface="Kaspersky Sans Display"/>
              </a:rPr>
              <a:t>Discount</a:t>
            </a:r>
          </a:p>
          <a:p>
            <a:pPr algn="ctr">
              <a:spcAft>
                <a:spcPts val="0"/>
              </a:spcAft>
            </a:pPr>
            <a:r>
              <a:rPr sz="1100" b="1" i="0">
                <a:solidFill>
                  <a:srgbClr val="14171C"/>
                </a:solidFill>
                <a:latin typeface="Kaspersky Sans Display"/>
              </a:rPr>
              <a:t>€55</a:t>
            </a:r>
          </a:p>
        </p:txBody>
      </p:sp>
      <p:sp>
        <p:nvSpPr>
          <p:cNvPr id="36" name="TextBox 35"/>
          <p:cNvSpPr txBox="1"/>
          <p:nvPr/>
        </p:nvSpPr>
        <p:spPr>
          <a:xfrm>
            <a:off x="8321040" y="3813048"/>
            <a:ext cx="3017520" cy="41148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Discount: </a:t>
            </a:r>
            <a:r>
              <a:rPr sz="1600" b="1" i="0">
                <a:solidFill>
                  <a:srgbClr val="EC7A3C"/>
                </a:solidFill>
                <a:latin typeface="Kaspersky Sans Display"/>
              </a:rPr>
              <a:t>50% = €55</a:t>
            </a:r>
          </a:p>
        </p:txBody>
      </p:sp>
      <p:sp>
        <p:nvSpPr>
          <p:cNvPr id="37" name="TextBox 36"/>
          <p:cNvSpPr txBox="1"/>
          <p:nvPr/>
        </p:nvSpPr>
        <p:spPr>
          <a:xfrm>
            <a:off x="548640" y="4572000"/>
            <a:ext cx="11094415" cy="914400"/>
          </a:xfrm>
          <a:prstGeom prst="rect">
            <a:avLst/>
          </a:prstGeom>
          <a:noFill/>
        </p:spPr>
        <p:txBody>
          <a:bodyPr wrap="square" anchor="t" lIns="0" rIns="0" tIns="0" bIns="0">
            <a:spAutoFit/>
          </a:bodyPr>
          <a:lstStyle/>
          <a:p>
            <a:pPr algn="l">
              <a:spcAft>
                <a:spcPts val="600"/>
              </a:spcAft>
            </a:pPr>
            <a:r>
              <a:rPr sz="1600" b="0" i="0">
                <a:solidFill>
                  <a:srgbClr val="1F2937"/>
                </a:solidFill>
                <a:latin typeface="Kaspersky Sans Display"/>
              </a:rPr>
              <a:t>The same happens with price ladder steps, Stay Subscribed and Winback offers: </a:t>
            </a:r>
            <a:r>
              <a:rPr sz="1600" b="1" i="0">
                <a:solidFill>
                  <a:srgbClr val="1F2937"/>
                </a:solidFill>
                <a:latin typeface="Kaspersky Sans Display"/>
              </a:rPr>
              <a:t>sometimes 40%, sometimes 30%.</a:t>
            </a:r>
          </a:p>
          <a:p>
            <a:pPr algn="l">
              <a:spcAft>
                <a:spcPts val="600"/>
              </a:spcAft>
            </a:pPr>
            <a:r>
              <a:rPr sz="1600" b="1" i="0">
                <a:solidFill>
                  <a:srgbClr val="D42A4F"/>
                </a:solidFill>
                <a:latin typeface="Kaspersky Sans Display"/>
              </a:rPr>
              <a:t>There is no dictionary from a configuration to a discount. </a:t>
            </a:r>
            <a:r>
              <a:rPr sz="1600" b="0" i="0">
                <a:solidFill>
                  <a:srgbClr val="5B6472"/>
                </a:solidFill>
                <a:latin typeface="Kaspersky Sans Display"/>
              </a:rPr>
              <a:t>Keep the configuration as context; it does not replace the amount.</a:t>
            </a:r>
          </a:p>
        </p:txBody>
      </p:sp>
      <p:sp>
        <p:nvSpPr>
          <p:cNvPr id="38" name="Rounded Rectangle 37"/>
          <p:cNvSpPr/>
          <p:nvPr/>
        </p:nvSpPr>
        <p:spPr>
          <a:xfrm>
            <a:off x="548640" y="5577840"/>
            <a:ext cx="11094415" cy="82296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700" b="1" i="0">
                <a:solidFill>
                  <a:srgbClr val="FFFFFF"/>
                </a:solidFill>
                <a:latin typeface="Kaspersky Sans Display"/>
              </a:rPr>
              <a:t>At transaction time: </a:t>
            </a:r>
            <a:r>
              <a:rPr sz="1700" b="1" i="0">
                <a:solidFill>
                  <a:srgbClr val="E5B400"/>
                </a:solidFill>
                <a:latin typeface="Kaspersky Sans Display"/>
              </a:rPr>
              <a:t>effective discount = valid MSRP − customer amount</a:t>
            </a:r>
          </a:p>
          <a:p>
            <a:pPr algn="ctr">
              <a:spcAft>
                <a:spcPts val="200"/>
              </a:spcAft>
            </a:pPr>
            <a:r>
              <a:rPr sz="1300" b="0" i="0">
                <a:solidFill>
                  <a:srgbClr val="B8C2D0"/>
                </a:solidFill>
                <a:latin typeface="Kaspersky Sans Display"/>
              </a:rPr>
              <a:t>Later, the configuration and the MSRP may have changed, and we lose the trace to validate the whole.</a:t>
            </a:r>
          </a:p>
        </p:txBody>
      </p:sp>
      <p:sp>
        <p:nvSpPr>
          <p:cNvPr id="39" name="TextBox 38"/>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10</a:t>
            </a:r>
          </a:p>
        </p:txBody>
      </p:sp>
      <p:sp>
        <p:nvSpPr>
          <p:cNvPr id="40" name="Rounded Rectangle 39"/>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The non-negotiable rule</a:t>
            </a:r>
          </a:p>
        </p:txBody>
      </p:sp>
      <p:sp>
        <p:nvSpPr>
          <p:cNvPr id="3" name="Rounded Rectangle 2"/>
          <p:cNvSpPr/>
          <p:nvPr/>
        </p:nvSpPr>
        <p:spPr>
          <a:xfrm>
            <a:off x="548640" y="1463040"/>
            <a:ext cx="11094415" cy="91440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2200" b="0" i="0">
                <a:solidFill>
                  <a:srgbClr val="FFFFFF"/>
                </a:solidFill>
                <a:latin typeface="Kaspersky Sans Display"/>
              </a:rPr>
              <a:t>The discount is always relative to the </a:t>
            </a:r>
            <a:r>
              <a:rPr sz="2200" b="1" i="0">
                <a:solidFill>
                  <a:srgbClr val="E5B400"/>
                </a:solidFill>
                <a:latin typeface="Kaspersky Sans Display"/>
              </a:rPr>
              <a:t>full valid MSRP</a:t>
            </a:r>
            <a:r>
              <a:rPr sz="2200" b="0" i="0">
                <a:solidFill>
                  <a:srgbClr val="FFFFFF"/>
                </a:solidFill>
                <a:latin typeface="Kaspersky Sans Display"/>
              </a:rPr>
              <a:t> at the time of the transaction</a:t>
            </a:r>
          </a:p>
        </p:txBody>
      </p:sp>
      <p:sp>
        <p:nvSpPr>
          <p:cNvPr id="4" name="Rectangle 3"/>
          <p:cNvSpPr/>
          <p:nvPr/>
        </p:nvSpPr>
        <p:spPr>
          <a:xfrm>
            <a:off x="548640" y="3154680"/>
            <a:ext cx="6400800"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315468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22008" y="315468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807208"/>
            <a:ext cx="6400800"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Valid MSRP: €100</a:t>
            </a:r>
          </a:p>
        </p:txBody>
      </p:sp>
      <p:sp>
        <p:nvSpPr>
          <p:cNvPr id="8" name="Rectangle 7"/>
          <p:cNvSpPr/>
          <p:nvPr/>
        </p:nvSpPr>
        <p:spPr>
          <a:xfrm>
            <a:off x="548640" y="3337560"/>
            <a:ext cx="4480560" cy="77724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14171C"/>
                </a:solidFill>
                <a:latin typeface="Kaspersky Sans Display"/>
              </a:rPr>
              <a:t>Paid</a:t>
            </a:r>
          </a:p>
          <a:p>
            <a:pPr algn="ctr">
              <a:spcAft>
                <a:spcPts val="0"/>
              </a:spcAft>
            </a:pPr>
            <a:r>
              <a:rPr sz="1400" b="1" i="0">
                <a:solidFill>
                  <a:srgbClr val="14171C"/>
                </a:solidFill>
                <a:latin typeface="Kaspersky Sans Display"/>
              </a:rPr>
              <a:t>€70</a:t>
            </a:r>
          </a:p>
        </p:txBody>
      </p:sp>
      <p:sp>
        <p:nvSpPr>
          <p:cNvPr id="9" name="Rectangle 8"/>
          <p:cNvSpPr/>
          <p:nvPr/>
        </p:nvSpPr>
        <p:spPr>
          <a:xfrm>
            <a:off x="5029200" y="3337560"/>
            <a:ext cx="1920240" cy="77724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400" b="1" i="0">
                <a:solidFill>
                  <a:srgbClr val="14171C"/>
                </a:solidFill>
                <a:latin typeface="Kaspersky Sans Display"/>
              </a:rPr>
              <a:t>Discount</a:t>
            </a:r>
          </a:p>
          <a:p>
            <a:pPr algn="ctr">
              <a:spcAft>
                <a:spcPts val="0"/>
              </a:spcAft>
            </a:pPr>
            <a:r>
              <a:rPr sz="1400" b="1" i="0">
                <a:solidFill>
                  <a:srgbClr val="14171C"/>
                </a:solidFill>
                <a:latin typeface="Kaspersky Sans Display"/>
              </a:rPr>
              <a:t>€30</a:t>
            </a:r>
          </a:p>
        </p:txBody>
      </p:sp>
      <p:sp>
        <p:nvSpPr>
          <p:cNvPr id="10" name="TextBox 9"/>
          <p:cNvSpPr txBox="1"/>
          <p:nvPr/>
        </p:nvSpPr>
        <p:spPr>
          <a:xfrm>
            <a:off x="548640" y="4343400"/>
            <a:ext cx="6400800" cy="1097280"/>
          </a:xfrm>
          <a:prstGeom prst="rect">
            <a:avLst/>
          </a:prstGeom>
          <a:noFill/>
        </p:spPr>
        <p:txBody>
          <a:bodyPr wrap="square" anchor="t" lIns="0" rIns="0" tIns="0" bIns="0">
            <a:spAutoFit/>
          </a:bodyPr>
          <a:lstStyle/>
          <a:p>
            <a:pPr algn="l">
              <a:spcAft>
                <a:spcPts val="400"/>
              </a:spcAft>
            </a:pPr>
            <a:r>
              <a:rPr sz="2200" b="1" i="0">
                <a:solidFill>
                  <a:srgbClr val="149A7A"/>
                </a:solidFill>
                <a:latin typeface="Kaspersky Sans Display"/>
              </a:rPr>
              <a:t>30 + 70 = 100   ✓</a:t>
            </a:r>
          </a:p>
          <a:p>
            <a:pPr algn="l">
              <a:spcAft>
                <a:spcPts val="400"/>
              </a:spcAft>
            </a:pPr>
            <a:r>
              <a:rPr sz="1800" b="0" i="0">
                <a:solidFill>
                  <a:srgbClr val="1F2937"/>
                </a:solidFill>
                <a:latin typeface="Kaspersky Sans Display"/>
              </a:rPr>
              <a:t>30 / 100 = 30% discount</a:t>
            </a:r>
          </a:p>
        </p:txBody>
      </p:sp>
      <p:sp>
        <p:nvSpPr>
          <p:cNvPr id="11" name="TextBox 10"/>
          <p:cNvSpPr txBox="1"/>
          <p:nvPr/>
        </p:nvSpPr>
        <p:spPr>
          <a:xfrm>
            <a:off x="7589520" y="2788920"/>
            <a:ext cx="4023360" cy="777240"/>
          </a:xfrm>
          <a:prstGeom prst="rect">
            <a:avLst/>
          </a:prstGeom>
          <a:noFill/>
        </p:spPr>
        <p:txBody>
          <a:bodyPr wrap="square" anchor="t" lIns="0" rIns="0" tIns="0" bIns="0">
            <a:spAutoFit/>
          </a:bodyPr>
          <a:lstStyle/>
          <a:p>
            <a:pPr algn="l">
              <a:spcAft>
                <a:spcPts val="200"/>
              </a:spcAft>
            </a:pPr>
            <a:r>
              <a:rPr sz="1600" b="1" i="0">
                <a:solidFill>
                  <a:srgbClr val="1F2937"/>
                </a:solidFill>
                <a:latin typeface="Kaspersky Sans Display"/>
              </a:rPr>
              <a:t>Amounts reconcile</a:t>
            </a:r>
          </a:p>
          <a:p>
            <a:pPr algn="l">
              <a:spcAft>
                <a:spcPts val="200"/>
              </a:spcAft>
            </a:pPr>
            <a:r>
              <a:rPr sz="1500" b="0" i="0">
                <a:solidFill>
                  <a:srgbClr val="5B6472"/>
                </a:solidFill>
                <a:latin typeface="Kaspersky Sans Display"/>
              </a:rPr>
              <a:t>discount + paid = valid MSRP</a:t>
            </a:r>
          </a:p>
        </p:txBody>
      </p:sp>
      <p:sp>
        <p:nvSpPr>
          <p:cNvPr id="12" name="TextBox 11"/>
          <p:cNvSpPr txBox="1"/>
          <p:nvPr/>
        </p:nvSpPr>
        <p:spPr>
          <a:xfrm>
            <a:off x="7589520" y="3657600"/>
            <a:ext cx="4023360" cy="777240"/>
          </a:xfrm>
          <a:prstGeom prst="rect">
            <a:avLst/>
          </a:prstGeom>
          <a:noFill/>
        </p:spPr>
        <p:txBody>
          <a:bodyPr wrap="square" anchor="t" lIns="0" rIns="0" tIns="0" bIns="0">
            <a:spAutoFit/>
          </a:bodyPr>
          <a:lstStyle/>
          <a:p>
            <a:pPr algn="l">
              <a:spcAft>
                <a:spcPts val="200"/>
              </a:spcAft>
            </a:pPr>
            <a:r>
              <a:rPr sz="1600" b="1" i="0">
                <a:solidFill>
                  <a:srgbClr val="1F2937"/>
                </a:solidFill>
                <a:latin typeface="Kaspersky Sans Display"/>
              </a:rPr>
              <a:t>Relative discount</a:t>
            </a:r>
          </a:p>
          <a:p>
            <a:pPr algn="l">
              <a:spcAft>
                <a:spcPts val="200"/>
              </a:spcAft>
            </a:pPr>
            <a:r>
              <a:rPr sz="1500" b="0" i="0">
                <a:solidFill>
                  <a:srgbClr val="5B6472"/>
                </a:solidFill>
                <a:latin typeface="Kaspersky Sans Display"/>
              </a:rPr>
              <a:t>discount % = discount / valid MSRP</a:t>
            </a:r>
          </a:p>
        </p:txBody>
      </p:sp>
      <p:sp>
        <p:nvSpPr>
          <p:cNvPr id="13" name="TextBox 12"/>
          <p:cNvSpPr txBox="1"/>
          <p:nvPr/>
        </p:nvSpPr>
        <p:spPr>
          <a:xfrm>
            <a:off x="7589520" y="4526279"/>
            <a:ext cx="4023360" cy="777240"/>
          </a:xfrm>
          <a:prstGeom prst="rect">
            <a:avLst/>
          </a:prstGeom>
          <a:noFill/>
        </p:spPr>
        <p:txBody>
          <a:bodyPr wrap="square" anchor="t" lIns="0" rIns="0" tIns="0" bIns="0">
            <a:spAutoFit/>
          </a:bodyPr>
          <a:lstStyle/>
          <a:p>
            <a:pPr algn="l">
              <a:spcAft>
                <a:spcPts val="200"/>
              </a:spcAft>
            </a:pPr>
            <a:r>
              <a:rPr sz="1600" b="1" i="0">
                <a:solidFill>
                  <a:srgbClr val="1F2937"/>
                </a:solidFill>
                <a:latin typeface="Kaspersky Sans Display"/>
              </a:rPr>
              <a:t>Same tax basis</a:t>
            </a:r>
          </a:p>
          <a:p>
            <a:pPr algn="l">
              <a:spcAft>
                <a:spcPts val="200"/>
              </a:spcAft>
            </a:pPr>
            <a:r>
              <a:rPr sz="1500" b="0" i="0">
                <a:solidFill>
                  <a:srgbClr val="5B6472"/>
                </a:solidFill>
                <a:latin typeface="Kaspersky Sans Display"/>
              </a:rPr>
              <a:t>everything tax-inclusive or everything tax-exclusive</a:t>
            </a:r>
          </a:p>
        </p:txBody>
      </p:sp>
      <p:sp>
        <p:nvSpPr>
          <p:cNvPr id="14" name="TextBox 13"/>
          <p:cNvSpPr txBox="1"/>
          <p:nvPr/>
        </p:nvSpPr>
        <p:spPr>
          <a:xfrm>
            <a:off x="548640" y="5440680"/>
            <a:ext cx="11094415" cy="411480"/>
          </a:xfrm>
          <a:prstGeom prst="rect">
            <a:avLst/>
          </a:prstGeom>
          <a:noFill/>
        </p:spPr>
        <p:txBody>
          <a:bodyPr wrap="square" anchor="t" lIns="0" rIns="0" tIns="0" bIns="0">
            <a:spAutoFit/>
          </a:bodyPr>
          <a:lstStyle/>
          <a:p>
            <a:pPr algn="l">
              <a:spcAft>
                <a:spcPts val="600"/>
              </a:spcAft>
            </a:pPr>
            <a:r>
              <a:rPr sz="2000" b="1" i="0">
                <a:solidFill>
                  <a:srgbClr val="D42A4F"/>
                </a:solidFill>
                <a:latin typeface="Kaspersky Sans Display"/>
              </a:rPr>
              <a:t>If the sum does not reconcile, the record is wrong.</a:t>
            </a:r>
          </a:p>
        </p:txBody>
      </p:sp>
      <p:sp>
        <p:nvSpPr>
          <p:cNvPr id="15" name="TextBox 14"/>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11</a:t>
            </a:r>
          </a:p>
        </p:txBody>
      </p:sp>
      <p:sp>
        <p:nvSpPr>
          <p:cNvPr id="16" name="Rounded Rectangle 15"/>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What we want for each transaction</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New columns with a guaranteed meaning (provisional names)</a:t>
            </a:r>
          </a:p>
        </p:txBody>
      </p:sp>
      <p:graphicFrame>
        <p:nvGraphicFramePr>
          <p:cNvPr id="4" name="Table 3"/>
          <p:cNvGraphicFramePr>
            <a:graphicFrameLocks noGrp="1"/>
          </p:cNvGraphicFramePr>
          <p:nvPr/>
        </p:nvGraphicFramePr>
        <p:xfrm>
          <a:off x="548640" y="1600200"/>
          <a:ext cx="11091672" cy="3931920"/>
        </p:xfrm>
        <a:graphic>
          <a:graphicData uri="http://schemas.openxmlformats.org/drawingml/2006/table">
            <a:tbl>
              <a:tblPr firstRow="1" bandRow="1">
                <a:tableStyleId>{5C22544A-7EE6-4342-B048-85BDC9FD1C3A}</a:tableStyleId>
              </a:tblPr>
              <a:tblGrid>
                <a:gridCol w="3017520"/>
                <a:gridCol w="4663440"/>
                <a:gridCol w="3410712"/>
              </a:tblGrid>
              <a:tr h="393192">
                <a:tc>
                  <a:txBody>
                    <a:bodyPr wrap="square" anchor="ctr" lIns="0" rIns="0" tIns="0" bIns="0"/>
                    <a:lstStyle/>
                    <a:p>
                      <a:pPr algn="l">
                        <a:spcAft>
                          <a:spcPts val="0"/>
                        </a:spcAft>
                      </a:pPr>
                      <a:r>
                        <a:rPr sz="1200" b="1" i="0">
                          <a:solidFill>
                            <a:srgbClr val="FFFFFF"/>
                          </a:solidFill>
                          <a:latin typeface="Kaspersky Sans Display"/>
                        </a:rPr>
                        <a:t>Column</a:t>
                      </a:r>
                    </a:p>
                  </a:txBody>
                  <a:tcPr marL="109728" marR="73152" anchor="ctr">
                    <a:solidFill>
                      <a:srgbClr val="14171C"/>
                    </a:solidFill>
                  </a:tcPr>
                </a:tc>
                <a:tc>
                  <a:txBody>
                    <a:bodyPr wrap="square" anchor="ctr" lIns="0" rIns="0" tIns="0" bIns="0"/>
                    <a:lstStyle/>
                    <a:p>
                      <a:pPr algn="l">
                        <a:spcAft>
                          <a:spcPts val="0"/>
                        </a:spcAft>
                      </a:pPr>
                      <a:r>
                        <a:rPr sz="1200" b="1" i="0">
                          <a:solidFill>
                            <a:srgbClr val="FFFFFF"/>
                          </a:solidFill>
                          <a:latin typeface="Kaspersky Sans Display"/>
                        </a:rPr>
                        <a:t>Meaning</a:t>
                      </a:r>
                    </a:p>
                  </a:txBody>
                  <a:tcPr marL="109728" marR="73152" anchor="ctr">
                    <a:solidFill>
                      <a:srgbClr val="14171C"/>
                    </a:solidFill>
                  </a:tcPr>
                </a:tc>
                <a:tc>
                  <a:txBody>
                    <a:bodyPr wrap="square" anchor="ctr" lIns="0" rIns="0" tIns="0" bIns="0"/>
                    <a:lstStyle/>
                    <a:p>
                      <a:pPr algn="l">
                        <a:spcAft>
                          <a:spcPts val="0"/>
                        </a:spcAft>
                      </a:pPr>
                      <a:r>
                        <a:rPr sz="1200" b="1" i="0">
                          <a:solidFill>
                            <a:srgbClr val="FFFFFF"/>
                          </a:solidFill>
                          <a:latin typeface="Kaspersky Sans Display"/>
                        </a:rPr>
                        <a:t>Rule</a:t>
                      </a:r>
                    </a:p>
                  </a:txBody>
                  <a:tcPr marL="109728" marR="73152" anchor="ctr">
                    <a:solidFill>
                      <a:srgbClr val="14171C"/>
                    </a:solidFill>
                  </a:tcPr>
                </a:tc>
              </a:tr>
              <a:tr h="393192">
                <a:tc>
                  <a:txBody>
                    <a:bodyPr wrap="square" anchor="ctr" lIns="0" rIns="0" tIns="0" bIns="0"/>
                    <a:lstStyle/>
                    <a:p>
                      <a:pPr algn="l">
                        <a:spcAft>
                          <a:spcPts val="0"/>
                        </a:spcAft>
                      </a:pPr>
                      <a:r>
                        <a:rPr sz="1200" b="1" i="0">
                          <a:solidFill>
                            <a:srgbClr val="3D6FD9"/>
                          </a:solidFill>
                          <a:latin typeface="Kaspersky Sans Display"/>
                        </a:rPr>
                        <a:t>transaction_type</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Acquisition, renewal, Stay Subscribed, Winback…</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Defines which discounts are possible</a:t>
                      </a:r>
                    </a:p>
                  </a:txBody>
                  <a:tcPr marL="109728" marR="73152" anchor="ctr">
                    <a:solidFill>
                      <a:srgbClr val="FFFFFF"/>
                    </a:solidFill>
                  </a:tcPr>
                </a:tc>
              </a:tr>
              <a:tr h="393192">
                <a:tc>
                  <a:txBody>
                    <a:bodyPr wrap="square" anchor="ctr" lIns="0" rIns="0" tIns="0" bIns="0"/>
                    <a:lstStyle/>
                    <a:p>
                      <a:pPr algn="l">
                        <a:spcAft>
                          <a:spcPts val="0"/>
                        </a:spcAft>
                      </a:pPr>
                      <a:r>
                        <a:rPr sz="1200" b="1" i="0">
                          <a:solidFill>
                            <a:srgbClr val="3D6FD9"/>
                          </a:solidFill>
                          <a:latin typeface="Kaspersky Sans Display"/>
                        </a:rPr>
                        <a:t>msrp_at_transaction</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Full MSRP for product × region × currency, valid at transaction time</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Single reference for the discount</a:t>
                      </a:r>
                    </a:p>
                  </a:txBody>
                  <a:tcPr marL="109728" marR="73152" anchor="ctr">
                    <a:solidFill>
                      <a:srgbClr val="F1F3F6"/>
                    </a:solidFill>
                  </a:tcPr>
                </a:tc>
              </a:tr>
              <a:tr h="393192">
                <a:tc>
                  <a:txBody>
                    <a:bodyPr wrap="square" anchor="ctr" lIns="0" rIns="0" tIns="0" bIns="0"/>
                    <a:lstStyle/>
                    <a:p>
                      <a:pPr algn="l">
                        <a:spcAft>
                          <a:spcPts val="0"/>
                        </a:spcAft>
                      </a:pPr>
                      <a:r>
                        <a:rPr sz="1200" b="1" i="0">
                          <a:solidFill>
                            <a:srgbClr val="3D6FD9"/>
                          </a:solidFill>
                          <a:latin typeface="Kaspersky Sans Display"/>
                        </a:rPr>
                        <a:t>customer_amount</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What the customer pays in the transaction</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 due_to_kl + partner_fee + tax</a:t>
                      </a:r>
                    </a:p>
                  </a:txBody>
                  <a:tcPr marL="109728" marR="73152" anchor="ctr">
                    <a:solidFill>
                      <a:srgbClr val="FFFFFF"/>
                    </a:solidFill>
                  </a:tcPr>
                </a:tc>
              </a:tr>
              <a:tr h="393192">
                <a:tc>
                  <a:txBody>
                    <a:bodyPr wrap="square" anchor="ctr" lIns="0" rIns="0" tIns="0" bIns="0"/>
                    <a:lstStyle/>
                    <a:p>
                      <a:pPr algn="l">
                        <a:spcAft>
                          <a:spcPts val="0"/>
                        </a:spcAft>
                      </a:pPr>
                      <a:r>
                        <a:rPr sz="1200" b="1" i="0">
                          <a:solidFill>
                            <a:srgbClr val="3D6FD9"/>
                          </a:solidFill>
                          <a:latin typeface="Kaspersky Sans Display"/>
                        </a:rPr>
                        <a:t>tax_amount</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Taxes for the State</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 customer_amount without taxes × tax rate</a:t>
                      </a:r>
                    </a:p>
                  </a:txBody>
                  <a:tcPr marL="109728" marR="73152" anchor="ctr">
                    <a:solidFill>
                      <a:srgbClr val="F1F3F6"/>
                    </a:solidFill>
                  </a:tcPr>
                </a:tc>
              </a:tr>
              <a:tr h="393192">
                <a:tc>
                  <a:txBody>
                    <a:bodyPr wrap="square" anchor="ctr" lIns="0" rIns="0" tIns="0" bIns="0"/>
                    <a:lstStyle/>
                    <a:p>
                      <a:pPr algn="l">
                        <a:spcAft>
                          <a:spcPts val="0"/>
                        </a:spcAft>
                      </a:pPr>
                      <a:r>
                        <a:rPr sz="1200" b="1" i="0">
                          <a:solidFill>
                            <a:srgbClr val="3D6FD9"/>
                          </a:solidFill>
                          <a:latin typeface="Kaspersky Sans Display"/>
                        </a:rPr>
                        <a:t>partner_fee_amount</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Fee of the e-commerce provider</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 on customer_amount without taxes</a:t>
                      </a:r>
                    </a:p>
                  </a:txBody>
                  <a:tcPr marL="109728" marR="73152" anchor="ctr">
                    <a:solidFill>
                      <a:srgbClr val="FFFFFF"/>
                    </a:solidFill>
                  </a:tcPr>
                </a:tc>
              </a:tr>
              <a:tr h="393192">
                <a:tc>
                  <a:txBody>
                    <a:bodyPr wrap="square" anchor="ctr" lIns="0" rIns="0" tIns="0" bIns="0"/>
                    <a:lstStyle/>
                    <a:p>
                      <a:pPr algn="l">
                        <a:spcAft>
                          <a:spcPts val="0"/>
                        </a:spcAft>
                      </a:pPr>
                      <a:r>
                        <a:rPr sz="1200" b="1" i="0">
                          <a:solidFill>
                            <a:srgbClr val="3D6FD9"/>
                          </a:solidFill>
                          <a:latin typeface="Kaspersky Sans Display"/>
                        </a:rPr>
                        <a:t>due_to_kl_amount</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What we earn net</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 on customer_amount without taxes</a:t>
                      </a:r>
                    </a:p>
                  </a:txBody>
                  <a:tcPr marL="109728" marR="73152" anchor="ctr">
                    <a:solidFill>
                      <a:srgbClr val="F1F3F6"/>
                    </a:solidFill>
                  </a:tcPr>
                </a:tc>
              </a:tr>
              <a:tr h="393192">
                <a:tc>
                  <a:txBody>
                    <a:bodyPr wrap="square" anchor="ctr" lIns="0" rIns="0" tIns="0" bIns="0"/>
                    <a:lstStyle/>
                    <a:p>
                      <a:pPr algn="l">
                        <a:spcAft>
                          <a:spcPts val="0"/>
                        </a:spcAft>
                      </a:pPr>
                      <a:r>
                        <a:rPr sz="1200" b="1" i="0">
                          <a:solidFill>
                            <a:srgbClr val="3D6FD9"/>
                          </a:solidFill>
                          <a:latin typeface="Kaspersky Sans Display"/>
                        </a:rPr>
                        <a:t>discount_amount</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Total discount as an amount</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 msrp_at_transaction − customer_amount</a:t>
                      </a:r>
                    </a:p>
                  </a:txBody>
                  <a:tcPr marL="109728" marR="73152" anchor="ctr">
                    <a:solidFill>
                      <a:srgbClr val="FFFFFF"/>
                    </a:solidFill>
                  </a:tcPr>
                </a:tc>
              </a:tr>
              <a:tr h="393192">
                <a:tc>
                  <a:txBody>
                    <a:bodyPr wrap="square" anchor="ctr" lIns="0" rIns="0" tIns="0" bIns="0"/>
                    <a:lstStyle/>
                    <a:p>
                      <a:pPr algn="l">
                        <a:spcAft>
                          <a:spcPts val="0"/>
                        </a:spcAft>
                      </a:pPr>
                      <a:r>
                        <a:rPr sz="1200" b="1" i="0">
                          <a:solidFill>
                            <a:srgbClr val="3D6FD9"/>
                          </a:solidFill>
                          <a:latin typeface="Kaspersky Sans Display"/>
                        </a:rPr>
                        <a:t>discount_pct</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Total discount as a ratio</a:t>
                      </a:r>
                    </a:p>
                  </a:txBody>
                  <a:tcPr marL="109728" marR="73152" anchor="ctr">
                    <a:solidFill>
                      <a:srgbClr val="F1F3F6"/>
                    </a:solidFill>
                  </a:tcPr>
                </a:tc>
                <a:tc>
                  <a:txBody>
                    <a:bodyPr wrap="square" anchor="ctr" lIns="0" rIns="0" tIns="0" bIns="0"/>
                    <a:lstStyle/>
                    <a:p>
                      <a:pPr algn="l">
                        <a:spcAft>
                          <a:spcPts val="0"/>
                        </a:spcAft>
                      </a:pPr>
                      <a:r>
                        <a:rPr sz="1200" b="0" i="0">
                          <a:solidFill>
                            <a:srgbClr val="1F2937"/>
                          </a:solidFill>
                          <a:latin typeface="Kaspersky Sans Display"/>
                        </a:rPr>
                        <a:t>= discount_amount / msrp_at_transaction</a:t>
                      </a:r>
                    </a:p>
                  </a:txBody>
                  <a:tcPr marL="109728" marR="73152" anchor="ctr">
                    <a:solidFill>
                      <a:srgbClr val="F1F3F6"/>
                    </a:solidFill>
                  </a:tcPr>
                </a:tc>
              </a:tr>
              <a:tr h="393192">
                <a:tc>
                  <a:txBody>
                    <a:bodyPr wrap="square" anchor="ctr" lIns="0" rIns="0" tIns="0" bIns="0"/>
                    <a:lstStyle/>
                    <a:p>
                      <a:pPr algn="l">
                        <a:spcAft>
                          <a:spcPts val="0"/>
                        </a:spcAft>
                      </a:pPr>
                      <a:r>
                        <a:rPr sz="1200" b="1" i="0">
                          <a:solidFill>
                            <a:srgbClr val="3D6FD9"/>
                          </a:solidFill>
                          <a:latin typeface="Kaspersky Sans Display"/>
                        </a:rPr>
                        <a:t>discount_amount_&lt;component&gt;</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Breakdown: demand level, coupon, ladder, offers</a:t>
                      </a:r>
                    </a:p>
                  </a:txBody>
                  <a:tcPr marL="109728" marR="73152" anchor="ctr">
                    <a:solidFill>
                      <a:srgbClr val="FFFFFF"/>
                    </a:solidFill>
                  </a:tcPr>
                </a:tc>
                <a:tc>
                  <a:txBody>
                    <a:bodyPr wrap="square" anchor="ctr" lIns="0" rIns="0" tIns="0" bIns="0"/>
                    <a:lstStyle/>
                    <a:p>
                      <a:pPr algn="l">
                        <a:spcAft>
                          <a:spcPts val="0"/>
                        </a:spcAft>
                      </a:pPr>
                      <a:r>
                        <a:rPr sz="1200" b="0" i="0">
                          <a:solidFill>
                            <a:srgbClr val="1F2937"/>
                          </a:solidFill>
                          <a:latin typeface="Kaspersky Sans Display"/>
                        </a:rPr>
                        <a:t>Σ components = discount_amount</a:t>
                      </a:r>
                    </a:p>
                  </a:txBody>
                  <a:tcPr marL="109728" marR="73152" anchor="ctr">
                    <a:solidFill>
                      <a:srgbClr val="FFFFFF"/>
                    </a:solidFill>
                  </a:tcPr>
                </a:tc>
              </a:tr>
            </a:tbl>
          </a:graphicData>
        </a:graphic>
      </p:graphicFrame>
      <p:sp>
        <p:nvSpPr>
          <p:cNvPr id="5" name="TextBox 4"/>
          <p:cNvSpPr txBox="1"/>
          <p:nvPr/>
        </p:nvSpPr>
        <p:spPr>
          <a:xfrm>
            <a:off x="548640" y="5806440"/>
            <a:ext cx="11094415" cy="731520"/>
          </a:xfrm>
          <a:prstGeom prst="rect">
            <a:avLst/>
          </a:prstGeom>
          <a:noFill/>
        </p:spPr>
        <p:txBody>
          <a:bodyPr wrap="square" anchor="t" lIns="0" rIns="0" tIns="0" bIns="0">
            <a:spAutoFit/>
          </a:bodyPr>
          <a:lstStyle/>
          <a:p>
            <a:pPr algn="l">
              <a:spcAft>
                <a:spcPts val="300"/>
              </a:spcAft>
            </a:pPr>
            <a:r>
              <a:rPr sz="1400" b="1" i="0">
                <a:solidFill>
                  <a:srgbClr val="1F2937"/>
                </a:solidFill>
                <a:latin typeface="Kaspersky Sans Display"/>
              </a:rPr>
              <a:t>Every amount in two variants: </a:t>
            </a:r>
            <a:r>
              <a:rPr sz="1400" b="1" i="0">
                <a:solidFill>
                  <a:srgbClr val="3D6FD9"/>
                </a:solidFill>
                <a:latin typeface="Kaspersky Sans Display"/>
              </a:rPr>
              <a:t>_tax_incl and _tax_excl.</a:t>
            </a:r>
          </a:p>
          <a:p>
            <a:pPr algn="l">
              <a:spcAft>
                <a:spcPts val="300"/>
              </a:spcAft>
            </a:pPr>
            <a:r>
              <a:rPr sz="1400" b="0" i="0">
                <a:solidFill>
                  <a:srgbClr val="5B6472"/>
                </a:solidFill>
                <a:latin typeface="Kaspersky Sans Display"/>
              </a:rPr>
              <a:t>These are new columns: existing ones have similar names but do not guarantee this meaning.</a:t>
            </a:r>
          </a:p>
        </p:txBody>
      </p:sp>
      <p:sp>
        <p:nvSpPr>
          <p:cNvPr id="6" name="TextBox 5"/>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12</a:t>
            </a:r>
          </a:p>
        </p:txBody>
      </p:sp>
      <p:sp>
        <p:nvSpPr>
          <p:cNvPr id="7" name="Rounded Rectangle 6"/>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How we validate it</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Seven checks for every transaction, applied to the theoretical transaction</a:t>
            </a:r>
          </a:p>
        </p:txBody>
      </p:sp>
      <p:sp>
        <p:nvSpPr>
          <p:cNvPr id="4" name="Rounded Rectangle 3"/>
          <p:cNvSpPr/>
          <p:nvPr/>
        </p:nvSpPr>
        <p:spPr>
          <a:xfrm>
            <a:off x="548640" y="1600200"/>
            <a:ext cx="2636443" cy="2103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9808" y="1783080"/>
            <a:ext cx="502920" cy="50292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C0</a:t>
            </a:r>
          </a:p>
        </p:txBody>
      </p:sp>
      <p:sp>
        <p:nvSpPr>
          <p:cNvPr id="6" name="TextBox 5"/>
          <p:cNvSpPr txBox="1"/>
          <p:nvPr/>
        </p:nvSpPr>
        <p:spPr>
          <a:xfrm>
            <a:off x="1371600" y="1764792"/>
            <a:ext cx="1676323" cy="548640"/>
          </a:xfrm>
          <a:prstGeom prst="rect">
            <a:avLst/>
          </a:prstGeom>
          <a:noFill/>
        </p:spPr>
        <p:txBody>
          <a:bodyPr wrap="square" anchor="ctr" lIns="0" rIns="0" tIns="0" bIns="0">
            <a:spAutoFit/>
          </a:bodyPr>
          <a:lstStyle/>
          <a:p>
            <a:pPr algn="l">
              <a:spcAft>
                <a:spcPts val="600"/>
              </a:spcAft>
            </a:pPr>
            <a:r>
              <a:rPr sz="1500" b="1" i="0">
                <a:solidFill>
                  <a:srgbClr val="1F2937"/>
                </a:solidFill>
                <a:latin typeface="Kaspersky Sans Display"/>
              </a:rPr>
              <a:t>Amount breakdown</a:t>
            </a:r>
          </a:p>
        </p:txBody>
      </p:sp>
      <p:sp>
        <p:nvSpPr>
          <p:cNvPr id="7" name="TextBox 6"/>
          <p:cNvSpPr txBox="1"/>
          <p:nvPr/>
        </p:nvSpPr>
        <p:spPr>
          <a:xfrm>
            <a:off x="749808" y="2404872"/>
            <a:ext cx="2270683" cy="7772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due_to_kl_amount + partner_fee_amount + tax_amount = customer_amount</a:t>
            </a:r>
          </a:p>
        </p:txBody>
      </p:sp>
      <p:sp>
        <p:nvSpPr>
          <p:cNvPr id="8" name="TextBox 7"/>
          <p:cNvSpPr txBox="1"/>
          <p:nvPr/>
        </p:nvSpPr>
        <p:spPr>
          <a:xfrm>
            <a:off x="749808" y="3172968"/>
            <a:ext cx="2270683" cy="45720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18.66 + 1.51 + 3.83 = 24.00  ✓</a:t>
            </a:r>
          </a:p>
        </p:txBody>
      </p:sp>
      <p:sp>
        <p:nvSpPr>
          <p:cNvPr id="9" name="Rounded Rectangle 8"/>
          <p:cNvSpPr/>
          <p:nvPr/>
        </p:nvSpPr>
        <p:spPr>
          <a:xfrm>
            <a:off x="3367963" y="1600200"/>
            <a:ext cx="2636443" cy="2103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69131" y="1783080"/>
            <a:ext cx="502920" cy="50292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C1</a:t>
            </a:r>
          </a:p>
        </p:txBody>
      </p:sp>
      <p:sp>
        <p:nvSpPr>
          <p:cNvPr id="11" name="TextBox 10"/>
          <p:cNvSpPr txBox="1"/>
          <p:nvPr/>
        </p:nvSpPr>
        <p:spPr>
          <a:xfrm>
            <a:off x="4190923" y="1764792"/>
            <a:ext cx="1676323" cy="548640"/>
          </a:xfrm>
          <a:prstGeom prst="rect">
            <a:avLst/>
          </a:prstGeom>
          <a:noFill/>
        </p:spPr>
        <p:txBody>
          <a:bodyPr wrap="square" anchor="ctr" lIns="0" rIns="0" tIns="0" bIns="0">
            <a:spAutoFit/>
          </a:bodyPr>
          <a:lstStyle/>
          <a:p>
            <a:pPr algn="l">
              <a:spcAft>
                <a:spcPts val="600"/>
              </a:spcAft>
            </a:pPr>
            <a:r>
              <a:rPr sz="1500" b="1" i="0">
                <a:solidFill>
                  <a:srgbClr val="1F2937"/>
                </a:solidFill>
                <a:latin typeface="Kaspersky Sans Display"/>
              </a:rPr>
              <a:t>Amounts reconcile</a:t>
            </a:r>
          </a:p>
        </p:txBody>
      </p:sp>
      <p:sp>
        <p:nvSpPr>
          <p:cNvPr id="12" name="TextBox 11"/>
          <p:cNvSpPr txBox="1"/>
          <p:nvPr/>
        </p:nvSpPr>
        <p:spPr>
          <a:xfrm>
            <a:off x="3569131" y="2404872"/>
            <a:ext cx="2270683" cy="7772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discount_amount + customer_amount = msrp_at_transaction</a:t>
            </a:r>
          </a:p>
        </p:txBody>
      </p:sp>
      <p:sp>
        <p:nvSpPr>
          <p:cNvPr id="13" name="TextBox 12"/>
          <p:cNvSpPr txBox="1"/>
          <p:nvPr/>
        </p:nvSpPr>
        <p:spPr>
          <a:xfrm>
            <a:off x="3569131" y="3172968"/>
            <a:ext cx="2270683" cy="45720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35.99 + 24.00 = 59.99  ✓</a:t>
            </a:r>
          </a:p>
        </p:txBody>
      </p:sp>
      <p:sp>
        <p:nvSpPr>
          <p:cNvPr id="14" name="Rounded Rectangle 13"/>
          <p:cNvSpPr/>
          <p:nvPr/>
        </p:nvSpPr>
        <p:spPr>
          <a:xfrm>
            <a:off x="6187287" y="1600200"/>
            <a:ext cx="2636443" cy="2103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88455" y="1783080"/>
            <a:ext cx="502920" cy="50292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C2</a:t>
            </a:r>
          </a:p>
        </p:txBody>
      </p:sp>
      <p:sp>
        <p:nvSpPr>
          <p:cNvPr id="16" name="TextBox 15"/>
          <p:cNvSpPr txBox="1"/>
          <p:nvPr/>
        </p:nvSpPr>
        <p:spPr>
          <a:xfrm>
            <a:off x="7010247" y="1764792"/>
            <a:ext cx="1676323" cy="548640"/>
          </a:xfrm>
          <a:prstGeom prst="rect">
            <a:avLst/>
          </a:prstGeom>
          <a:noFill/>
        </p:spPr>
        <p:txBody>
          <a:bodyPr wrap="square" anchor="ctr" lIns="0" rIns="0" tIns="0" bIns="0">
            <a:spAutoFit/>
          </a:bodyPr>
          <a:lstStyle/>
          <a:p>
            <a:pPr algn="l">
              <a:spcAft>
                <a:spcPts val="600"/>
              </a:spcAft>
            </a:pPr>
            <a:r>
              <a:rPr sz="1500" b="1" i="0">
                <a:solidFill>
                  <a:srgbClr val="1F2937"/>
                </a:solidFill>
                <a:latin typeface="Kaspersky Sans Display"/>
              </a:rPr>
              <a:t>Relative discount</a:t>
            </a:r>
          </a:p>
        </p:txBody>
      </p:sp>
      <p:sp>
        <p:nvSpPr>
          <p:cNvPr id="17" name="TextBox 16"/>
          <p:cNvSpPr txBox="1"/>
          <p:nvPr/>
        </p:nvSpPr>
        <p:spPr>
          <a:xfrm>
            <a:off x="6388455" y="2404872"/>
            <a:ext cx="2270683" cy="7772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discount_pct = discount_amount / msrp_at_transaction</a:t>
            </a:r>
          </a:p>
        </p:txBody>
      </p:sp>
      <p:sp>
        <p:nvSpPr>
          <p:cNvPr id="18" name="TextBox 17"/>
          <p:cNvSpPr txBox="1"/>
          <p:nvPr/>
        </p:nvSpPr>
        <p:spPr>
          <a:xfrm>
            <a:off x="6388455" y="3172968"/>
            <a:ext cx="2270683" cy="45720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35.99 / 59.99 = 60%  ✓</a:t>
            </a:r>
          </a:p>
        </p:txBody>
      </p:sp>
      <p:sp>
        <p:nvSpPr>
          <p:cNvPr id="19" name="Rounded Rectangle 18"/>
          <p:cNvSpPr/>
          <p:nvPr/>
        </p:nvSpPr>
        <p:spPr>
          <a:xfrm>
            <a:off x="9006611" y="1600200"/>
            <a:ext cx="2636443" cy="2103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07779" y="1783080"/>
            <a:ext cx="502920" cy="50292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C3</a:t>
            </a:r>
          </a:p>
        </p:txBody>
      </p:sp>
      <p:sp>
        <p:nvSpPr>
          <p:cNvPr id="21" name="TextBox 20"/>
          <p:cNvSpPr txBox="1"/>
          <p:nvPr/>
        </p:nvSpPr>
        <p:spPr>
          <a:xfrm>
            <a:off x="9829571" y="1764792"/>
            <a:ext cx="1676323" cy="548640"/>
          </a:xfrm>
          <a:prstGeom prst="rect">
            <a:avLst/>
          </a:prstGeom>
          <a:noFill/>
        </p:spPr>
        <p:txBody>
          <a:bodyPr wrap="square" anchor="ctr" lIns="0" rIns="0" tIns="0" bIns="0">
            <a:spAutoFit/>
          </a:bodyPr>
          <a:lstStyle/>
          <a:p>
            <a:pPr algn="l">
              <a:spcAft>
                <a:spcPts val="600"/>
              </a:spcAft>
            </a:pPr>
            <a:r>
              <a:rPr sz="1500" b="1" i="0">
                <a:solidFill>
                  <a:srgbClr val="1F2937"/>
                </a:solidFill>
                <a:latin typeface="Kaspersky Sans Display"/>
              </a:rPr>
              <a:t>Complete breakdown</a:t>
            </a:r>
          </a:p>
        </p:txBody>
      </p:sp>
      <p:sp>
        <p:nvSpPr>
          <p:cNvPr id="22" name="TextBox 21"/>
          <p:cNvSpPr txBox="1"/>
          <p:nvPr/>
        </p:nvSpPr>
        <p:spPr>
          <a:xfrm>
            <a:off x="9207779" y="2404872"/>
            <a:ext cx="2270683" cy="7772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Σ discount components = discount_amount</a:t>
            </a:r>
          </a:p>
        </p:txBody>
      </p:sp>
      <p:sp>
        <p:nvSpPr>
          <p:cNvPr id="23" name="TextBox 22"/>
          <p:cNvSpPr txBox="1"/>
          <p:nvPr/>
        </p:nvSpPr>
        <p:spPr>
          <a:xfrm>
            <a:off x="9207779" y="3172968"/>
            <a:ext cx="2270683" cy="457200"/>
          </a:xfrm>
          <a:prstGeom prst="rect">
            <a:avLst/>
          </a:prstGeom>
          <a:noFill/>
        </p:spPr>
        <p:txBody>
          <a:bodyPr wrap="square" anchor="t" lIns="0" rIns="0" tIns="0" bIns="0">
            <a:spAutoFit/>
          </a:bodyPr>
          <a:lstStyle/>
          <a:p>
            <a:pPr algn="l">
              <a:spcAft>
                <a:spcPts val="600"/>
              </a:spcAft>
            </a:pPr>
            <a:r>
              <a:rPr sz="1200" b="0" i="1">
                <a:solidFill>
                  <a:srgbClr val="5B6472"/>
                </a:solidFill>
                <a:latin typeface="Kaspersky Sans Display"/>
              </a:rPr>
              <a:t>Components not shown in this example</a:t>
            </a:r>
          </a:p>
        </p:txBody>
      </p:sp>
      <p:sp>
        <p:nvSpPr>
          <p:cNvPr id="24" name="Rounded Rectangle 23"/>
          <p:cNvSpPr/>
          <p:nvPr/>
        </p:nvSpPr>
        <p:spPr>
          <a:xfrm>
            <a:off x="548640" y="3886200"/>
            <a:ext cx="2636443" cy="2103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069080"/>
            <a:ext cx="502920" cy="50292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C4</a:t>
            </a:r>
          </a:p>
        </p:txBody>
      </p:sp>
      <p:sp>
        <p:nvSpPr>
          <p:cNvPr id="26" name="TextBox 25"/>
          <p:cNvSpPr txBox="1"/>
          <p:nvPr/>
        </p:nvSpPr>
        <p:spPr>
          <a:xfrm>
            <a:off x="1371600" y="4050791"/>
            <a:ext cx="1676323" cy="548640"/>
          </a:xfrm>
          <a:prstGeom prst="rect">
            <a:avLst/>
          </a:prstGeom>
          <a:noFill/>
        </p:spPr>
        <p:txBody>
          <a:bodyPr wrap="square" anchor="ctr" lIns="0" rIns="0" tIns="0" bIns="0">
            <a:spAutoFit/>
          </a:bodyPr>
          <a:lstStyle/>
          <a:p>
            <a:pPr algn="l">
              <a:spcAft>
                <a:spcPts val="600"/>
              </a:spcAft>
            </a:pPr>
            <a:r>
              <a:rPr sz="1500" b="1" i="0">
                <a:solidFill>
                  <a:srgbClr val="1F2937"/>
                </a:solidFill>
                <a:latin typeface="Kaspersky Sans Display"/>
              </a:rPr>
              <a:t>Valid MSRP</a:t>
            </a:r>
          </a:p>
        </p:txBody>
      </p:sp>
      <p:sp>
        <p:nvSpPr>
          <p:cNvPr id="27" name="TextBox 26"/>
          <p:cNvSpPr txBox="1"/>
          <p:nvPr/>
        </p:nvSpPr>
        <p:spPr>
          <a:xfrm>
            <a:off x="749808" y="4690872"/>
            <a:ext cx="2270683" cy="7772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msrp_at_transaction = MSRP for product × region × currency at transaction time</a:t>
            </a:r>
          </a:p>
        </p:txBody>
      </p:sp>
      <p:sp>
        <p:nvSpPr>
          <p:cNvPr id="28" name="TextBox 27"/>
          <p:cNvSpPr txBox="1"/>
          <p:nvPr/>
        </p:nvSpPr>
        <p:spPr>
          <a:xfrm>
            <a:off x="749808" y="5458968"/>
            <a:ext cx="2270683" cy="45720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59.99 on 2 May 2026  ✓</a:t>
            </a:r>
          </a:p>
        </p:txBody>
      </p:sp>
      <p:sp>
        <p:nvSpPr>
          <p:cNvPr id="29" name="Rounded Rectangle 28"/>
          <p:cNvSpPr/>
          <p:nvPr/>
        </p:nvSpPr>
        <p:spPr>
          <a:xfrm>
            <a:off x="3367963" y="3886200"/>
            <a:ext cx="2636443" cy="2103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69131" y="4069080"/>
            <a:ext cx="502920" cy="50292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C5</a:t>
            </a:r>
          </a:p>
        </p:txBody>
      </p:sp>
      <p:sp>
        <p:nvSpPr>
          <p:cNvPr id="31" name="TextBox 30"/>
          <p:cNvSpPr txBox="1"/>
          <p:nvPr/>
        </p:nvSpPr>
        <p:spPr>
          <a:xfrm>
            <a:off x="4190923" y="4050791"/>
            <a:ext cx="1676323" cy="548640"/>
          </a:xfrm>
          <a:prstGeom prst="rect">
            <a:avLst/>
          </a:prstGeom>
          <a:noFill/>
        </p:spPr>
        <p:txBody>
          <a:bodyPr wrap="square" anchor="ctr" lIns="0" rIns="0" tIns="0" bIns="0">
            <a:spAutoFit/>
          </a:bodyPr>
          <a:lstStyle/>
          <a:p>
            <a:pPr algn="l">
              <a:spcAft>
                <a:spcPts val="600"/>
              </a:spcAft>
            </a:pPr>
            <a:r>
              <a:rPr sz="1500" b="1" i="0">
                <a:solidFill>
                  <a:srgbClr val="1F2937"/>
                </a:solidFill>
                <a:latin typeface="Kaspersky Sans Display"/>
              </a:rPr>
              <a:t>Same tax basis</a:t>
            </a:r>
          </a:p>
        </p:txBody>
      </p:sp>
      <p:sp>
        <p:nvSpPr>
          <p:cNvPr id="32" name="TextBox 31"/>
          <p:cNvSpPr txBox="1"/>
          <p:nvPr/>
        </p:nvSpPr>
        <p:spPr>
          <a:xfrm>
            <a:off x="3569131" y="4690872"/>
            <a:ext cx="2270683" cy="7772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C0 to C3 hold on _tax_incl and on _tax_excl separately</a:t>
            </a:r>
          </a:p>
        </p:txBody>
      </p:sp>
      <p:sp>
        <p:nvSpPr>
          <p:cNvPr id="33" name="TextBox 32"/>
          <p:cNvSpPr txBox="1"/>
          <p:nvPr/>
        </p:nvSpPr>
        <p:spPr>
          <a:xfrm>
            <a:off x="3569131" y="5458968"/>
            <a:ext cx="2270683" cy="45720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20.17 + 30.24 = 50.41 = 59.99 / 1.19  ✓</a:t>
            </a:r>
          </a:p>
        </p:txBody>
      </p:sp>
      <p:sp>
        <p:nvSpPr>
          <p:cNvPr id="34" name="Rounded Rectangle 33"/>
          <p:cNvSpPr/>
          <p:nvPr/>
        </p:nvSpPr>
        <p:spPr>
          <a:xfrm>
            <a:off x="6187287" y="3886200"/>
            <a:ext cx="2636443" cy="2103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388455" y="4069080"/>
            <a:ext cx="502920" cy="50292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C6</a:t>
            </a:r>
          </a:p>
        </p:txBody>
      </p:sp>
      <p:sp>
        <p:nvSpPr>
          <p:cNvPr id="36" name="TextBox 35"/>
          <p:cNvSpPr txBox="1"/>
          <p:nvPr/>
        </p:nvSpPr>
        <p:spPr>
          <a:xfrm>
            <a:off x="7010247" y="4050791"/>
            <a:ext cx="1676323" cy="548640"/>
          </a:xfrm>
          <a:prstGeom prst="rect">
            <a:avLst/>
          </a:prstGeom>
          <a:noFill/>
        </p:spPr>
        <p:txBody>
          <a:bodyPr wrap="square" anchor="ctr" lIns="0" rIns="0" tIns="0" bIns="0">
            <a:spAutoFit/>
          </a:bodyPr>
          <a:lstStyle/>
          <a:p>
            <a:pPr algn="l">
              <a:spcAft>
                <a:spcPts val="600"/>
              </a:spcAft>
            </a:pPr>
            <a:r>
              <a:rPr sz="1500" b="1" i="0">
                <a:solidFill>
                  <a:srgbClr val="1F2937"/>
                </a:solidFill>
                <a:latin typeface="Kaspersky Sans Display"/>
              </a:rPr>
              <a:t>Valid range</a:t>
            </a:r>
          </a:p>
        </p:txBody>
      </p:sp>
      <p:sp>
        <p:nvSpPr>
          <p:cNvPr id="37" name="TextBox 36"/>
          <p:cNvSpPr txBox="1"/>
          <p:nvPr/>
        </p:nvSpPr>
        <p:spPr>
          <a:xfrm>
            <a:off x="6388455" y="4690872"/>
            <a:ext cx="2270683" cy="77724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0 ≤ discount_amount ≤ msrp_at_transaction</a:t>
            </a:r>
          </a:p>
        </p:txBody>
      </p:sp>
      <p:sp>
        <p:nvSpPr>
          <p:cNvPr id="38" name="TextBox 37"/>
          <p:cNvSpPr txBox="1"/>
          <p:nvPr/>
        </p:nvSpPr>
        <p:spPr>
          <a:xfrm>
            <a:off x="6388455" y="5458968"/>
            <a:ext cx="2270683" cy="45720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0 ≤ 35.99 ≤ 59.99  ✓</a:t>
            </a:r>
          </a:p>
        </p:txBody>
      </p:sp>
      <p:sp>
        <p:nvSpPr>
          <p:cNvPr id="39" name="Rounded Rectangle 38"/>
          <p:cNvSpPr/>
          <p:nvPr/>
        </p:nvSpPr>
        <p:spPr>
          <a:xfrm>
            <a:off x="9006611" y="3886200"/>
            <a:ext cx="2636443" cy="2103120"/>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07779" y="4114800"/>
            <a:ext cx="2270683" cy="1737360"/>
          </a:xfrm>
          <a:prstGeom prst="rect">
            <a:avLst/>
          </a:prstGeom>
          <a:noFill/>
        </p:spPr>
        <p:txBody>
          <a:bodyPr wrap="square" anchor="t" lIns="0" rIns="0" tIns="0" bIns="0">
            <a:spAutoFit/>
          </a:bodyPr>
          <a:lstStyle/>
          <a:p>
            <a:pPr algn="l">
              <a:spcAft>
                <a:spcPts val="1000"/>
              </a:spcAft>
            </a:pPr>
            <a:r>
              <a:rPr sz="1300" b="0" i="0">
                <a:solidFill>
                  <a:srgbClr val="5B6472"/>
                </a:solidFill>
                <a:latin typeface="Kaspersky Sans Display"/>
              </a:rPr>
              <a:t>Rounding tolerance: ±0.01 in local currency.</a:t>
            </a:r>
          </a:p>
          <a:p>
            <a:pPr algn="l">
              <a:spcAft>
                <a:spcPts val="1000"/>
              </a:spcAft>
            </a:pPr>
            <a:r>
              <a:rPr sz="1500" b="1" i="0">
                <a:solidFill>
                  <a:srgbClr val="D42A4F"/>
                </a:solidFill>
                <a:latin typeface="Kaspersky Sans Display"/>
              </a:rPr>
              <a:t>A transaction that fails a check is recorded wrongly.</a:t>
            </a:r>
          </a:p>
        </p:txBody>
      </p:sp>
      <p:sp>
        <p:nvSpPr>
          <p:cNvPr id="41" name="TextBox 40"/>
          <p:cNvSpPr txBox="1"/>
          <p:nvPr/>
        </p:nvSpPr>
        <p:spPr>
          <a:xfrm>
            <a:off x="548640" y="6080760"/>
            <a:ext cx="11094415" cy="365760"/>
          </a:xfrm>
          <a:prstGeom prst="rect">
            <a:avLst/>
          </a:prstGeom>
          <a:noFill/>
        </p:spPr>
        <p:txBody>
          <a:bodyPr wrap="square" anchor="t" lIns="0" rIns="0" tIns="0" bIns="0">
            <a:spAutoFit/>
          </a:bodyPr>
          <a:lstStyle/>
          <a:p>
            <a:pPr algn="l">
              <a:spcAft>
                <a:spcPts val="600"/>
              </a:spcAft>
            </a:pPr>
            <a:r>
              <a:rPr sz="1500" b="1" i="0">
                <a:solidFill>
                  <a:srgbClr val="1F2937"/>
                </a:solidFill>
                <a:latin typeface="Kaspersky Sans Display"/>
              </a:rPr>
              <a:t>The theoretical transaction passes every check we can test. This is what we expect from every transaction.</a:t>
            </a:r>
          </a:p>
        </p:txBody>
      </p:sp>
      <p:sp>
        <p:nvSpPr>
          <p:cNvPr id="42" name="TextBox 41"/>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13</a:t>
            </a:r>
          </a:p>
        </p:txBody>
      </p:sp>
      <p:sp>
        <p:nvSpPr>
          <p:cNvPr id="43" name="Rounded Rectangle 42"/>
          <p:cNvSpPr/>
          <p:nvPr/>
        </p:nvSpPr>
        <p:spPr>
          <a:xfrm>
            <a:off x="9357055" y="274320"/>
            <a:ext cx="1737360" cy="292608"/>
          </a:xfrm>
          <a:prstGeom prst="roundRect">
            <a:avLst>
              <a:gd name="adj" fmla="val 12000"/>
            </a:avLst>
          </a:prstGeom>
          <a:solidFill>
            <a:srgbClr val="FFFFFF"/>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3BA8DE"/>
                </a:solidFill>
                <a:latin typeface="Kaspersky Sans Display"/>
              </a:rPr>
              <a:t>1 · THE NEED</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Checking real data, concept by concept</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Each concept of the model has its field in the table. Two of them are the anchors</a:t>
            </a:r>
          </a:p>
        </p:txBody>
      </p:sp>
      <p:sp>
        <p:nvSpPr>
          <p:cNvPr id="4" name="Rounded Rectangle 3"/>
          <p:cNvSpPr/>
          <p:nvPr/>
        </p:nvSpPr>
        <p:spPr>
          <a:xfrm>
            <a:off x="548640" y="1600200"/>
            <a:ext cx="11091672" cy="384048"/>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00200"/>
            <a:ext cx="2560320" cy="384048"/>
          </a:xfrm>
          <a:prstGeom prst="rect">
            <a:avLst/>
          </a:prstGeom>
          <a:noFill/>
        </p:spPr>
        <p:txBody>
          <a:bodyPr wrap="square" anchor="ctr" lIns="0" rIns="0" tIns="0" bIns="0">
            <a:spAutoFit/>
          </a:bodyPr>
          <a:lstStyle/>
          <a:p>
            <a:pPr algn="l">
              <a:spcAft>
                <a:spcPts val="600"/>
              </a:spcAft>
            </a:pPr>
            <a:r>
              <a:rPr sz="1200" b="1" i="0">
                <a:solidFill>
                  <a:srgbClr val="B8C2D0"/>
                </a:solidFill>
                <a:latin typeface="Kaspersky Sans Display"/>
              </a:rPr>
              <a:t>Concept (model)</a:t>
            </a:r>
          </a:p>
        </p:txBody>
      </p:sp>
      <p:sp>
        <p:nvSpPr>
          <p:cNvPr id="6" name="TextBox 5"/>
          <p:cNvSpPr txBox="1"/>
          <p:nvPr/>
        </p:nvSpPr>
        <p:spPr>
          <a:xfrm>
            <a:off x="3429000" y="1600200"/>
            <a:ext cx="3886200" cy="384048"/>
          </a:xfrm>
          <a:prstGeom prst="rect">
            <a:avLst/>
          </a:prstGeom>
          <a:noFill/>
        </p:spPr>
        <p:txBody>
          <a:bodyPr wrap="square" anchor="ctr" lIns="0" rIns="0" tIns="0" bIns="0">
            <a:spAutoFit/>
          </a:bodyPr>
          <a:lstStyle/>
          <a:p>
            <a:pPr algn="l">
              <a:spcAft>
                <a:spcPts val="600"/>
              </a:spcAft>
            </a:pPr>
            <a:r>
              <a:rPr sz="1200" b="1" i="0">
                <a:solidFill>
                  <a:srgbClr val="B8C2D0"/>
                </a:solidFill>
                <a:latin typeface="Kaspersky Sans Display"/>
              </a:rPr>
              <a:t>Field in the table</a:t>
            </a:r>
          </a:p>
        </p:txBody>
      </p:sp>
      <p:sp>
        <p:nvSpPr>
          <p:cNvPr id="7" name="TextBox 6"/>
          <p:cNvSpPr txBox="1"/>
          <p:nvPr/>
        </p:nvSpPr>
        <p:spPr>
          <a:xfrm>
            <a:off x="7498080" y="1600200"/>
            <a:ext cx="4096511" cy="384048"/>
          </a:xfrm>
          <a:prstGeom prst="rect">
            <a:avLst/>
          </a:prstGeom>
          <a:noFill/>
        </p:spPr>
        <p:txBody>
          <a:bodyPr wrap="square" anchor="ctr" lIns="0" rIns="0" tIns="0" bIns="0">
            <a:spAutoFit/>
          </a:bodyPr>
          <a:lstStyle/>
          <a:p>
            <a:pPr algn="l">
              <a:spcAft>
                <a:spcPts val="600"/>
              </a:spcAft>
            </a:pPr>
            <a:r>
              <a:rPr sz="1200" b="1" i="0">
                <a:solidFill>
                  <a:srgbClr val="B8C2D0"/>
                </a:solidFill>
                <a:latin typeface="Kaspersky Sans Display"/>
              </a:rPr>
              <a:t>How we check it</a:t>
            </a:r>
          </a:p>
        </p:txBody>
      </p:sp>
      <p:sp>
        <p:nvSpPr>
          <p:cNvPr id="8" name="Rounded Rectangle 7"/>
          <p:cNvSpPr/>
          <p:nvPr/>
        </p:nvSpPr>
        <p:spPr>
          <a:xfrm>
            <a:off x="548640" y="2057400"/>
            <a:ext cx="11091672" cy="374904"/>
          </a:xfrm>
          <a:prstGeom prst="roundRect">
            <a:avLst>
              <a:gd name="adj" fmla="val 12000"/>
            </a:avLst>
          </a:prstGeom>
          <a:solidFill>
            <a:srgbClr val="1E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29968"/>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Customer amount with taxes</a:t>
            </a:r>
          </a:p>
        </p:txBody>
      </p:sp>
      <p:sp>
        <p:nvSpPr>
          <p:cNvPr id="10" name="TextBox 9"/>
          <p:cNvSpPr txBox="1"/>
          <p:nvPr/>
        </p:nvSpPr>
        <p:spPr>
          <a:xfrm>
            <a:off x="3429000" y="2029968"/>
            <a:ext cx="3886200" cy="429768"/>
          </a:xfrm>
          <a:prstGeom prst="rect">
            <a:avLst/>
          </a:prstGeom>
          <a:noFill/>
        </p:spPr>
        <p:txBody>
          <a:bodyPr wrap="square" anchor="ctr" lIns="0" rIns="0" tIns="0" bIns="0">
            <a:spAutoFit/>
          </a:bodyPr>
          <a:lstStyle/>
          <a:p>
            <a:pPr algn="l">
              <a:spcAft>
                <a:spcPts val="600"/>
              </a:spcAft>
            </a:pPr>
            <a:r>
              <a:rPr sz="1100" b="0" i="0">
                <a:solidFill>
                  <a:srgbClr val="6CC9EC"/>
                </a:solidFill>
                <a:latin typeface="Kaspersky Sans Display"/>
              </a:rPr>
              <a:t>CalculatedTransactionCustomerAmountWithTaxes</a:t>
            </a:r>
          </a:p>
        </p:txBody>
      </p:sp>
      <p:sp>
        <p:nvSpPr>
          <p:cNvPr id="11" name="TextBox 10"/>
          <p:cNvSpPr txBox="1"/>
          <p:nvPr/>
        </p:nvSpPr>
        <p:spPr>
          <a:xfrm>
            <a:off x="7498080" y="2029968"/>
            <a:ext cx="4096511" cy="429768"/>
          </a:xfrm>
          <a:prstGeom prst="rect">
            <a:avLst/>
          </a:prstGeom>
          <a:noFill/>
        </p:spPr>
        <p:txBody>
          <a:bodyPr wrap="square" anchor="ctr" lIns="0" rIns="0" tIns="0" bIns="0">
            <a:spAutoFit/>
          </a:bodyPr>
          <a:lstStyle/>
          <a:p>
            <a:pPr algn="l">
              <a:spcAft>
                <a:spcPts val="600"/>
              </a:spcAft>
            </a:pPr>
            <a:r>
              <a:rPr sz="1200" b="1" i="0">
                <a:solidFill>
                  <a:srgbClr val="3DC4A2"/>
                </a:solidFill>
                <a:latin typeface="Kaspersky Sans Display"/>
              </a:rPr>
              <a:t>Anchor: taken as correct (what the customer paid)</a:t>
            </a:r>
          </a:p>
        </p:txBody>
      </p:sp>
      <p:sp>
        <p:nvSpPr>
          <p:cNvPr id="12" name="Rounded Rectangle 11"/>
          <p:cNvSpPr/>
          <p:nvPr/>
        </p:nvSpPr>
        <p:spPr>
          <a:xfrm>
            <a:off x="548640" y="2487168"/>
            <a:ext cx="11091672" cy="374904"/>
          </a:xfrm>
          <a:prstGeom prst="roundRect">
            <a:avLst>
              <a:gd name="adj" fmla="val 12000"/>
            </a:avLst>
          </a:prstGeom>
          <a:solidFill>
            <a:srgbClr val="1E3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59736"/>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Due to KL</a:t>
            </a:r>
          </a:p>
        </p:txBody>
      </p:sp>
      <p:sp>
        <p:nvSpPr>
          <p:cNvPr id="14" name="TextBox 13"/>
          <p:cNvSpPr txBox="1"/>
          <p:nvPr/>
        </p:nvSpPr>
        <p:spPr>
          <a:xfrm>
            <a:off x="3429000" y="2459736"/>
            <a:ext cx="3886200" cy="429768"/>
          </a:xfrm>
          <a:prstGeom prst="rect">
            <a:avLst/>
          </a:prstGeom>
          <a:noFill/>
        </p:spPr>
        <p:txBody>
          <a:bodyPr wrap="square" anchor="ctr" lIns="0" rIns="0" tIns="0" bIns="0">
            <a:spAutoFit/>
          </a:bodyPr>
          <a:lstStyle/>
          <a:p>
            <a:pPr algn="l">
              <a:spcAft>
                <a:spcPts val="600"/>
              </a:spcAft>
            </a:pPr>
            <a:r>
              <a:rPr sz="1100" b="0" i="0">
                <a:solidFill>
                  <a:srgbClr val="6CC9EC"/>
                </a:solidFill>
                <a:latin typeface="Kaspersky Sans Display"/>
              </a:rPr>
              <a:t>TransactionDueToKLAmount</a:t>
            </a:r>
          </a:p>
        </p:txBody>
      </p:sp>
      <p:sp>
        <p:nvSpPr>
          <p:cNvPr id="15" name="TextBox 14"/>
          <p:cNvSpPr txBox="1"/>
          <p:nvPr/>
        </p:nvSpPr>
        <p:spPr>
          <a:xfrm>
            <a:off x="7498080" y="2459736"/>
            <a:ext cx="4096511" cy="429768"/>
          </a:xfrm>
          <a:prstGeom prst="rect">
            <a:avLst/>
          </a:prstGeom>
          <a:noFill/>
        </p:spPr>
        <p:txBody>
          <a:bodyPr wrap="square" anchor="ctr" lIns="0" rIns="0" tIns="0" bIns="0">
            <a:spAutoFit/>
          </a:bodyPr>
          <a:lstStyle/>
          <a:p>
            <a:pPr algn="l">
              <a:spcAft>
                <a:spcPts val="600"/>
              </a:spcAft>
            </a:pPr>
            <a:r>
              <a:rPr sz="1200" b="1" i="0">
                <a:solidFill>
                  <a:srgbClr val="3DC4A2"/>
                </a:solidFill>
                <a:latin typeface="Kaspersky Sans Display"/>
              </a:rPr>
              <a:t>Anchor: taken as correct (what we receive)</a:t>
            </a:r>
          </a:p>
        </p:txBody>
      </p:sp>
      <p:sp>
        <p:nvSpPr>
          <p:cNvPr id="16" name="TextBox 15"/>
          <p:cNvSpPr txBox="1"/>
          <p:nvPr/>
        </p:nvSpPr>
        <p:spPr>
          <a:xfrm>
            <a:off x="685800" y="2889504"/>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Customer amount without taxes</a:t>
            </a:r>
          </a:p>
        </p:txBody>
      </p:sp>
      <p:sp>
        <p:nvSpPr>
          <p:cNvPr id="17" name="TextBox 16"/>
          <p:cNvSpPr txBox="1"/>
          <p:nvPr/>
        </p:nvSpPr>
        <p:spPr>
          <a:xfrm>
            <a:off x="3429000" y="2889504"/>
            <a:ext cx="3886200" cy="429768"/>
          </a:xfrm>
          <a:prstGeom prst="rect">
            <a:avLst/>
          </a:prstGeom>
          <a:noFill/>
        </p:spPr>
        <p:txBody>
          <a:bodyPr wrap="square" anchor="ctr" lIns="0" rIns="0" tIns="0" bIns="0">
            <a:spAutoFit/>
          </a:bodyPr>
          <a:lstStyle/>
          <a:p>
            <a:pPr algn="l">
              <a:spcAft>
                <a:spcPts val="600"/>
              </a:spcAft>
            </a:pPr>
            <a:r>
              <a:rPr sz="1100" b="0" i="0">
                <a:solidFill>
                  <a:srgbClr val="6CC9EC"/>
                </a:solidFill>
                <a:latin typeface="Kaspersky Sans Display"/>
              </a:rPr>
              <a:t>CalculatedTransactionCustomerAmountWithoutTaxes</a:t>
            </a:r>
          </a:p>
        </p:txBody>
      </p:sp>
      <p:sp>
        <p:nvSpPr>
          <p:cNvPr id="18" name="TextBox 17"/>
          <p:cNvSpPr txBox="1"/>
          <p:nvPr/>
        </p:nvSpPr>
        <p:spPr>
          <a:xfrm>
            <a:off x="7498080" y="2889504"/>
            <a:ext cx="4096511" cy="429768"/>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 with taxes / (1 + VAT rate)</a:t>
            </a:r>
          </a:p>
        </p:txBody>
      </p:sp>
      <p:sp>
        <p:nvSpPr>
          <p:cNvPr id="19" name="Rectangle 18"/>
          <p:cNvSpPr/>
          <p:nvPr/>
        </p:nvSpPr>
        <p:spPr>
          <a:xfrm>
            <a:off x="548640" y="3310128"/>
            <a:ext cx="11091672"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319272"/>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VAT amount</a:t>
            </a:r>
          </a:p>
        </p:txBody>
      </p:sp>
      <p:sp>
        <p:nvSpPr>
          <p:cNvPr id="21" name="TextBox 20"/>
          <p:cNvSpPr txBox="1"/>
          <p:nvPr/>
        </p:nvSpPr>
        <p:spPr>
          <a:xfrm>
            <a:off x="3429000" y="3319272"/>
            <a:ext cx="3886200" cy="429768"/>
          </a:xfrm>
          <a:prstGeom prst="rect">
            <a:avLst/>
          </a:prstGeom>
          <a:noFill/>
        </p:spPr>
        <p:txBody>
          <a:bodyPr wrap="square" anchor="ctr" lIns="0" rIns="0" tIns="0" bIns="0">
            <a:spAutoFit/>
          </a:bodyPr>
          <a:lstStyle/>
          <a:p>
            <a:pPr algn="l">
              <a:spcAft>
                <a:spcPts val="600"/>
              </a:spcAft>
            </a:pPr>
            <a:r>
              <a:rPr sz="1100" b="0" i="0">
                <a:solidFill>
                  <a:srgbClr val="6CC9EC"/>
                </a:solidFill>
                <a:latin typeface="Kaspersky Sans Display"/>
              </a:rPr>
              <a:t>TransactionTaxAmount</a:t>
            </a:r>
          </a:p>
        </p:txBody>
      </p:sp>
      <p:sp>
        <p:nvSpPr>
          <p:cNvPr id="22" name="TextBox 21"/>
          <p:cNvSpPr txBox="1"/>
          <p:nvPr/>
        </p:nvSpPr>
        <p:spPr>
          <a:xfrm>
            <a:off x="7498080" y="3319272"/>
            <a:ext cx="4096511" cy="429768"/>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 with taxes − without taxes</a:t>
            </a:r>
          </a:p>
        </p:txBody>
      </p:sp>
      <p:sp>
        <p:nvSpPr>
          <p:cNvPr id="23" name="Rectangle 22"/>
          <p:cNvSpPr/>
          <p:nvPr/>
        </p:nvSpPr>
        <p:spPr>
          <a:xfrm>
            <a:off x="548640" y="3739896"/>
            <a:ext cx="11091672"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749039"/>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VAT rate</a:t>
            </a:r>
          </a:p>
        </p:txBody>
      </p:sp>
      <p:sp>
        <p:nvSpPr>
          <p:cNvPr id="25" name="TextBox 24"/>
          <p:cNvSpPr txBox="1"/>
          <p:nvPr/>
        </p:nvSpPr>
        <p:spPr>
          <a:xfrm>
            <a:off x="3429000" y="3749039"/>
            <a:ext cx="3886200" cy="429768"/>
          </a:xfrm>
          <a:prstGeom prst="rect">
            <a:avLst/>
          </a:prstGeom>
          <a:noFill/>
        </p:spPr>
        <p:txBody>
          <a:bodyPr wrap="square" anchor="ctr" lIns="0" rIns="0" tIns="0" bIns="0">
            <a:spAutoFit/>
          </a:bodyPr>
          <a:lstStyle/>
          <a:p>
            <a:pPr algn="l">
              <a:spcAft>
                <a:spcPts val="600"/>
              </a:spcAft>
            </a:pPr>
            <a:r>
              <a:rPr sz="1100" b="0" i="0">
                <a:solidFill>
                  <a:srgbClr val="F2667F"/>
                </a:solidFill>
                <a:latin typeface="Kaspersky Sans Display"/>
              </a:rPr>
              <a:t>not stored</a:t>
            </a:r>
          </a:p>
        </p:txBody>
      </p:sp>
      <p:sp>
        <p:nvSpPr>
          <p:cNvPr id="26" name="TextBox 25"/>
          <p:cNvSpPr txBox="1"/>
          <p:nvPr/>
        </p:nvSpPr>
        <p:spPr>
          <a:xfrm>
            <a:off x="7498080" y="3749039"/>
            <a:ext cx="4096511" cy="429768"/>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 with taxes / without taxes − 1, compared with the country rate</a:t>
            </a:r>
          </a:p>
        </p:txBody>
      </p:sp>
      <p:sp>
        <p:nvSpPr>
          <p:cNvPr id="27" name="Rectangle 26"/>
          <p:cNvSpPr/>
          <p:nvPr/>
        </p:nvSpPr>
        <p:spPr>
          <a:xfrm>
            <a:off x="548640" y="4169663"/>
            <a:ext cx="11091672"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178808"/>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Partner fee</a:t>
            </a:r>
          </a:p>
        </p:txBody>
      </p:sp>
      <p:sp>
        <p:nvSpPr>
          <p:cNvPr id="29" name="TextBox 28"/>
          <p:cNvSpPr txBox="1"/>
          <p:nvPr/>
        </p:nvSpPr>
        <p:spPr>
          <a:xfrm>
            <a:off x="3429000" y="4178808"/>
            <a:ext cx="3886200" cy="429768"/>
          </a:xfrm>
          <a:prstGeom prst="rect">
            <a:avLst/>
          </a:prstGeom>
          <a:noFill/>
        </p:spPr>
        <p:txBody>
          <a:bodyPr wrap="square" anchor="ctr" lIns="0" rIns="0" tIns="0" bIns="0">
            <a:spAutoFit/>
          </a:bodyPr>
          <a:lstStyle/>
          <a:p>
            <a:pPr algn="l">
              <a:spcAft>
                <a:spcPts val="600"/>
              </a:spcAft>
            </a:pPr>
            <a:r>
              <a:rPr sz="1100" b="0" i="0">
                <a:solidFill>
                  <a:srgbClr val="6CC9EC"/>
                </a:solidFill>
                <a:latin typeface="Kaspersky Sans Display"/>
              </a:rPr>
              <a:t>TransactionPartnerAmount</a:t>
            </a:r>
          </a:p>
        </p:txBody>
      </p:sp>
      <p:sp>
        <p:nvSpPr>
          <p:cNvPr id="30" name="TextBox 29"/>
          <p:cNvSpPr txBox="1"/>
          <p:nvPr/>
        </p:nvSpPr>
        <p:spPr>
          <a:xfrm>
            <a:off x="7498080" y="4178808"/>
            <a:ext cx="4096511" cy="429768"/>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 without taxes − Due to KL, compared with the fee rate</a:t>
            </a:r>
          </a:p>
        </p:txBody>
      </p:sp>
      <p:sp>
        <p:nvSpPr>
          <p:cNvPr id="31" name="Rectangle 30"/>
          <p:cNvSpPr/>
          <p:nvPr/>
        </p:nvSpPr>
        <p:spPr>
          <a:xfrm>
            <a:off x="548640" y="4599432"/>
            <a:ext cx="11091672"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608576"/>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MSRP with taxes</a:t>
            </a:r>
          </a:p>
        </p:txBody>
      </p:sp>
      <p:sp>
        <p:nvSpPr>
          <p:cNvPr id="33" name="TextBox 32"/>
          <p:cNvSpPr txBox="1"/>
          <p:nvPr/>
        </p:nvSpPr>
        <p:spPr>
          <a:xfrm>
            <a:off x="3429000" y="4608576"/>
            <a:ext cx="3886200" cy="429768"/>
          </a:xfrm>
          <a:prstGeom prst="rect">
            <a:avLst/>
          </a:prstGeom>
          <a:noFill/>
        </p:spPr>
        <p:txBody>
          <a:bodyPr wrap="square" anchor="ctr" lIns="0" rIns="0" tIns="0" bIns="0">
            <a:spAutoFit/>
          </a:bodyPr>
          <a:lstStyle/>
          <a:p>
            <a:pPr algn="l">
              <a:spcAft>
                <a:spcPts val="600"/>
              </a:spcAft>
            </a:pPr>
            <a:r>
              <a:rPr sz="1100" b="0" i="0">
                <a:solidFill>
                  <a:srgbClr val="F2667F"/>
                </a:solidFill>
                <a:latin typeface="Kaspersky Sans Display"/>
              </a:rPr>
              <a:t>not stored · CustomerFullPrice in </a:t>
            </a:r>
            <a:r>
              <a:rPr sz="1100" b="1" i="0">
                <a:solidFill>
                  <a:srgbClr val="F2667F"/>
                </a:solidFill>
                <a:latin typeface="Kaspersky Sans Display"/>
              </a:rPr>
              <a:t>WebPriceList</a:t>
            </a:r>
          </a:p>
        </p:txBody>
      </p:sp>
      <p:sp>
        <p:nvSpPr>
          <p:cNvPr id="34" name="TextBox 33"/>
          <p:cNvSpPr txBox="1"/>
          <p:nvPr/>
        </p:nvSpPr>
        <p:spPr>
          <a:xfrm>
            <a:off x="7498080" y="4608576"/>
            <a:ext cx="4096511" cy="429768"/>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Needed for the discount. Must come with the transaction</a:t>
            </a:r>
          </a:p>
        </p:txBody>
      </p:sp>
      <p:sp>
        <p:nvSpPr>
          <p:cNvPr id="35" name="Rectangle 34"/>
          <p:cNvSpPr/>
          <p:nvPr/>
        </p:nvSpPr>
        <p:spPr>
          <a:xfrm>
            <a:off x="548640" y="5029200"/>
            <a:ext cx="11091672"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038344"/>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Discount amount (with taxes)</a:t>
            </a:r>
          </a:p>
        </p:txBody>
      </p:sp>
      <p:sp>
        <p:nvSpPr>
          <p:cNvPr id="37" name="TextBox 36"/>
          <p:cNvSpPr txBox="1"/>
          <p:nvPr/>
        </p:nvSpPr>
        <p:spPr>
          <a:xfrm>
            <a:off x="3429000" y="5038344"/>
            <a:ext cx="3886200" cy="429768"/>
          </a:xfrm>
          <a:prstGeom prst="rect">
            <a:avLst/>
          </a:prstGeom>
          <a:noFill/>
        </p:spPr>
        <p:txBody>
          <a:bodyPr wrap="square" anchor="ctr" lIns="0" rIns="0" tIns="0" bIns="0">
            <a:spAutoFit/>
          </a:bodyPr>
          <a:lstStyle/>
          <a:p>
            <a:pPr algn="l">
              <a:spcAft>
                <a:spcPts val="600"/>
              </a:spcAft>
            </a:pPr>
            <a:r>
              <a:rPr sz="1100" b="0" i="0">
                <a:solidFill>
                  <a:srgbClr val="6CC9EC"/>
                </a:solidFill>
                <a:latin typeface="Kaspersky Sans Display"/>
              </a:rPr>
              <a:t>TransactionDiscountAmount (stored without taxes)</a:t>
            </a:r>
          </a:p>
        </p:txBody>
      </p:sp>
      <p:sp>
        <p:nvSpPr>
          <p:cNvPr id="38" name="TextBox 37"/>
          <p:cNvSpPr txBox="1"/>
          <p:nvPr/>
        </p:nvSpPr>
        <p:spPr>
          <a:xfrm>
            <a:off x="7498080" y="5038344"/>
            <a:ext cx="4096511" cy="429768"/>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 MSRP with taxes − customer amount with taxes</a:t>
            </a:r>
          </a:p>
        </p:txBody>
      </p:sp>
      <p:sp>
        <p:nvSpPr>
          <p:cNvPr id="39" name="Rectangle 38"/>
          <p:cNvSpPr/>
          <p:nvPr/>
        </p:nvSpPr>
        <p:spPr>
          <a:xfrm>
            <a:off x="548640" y="5458968"/>
            <a:ext cx="11091672"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5468112"/>
            <a:ext cx="2560320" cy="429768"/>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Discount %</a:t>
            </a:r>
          </a:p>
        </p:txBody>
      </p:sp>
      <p:sp>
        <p:nvSpPr>
          <p:cNvPr id="41" name="TextBox 40"/>
          <p:cNvSpPr txBox="1"/>
          <p:nvPr/>
        </p:nvSpPr>
        <p:spPr>
          <a:xfrm>
            <a:off x="3429000" y="5468112"/>
            <a:ext cx="3886200" cy="429768"/>
          </a:xfrm>
          <a:prstGeom prst="rect">
            <a:avLst/>
          </a:prstGeom>
          <a:noFill/>
        </p:spPr>
        <p:txBody>
          <a:bodyPr wrap="square" anchor="ctr" lIns="0" rIns="0" tIns="0" bIns="0">
            <a:spAutoFit/>
          </a:bodyPr>
          <a:lstStyle/>
          <a:p>
            <a:pPr algn="l">
              <a:spcAft>
                <a:spcPts val="600"/>
              </a:spcAft>
            </a:pPr>
            <a:r>
              <a:rPr sz="1100" b="0" i="0">
                <a:solidFill>
                  <a:srgbClr val="F2667F"/>
                </a:solidFill>
                <a:latin typeface="Kaspersky Sans Display"/>
              </a:rPr>
              <a:t>not stored</a:t>
            </a:r>
          </a:p>
        </p:txBody>
      </p:sp>
      <p:sp>
        <p:nvSpPr>
          <p:cNvPr id="42" name="TextBox 41"/>
          <p:cNvSpPr txBox="1"/>
          <p:nvPr/>
        </p:nvSpPr>
        <p:spPr>
          <a:xfrm>
            <a:off x="7498080" y="5468112"/>
            <a:ext cx="4096511" cy="429768"/>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 discount amount / MSRP with taxes</a:t>
            </a:r>
          </a:p>
        </p:txBody>
      </p:sp>
      <p:sp>
        <p:nvSpPr>
          <p:cNvPr id="43" name="TextBox 42"/>
          <p:cNvSpPr txBox="1"/>
          <p:nvPr/>
        </p:nvSpPr>
        <p:spPr>
          <a:xfrm>
            <a:off x="548640" y="5989320"/>
            <a:ext cx="11094415" cy="640080"/>
          </a:xfrm>
          <a:prstGeom prst="rect">
            <a:avLst/>
          </a:prstGeom>
          <a:noFill/>
        </p:spPr>
        <p:txBody>
          <a:bodyPr wrap="square" anchor="t" lIns="0" rIns="0" tIns="0" bIns="0">
            <a:spAutoFit/>
          </a:bodyPr>
          <a:lstStyle/>
          <a:p>
            <a:pPr algn="l">
              <a:spcAft>
                <a:spcPts val="300"/>
              </a:spcAft>
            </a:pPr>
            <a:r>
              <a:rPr sz="1400" b="1" i="0">
                <a:solidFill>
                  <a:srgbClr val="3DC4A2"/>
                </a:solidFill>
                <a:latin typeface="Kaspersky Sans Display"/>
              </a:rPr>
              <a:t>Anchors: </a:t>
            </a:r>
            <a:r>
              <a:rPr sz="1400" b="0" i="0">
                <a:solidFill>
                  <a:srgbClr val="FFFFFF"/>
                </a:solidFill>
                <a:latin typeface="Kaspersky Sans Display"/>
              </a:rPr>
              <a:t>what the customer paid and what we receive. Every other amount must follow from them.</a:t>
            </a:r>
          </a:p>
          <a:p>
            <a:pPr algn="l">
              <a:spcAft>
                <a:spcPts val="300"/>
              </a:spcAft>
            </a:pPr>
            <a:r>
              <a:rPr sz="1400" b="1" i="0">
                <a:solidFill>
                  <a:srgbClr val="EEDB5C"/>
                </a:solidFill>
                <a:latin typeface="Kaspersky Sans Display"/>
              </a:rPr>
              <a:t>Open point: </a:t>
            </a:r>
            <a:r>
              <a:rPr sz="1400" b="0" i="0">
                <a:solidFill>
                  <a:srgbClr val="B8C2D0"/>
                </a:solidFill>
                <a:latin typeface="Kaspersky Sans Display"/>
              </a:rPr>
              <a:t>some transactions have no VAT, and the table does not say it.</a:t>
            </a:r>
          </a:p>
        </p:txBody>
      </p:sp>
      <p:sp>
        <p:nvSpPr>
          <p:cNvPr id="44" name="TextBox 43"/>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14</a:t>
            </a:r>
          </a:p>
        </p:txBody>
      </p:sp>
      <p:sp>
        <p:nvSpPr>
          <p:cNvPr id="45" name="Rounded Rectangle 44"/>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Case 1: we looked for a real one. Does it match the model?</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Real order 4K7019VAUH4 · SKU KL1042GDAFF · 3 May 2026 · Germany · VAT 19%</a:t>
            </a:r>
          </a:p>
        </p:txBody>
      </p:sp>
      <p:sp>
        <p:nvSpPr>
          <p:cNvPr id="4" name="Rounded Rectangle 3"/>
          <p:cNvSpPr/>
          <p:nvPr/>
        </p:nvSpPr>
        <p:spPr>
          <a:xfrm>
            <a:off x="548640" y="1600200"/>
            <a:ext cx="7955279" cy="384048"/>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00200"/>
            <a:ext cx="2084832" cy="384048"/>
          </a:xfrm>
          <a:prstGeom prst="rect">
            <a:avLst/>
          </a:prstGeom>
          <a:noFill/>
        </p:spPr>
        <p:txBody>
          <a:bodyPr wrap="square" anchor="ctr" lIns="0" rIns="0" tIns="0" bIns="0">
            <a:spAutoFit/>
          </a:bodyPr>
          <a:lstStyle/>
          <a:p>
            <a:pPr algn="l">
              <a:spcAft>
                <a:spcPts val="600"/>
              </a:spcAft>
            </a:pPr>
            <a:r>
              <a:rPr sz="1200" b="1" i="0">
                <a:solidFill>
                  <a:srgbClr val="B8C2D0"/>
                </a:solidFill>
                <a:latin typeface="Kaspersky Sans Display"/>
              </a:rPr>
              <a:t>Concept</a:t>
            </a:r>
          </a:p>
        </p:txBody>
      </p:sp>
      <p:sp>
        <p:nvSpPr>
          <p:cNvPr id="6" name="TextBox 5"/>
          <p:cNvSpPr txBox="1"/>
          <p:nvPr/>
        </p:nvSpPr>
        <p:spPr>
          <a:xfrm>
            <a:off x="2898648" y="1600200"/>
            <a:ext cx="2724912" cy="384048"/>
          </a:xfrm>
          <a:prstGeom prst="rect">
            <a:avLst/>
          </a:prstGeom>
          <a:noFill/>
        </p:spPr>
        <p:txBody>
          <a:bodyPr wrap="square" anchor="ctr" lIns="0" rIns="0" tIns="0" bIns="0">
            <a:spAutoFit/>
          </a:bodyPr>
          <a:lstStyle/>
          <a:p>
            <a:pPr algn="l">
              <a:spcAft>
                <a:spcPts val="600"/>
              </a:spcAft>
            </a:pPr>
            <a:r>
              <a:rPr sz="1200" b="1" i="0">
                <a:solidFill>
                  <a:srgbClr val="B8C2D0"/>
                </a:solidFill>
                <a:latin typeface="Kaspersky Sans Display"/>
              </a:rPr>
              <a:t>Rebuilt from the anchors</a:t>
            </a:r>
          </a:p>
        </p:txBody>
      </p:sp>
      <p:sp>
        <p:nvSpPr>
          <p:cNvPr id="7" name="TextBox 6"/>
          <p:cNvSpPr txBox="1"/>
          <p:nvPr/>
        </p:nvSpPr>
        <p:spPr>
          <a:xfrm>
            <a:off x="5779007" y="1600200"/>
            <a:ext cx="1078992" cy="384048"/>
          </a:xfrm>
          <a:prstGeom prst="rect">
            <a:avLst/>
          </a:prstGeom>
          <a:noFill/>
        </p:spPr>
        <p:txBody>
          <a:bodyPr wrap="square" anchor="ctr" lIns="0" rIns="0" tIns="0" bIns="0">
            <a:spAutoFit/>
          </a:bodyPr>
          <a:lstStyle/>
          <a:p>
            <a:pPr algn="l">
              <a:spcAft>
                <a:spcPts val="600"/>
              </a:spcAft>
            </a:pPr>
            <a:r>
              <a:rPr sz="1200" b="1" i="0">
                <a:solidFill>
                  <a:srgbClr val="B8C2D0"/>
                </a:solidFill>
                <a:latin typeface="Kaspersky Sans Display"/>
              </a:rPr>
              <a:t>In the table</a:t>
            </a:r>
          </a:p>
        </p:txBody>
      </p:sp>
      <p:sp>
        <p:nvSpPr>
          <p:cNvPr id="8" name="TextBox 7"/>
          <p:cNvSpPr txBox="1"/>
          <p:nvPr/>
        </p:nvSpPr>
        <p:spPr>
          <a:xfrm>
            <a:off x="7013448" y="1600200"/>
            <a:ext cx="1444752" cy="384048"/>
          </a:xfrm>
          <a:prstGeom prst="rect">
            <a:avLst/>
          </a:prstGeom>
          <a:noFill/>
        </p:spPr>
        <p:txBody>
          <a:bodyPr wrap="square" anchor="ctr" lIns="0" rIns="0" tIns="0" bIns="0">
            <a:spAutoFit/>
          </a:bodyPr>
          <a:lstStyle/>
          <a:p>
            <a:pPr algn="l">
              <a:spcAft>
                <a:spcPts val="600"/>
              </a:spcAft>
            </a:pPr>
            <a:r>
              <a:rPr sz="1200" b="1" i="0">
                <a:solidFill>
                  <a:srgbClr val="B8C2D0"/>
                </a:solidFill>
                <a:latin typeface="Kaspersky Sans Display"/>
              </a:rPr>
              <a:t>Result</a:t>
            </a:r>
          </a:p>
        </p:txBody>
      </p:sp>
      <p:sp>
        <p:nvSpPr>
          <p:cNvPr id="9" name="Rounded Rectangle 8"/>
          <p:cNvSpPr/>
          <p:nvPr/>
        </p:nvSpPr>
        <p:spPr>
          <a:xfrm>
            <a:off x="548640" y="2057400"/>
            <a:ext cx="7955279" cy="34747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029968"/>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Customer amount with taxes</a:t>
            </a:r>
          </a:p>
        </p:txBody>
      </p:sp>
      <p:sp>
        <p:nvSpPr>
          <p:cNvPr id="11" name="TextBox 10"/>
          <p:cNvSpPr txBox="1"/>
          <p:nvPr/>
        </p:nvSpPr>
        <p:spPr>
          <a:xfrm>
            <a:off x="2898648" y="2029968"/>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taken as correct</a:t>
            </a:r>
          </a:p>
        </p:txBody>
      </p:sp>
      <p:sp>
        <p:nvSpPr>
          <p:cNvPr id="12" name="TextBox 11"/>
          <p:cNvSpPr txBox="1"/>
          <p:nvPr/>
        </p:nvSpPr>
        <p:spPr>
          <a:xfrm>
            <a:off x="5779007" y="2029968"/>
            <a:ext cx="107899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23.99</a:t>
            </a:r>
          </a:p>
        </p:txBody>
      </p:sp>
      <p:sp>
        <p:nvSpPr>
          <p:cNvPr id="13" name="TextBox 12"/>
          <p:cNvSpPr txBox="1"/>
          <p:nvPr/>
        </p:nvSpPr>
        <p:spPr>
          <a:xfrm>
            <a:off x="7013448" y="2029968"/>
            <a:ext cx="1444752" cy="402336"/>
          </a:xfrm>
          <a:prstGeom prst="rect">
            <a:avLst/>
          </a:prstGeom>
          <a:noFill/>
        </p:spPr>
        <p:txBody>
          <a:bodyPr wrap="square" anchor="ctr" lIns="0" rIns="0" tIns="0" bIns="0">
            <a:spAutoFit/>
          </a:bodyPr>
          <a:lstStyle/>
          <a:p>
            <a:pPr algn="l">
              <a:spcAft>
                <a:spcPts val="600"/>
              </a:spcAft>
            </a:pPr>
            <a:r>
              <a:rPr sz="1200" b="1" i="0">
                <a:solidFill>
                  <a:srgbClr val="6CC9EC"/>
                </a:solidFill>
                <a:latin typeface="Kaspersky Sans Display"/>
              </a:rPr>
              <a:t>Anchor</a:t>
            </a:r>
          </a:p>
        </p:txBody>
      </p:sp>
      <p:sp>
        <p:nvSpPr>
          <p:cNvPr id="14" name="Rounded Rectangle 13"/>
          <p:cNvSpPr/>
          <p:nvPr/>
        </p:nvSpPr>
        <p:spPr>
          <a:xfrm>
            <a:off x="548640" y="2459736"/>
            <a:ext cx="7955279" cy="34747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432304"/>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Due to KL</a:t>
            </a:r>
          </a:p>
        </p:txBody>
      </p:sp>
      <p:sp>
        <p:nvSpPr>
          <p:cNvPr id="16" name="TextBox 15"/>
          <p:cNvSpPr txBox="1"/>
          <p:nvPr/>
        </p:nvSpPr>
        <p:spPr>
          <a:xfrm>
            <a:off x="2898648" y="2432304"/>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taken as correct</a:t>
            </a:r>
          </a:p>
        </p:txBody>
      </p:sp>
      <p:sp>
        <p:nvSpPr>
          <p:cNvPr id="17" name="TextBox 16"/>
          <p:cNvSpPr txBox="1"/>
          <p:nvPr/>
        </p:nvSpPr>
        <p:spPr>
          <a:xfrm>
            <a:off x="5779007" y="2432304"/>
            <a:ext cx="107899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18.65</a:t>
            </a:r>
          </a:p>
        </p:txBody>
      </p:sp>
      <p:sp>
        <p:nvSpPr>
          <p:cNvPr id="18" name="TextBox 17"/>
          <p:cNvSpPr txBox="1"/>
          <p:nvPr/>
        </p:nvSpPr>
        <p:spPr>
          <a:xfrm>
            <a:off x="7013448" y="2432304"/>
            <a:ext cx="1444752" cy="402336"/>
          </a:xfrm>
          <a:prstGeom prst="rect">
            <a:avLst/>
          </a:prstGeom>
          <a:noFill/>
        </p:spPr>
        <p:txBody>
          <a:bodyPr wrap="square" anchor="ctr" lIns="0" rIns="0" tIns="0" bIns="0">
            <a:spAutoFit/>
          </a:bodyPr>
          <a:lstStyle/>
          <a:p>
            <a:pPr algn="l">
              <a:spcAft>
                <a:spcPts val="600"/>
              </a:spcAft>
            </a:pPr>
            <a:r>
              <a:rPr sz="1200" b="1" i="0">
                <a:solidFill>
                  <a:srgbClr val="6CC9EC"/>
                </a:solidFill>
                <a:latin typeface="Kaspersky Sans Display"/>
              </a:rPr>
              <a:t>Anchor</a:t>
            </a:r>
          </a:p>
        </p:txBody>
      </p:sp>
      <p:sp>
        <p:nvSpPr>
          <p:cNvPr id="19" name="TextBox 18"/>
          <p:cNvSpPr txBox="1"/>
          <p:nvPr/>
        </p:nvSpPr>
        <p:spPr>
          <a:xfrm>
            <a:off x="658368" y="2834640"/>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Customer amount without taxes</a:t>
            </a:r>
          </a:p>
        </p:txBody>
      </p:sp>
      <p:sp>
        <p:nvSpPr>
          <p:cNvPr id="20" name="TextBox 19"/>
          <p:cNvSpPr txBox="1"/>
          <p:nvPr/>
        </p:nvSpPr>
        <p:spPr>
          <a:xfrm>
            <a:off x="2898648" y="2834640"/>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23.99 / 1.19 = 20.16</a:t>
            </a:r>
          </a:p>
        </p:txBody>
      </p:sp>
      <p:sp>
        <p:nvSpPr>
          <p:cNvPr id="21" name="TextBox 20"/>
          <p:cNvSpPr txBox="1"/>
          <p:nvPr/>
        </p:nvSpPr>
        <p:spPr>
          <a:xfrm>
            <a:off x="5779007" y="2834640"/>
            <a:ext cx="107899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20.16</a:t>
            </a:r>
          </a:p>
        </p:txBody>
      </p:sp>
      <p:sp>
        <p:nvSpPr>
          <p:cNvPr id="22" name="TextBox 21"/>
          <p:cNvSpPr txBox="1"/>
          <p:nvPr/>
        </p:nvSpPr>
        <p:spPr>
          <a:xfrm>
            <a:off x="7013448" y="2834640"/>
            <a:ext cx="1444752" cy="402336"/>
          </a:xfrm>
          <a:prstGeom prst="rect">
            <a:avLst/>
          </a:prstGeom>
          <a:noFill/>
        </p:spPr>
        <p:txBody>
          <a:bodyPr wrap="square" anchor="ctr" lIns="0" rIns="0" tIns="0" bIns="0">
            <a:spAutoFit/>
          </a:bodyPr>
          <a:lstStyle/>
          <a:p>
            <a:pPr algn="l">
              <a:spcAft>
                <a:spcPts val="600"/>
              </a:spcAft>
            </a:pPr>
            <a:r>
              <a:rPr sz="1200" b="1" i="0">
                <a:solidFill>
                  <a:srgbClr val="3DC4A2"/>
                </a:solidFill>
                <a:latin typeface="Kaspersky Sans Display"/>
              </a:rPr>
              <a:t>✓</a:t>
            </a:r>
          </a:p>
        </p:txBody>
      </p:sp>
      <p:sp>
        <p:nvSpPr>
          <p:cNvPr id="23" name="Rectangle 22"/>
          <p:cNvSpPr/>
          <p:nvPr/>
        </p:nvSpPr>
        <p:spPr>
          <a:xfrm>
            <a:off x="548640" y="3227832"/>
            <a:ext cx="7955279"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236976"/>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VAT amount</a:t>
            </a:r>
          </a:p>
        </p:txBody>
      </p:sp>
      <p:sp>
        <p:nvSpPr>
          <p:cNvPr id="25" name="TextBox 24"/>
          <p:cNvSpPr txBox="1"/>
          <p:nvPr/>
        </p:nvSpPr>
        <p:spPr>
          <a:xfrm>
            <a:off x="2898648" y="3236976"/>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23.99 − 20.16 = 3.83</a:t>
            </a:r>
          </a:p>
        </p:txBody>
      </p:sp>
      <p:sp>
        <p:nvSpPr>
          <p:cNvPr id="26" name="TextBox 25"/>
          <p:cNvSpPr txBox="1"/>
          <p:nvPr/>
        </p:nvSpPr>
        <p:spPr>
          <a:xfrm>
            <a:off x="5779007" y="3236976"/>
            <a:ext cx="107899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3.83</a:t>
            </a:r>
          </a:p>
        </p:txBody>
      </p:sp>
      <p:sp>
        <p:nvSpPr>
          <p:cNvPr id="27" name="TextBox 26"/>
          <p:cNvSpPr txBox="1"/>
          <p:nvPr/>
        </p:nvSpPr>
        <p:spPr>
          <a:xfrm>
            <a:off x="7013448" y="3236976"/>
            <a:ext cx="1444752" cy="402336"/>
          </a:xfrm>
          <a:prstGeom prst="rect">
            <a:avLst/>
          </a:prstGeom>
          <a:noFill/>
        </p:spPr>
        <p:txBody>
          <a:bodyPr wrap="square" anchor="ctr" lIns="0" rIns="0" tIns="0" bIns="0">
            <a:spAutoFit/>
          </a:bodyPr>
          <a:lstStyle/>
          <a:p>
            <a:pPr algn="l">
              <a:spcAft>
                <a:spcPts val="600"/>
              </a:spcAft>
            </a:pPr>
            <a:r>
              <a:rPr sz="1200" b="1" i="0">
                <a:solidFill>
                  <a:srgbClr val="3DC4A2"/>
                </a:solidFill>
                <a:latin typeface="Kaspersky Sans Display"/>
              </a:rPr>
              <a:t>✓</a:t>
            </a:r>
          </a:p>
        </p:txBody>
      </p:sp>
      <p:sp>
        <p:nvSpPr>
          <p:cNvPr id="28" name="Rectangle 27"/>
          <p:cNvSpPr/>
          <p:nvPr/>
        </p:nvSpPr>
        <p:spPr>
          <a:xfrm>
            <a:off x="548640" y="3630168"/>
            <a:ext cx="7955279"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639312"/>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VAT rate</a:t>
            </a:r>
          </a:p>
        </p:txBody>
      </p:sp>
      <p:sp>
        <p:nvSpPr>
          <p:cNvPr id="30" name="TextBox 29"/>
          <p:cNvSpPr txBox="1"/>
          <p:nvPr/>
        </p:nvSpPr>
        <p:spPr>
          <a:xfrm>
            <a:off x="2898648" y="3639312"/>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23.99 / 20.16 − 1 = 19%</a:t>
            </a:r>
          </a:p>
        </p:txBody>
      </p:sp>
      <p:sp>
        <p:nvSpPr>
          <p:cNvPr id="31" name="TextBox 30"/>
          <p:cNvSpPr txBox="1"/>
          <p:nvPr/>
        </p:nvSpPr>
        <p:spPr>
          <a:xfrm>
            <a:off x="5779007" y="3639312"/>
            <a:ext cx="1078992" cy="402336"/>
          </a:xfrm>
          <a:prstGeom prst="rect">
            <a:avLst/>
          </a:prstGeom>
          <a:noFill/>
        </p:spPr>
        <p:txBody>
          <a:bodyPr wrap="square" anchor="ctr" lIns="0" rIns="0" tIns="0" bIns="0">
            <a:spAutoFit/>
          </a:bodyPr>
          <a:lstStyle/>
          <a:p>
            <a:pPr algn="l">
              <a:spcAft>
                <a:spcPts val="600"/>
              </a:spcAft>
            </a:pPr>
            <a:r>
              <a:rPr sz="1200" b="1" i="0">
                <a:solidFill>
                  <a:srgbClr val="F2667F"/>
                </a:solidFill>
                <a:latin typeface="Kaspersky Sans Display"/>
              </a:rPr>
              <a:t>not stored</a:t>
            </a:r>
          </a:p>
        </p:txBody>
      </p:sp>
      <p:sp>
        <p:nvSpPr>
          <p:cNvPr id="32" name="TextBox 31"/>
          <p:cNvSpPr txBox="1"/>
          <p:nvPr/>
        </p:nvSpPr>
        <p:spPr>
          <a:xfrm>
            <a:off x="7013448" y="3639312"/>
            <a:ext cx="1444752" cy="402336"/>
          </a:xfrm>
          <a:prstGeom prst="rect">
            <a:avLst/>
          </a:prstGeom>
          <a:noFill/>
        </p:spPr>
        <p:txBody>
          <a:bodyPr wrap="square" anchor="ctr" lIns="0" rIns="0" tIns="0" bIns="0">
            <a:spAutoFit/>
          </a:bodyPr>
          <a:lstStyle/>
          <a:p>
            <a:pPr algn="l">
              <a:spcAft>
                <a:spcPts val="600"/>
              </a:spcAft>
            </a:pPr>
            <a:r>
              <a:rPr sz="1200" b="1" i="0">
                <a:solidFill>
                  <a:srgbClr val="3DC4A2"/>
                </a:solidFill>
                <a:latin typeface="Kaspersky Sans Display"/>
              </a:rPr>
              <a:t>✓  = Germany, inferred</a:t>
            </a:r>
          </a:p>
        </p:txBody>
      </p:sp>
      <p:sp>
        <p:nvSpPr>
          <p:cNvPr id="33" name="Rectangle 32"/>
          <p:cNvSpPr/>
          <p:nvPr/>
        </p:nvSpPr>
        <p:spPr>
          <a:xfrm>
            <a:off x="548640" y="4032504"/>
            <a:ext cx="7955279"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041648"/>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Partner fee</a:t>
            </a:r>
          </a:p>
        </p:txBody>
      </p:sp>
      <p:sp>
        <p:nvSpPr>
          <p:cNvPr id="35" name="TextBox 34"/>
          <p:cNvSpPr txBox="1"/>
          <p:nvPr/>
        </p:nvSpPr>
        <p:spPr>
          <a:xfrm>
            <a:off x="2898648" y="4041648"/>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20.16 − 18.65 = 1.51 (7.5%)</a:t>
            </a:r>
          </a:p>
        </p:txBody>
      </p:sp>
      <p:sp>
        <p:nvSpPr>
          <p:cNvPr id="36" name="TextBox 35"/>
          <p:cNvSpPr txBox="1"/>
          <p:nvPr/>
        </p:nvSpPr>
        <p:spPr>
          <a:xfrm>
            <a:off x="5779007" y="4041648"/>
            <a:ext cx="107899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1.51</a:t>
            </a:r>
          </a:p>
        </p:txBody>
      </p:sp>
      <p:sp>
        <p:nvSpPr>
          <p:cNvPr id="37" name="TextBox 36"/>
          <p:cNvSpPr txBox="1"/>
          <p:nvPr/>
        </p:nvSpPr>
        <p:spPr>
          <a:xfrm>
            <a:off x="7013448" y="4041648"/>
            <a:ext cx="1444752" cy="402336"/>
          </a:xfrm>
          <a:prstGeom prst="rect">
            <a:avLst/>
          </a:prstGeom>
          <a:noFill/>
        </p:spPr>
        <p:txBody>
          <a:bodyPr wrap="square" anchor="ctr" lIns="0" rIns="0" tIns="0" bIns="0">
            <a:spAutoFit/>
          </a:bodyPr>
          <a:lstStyle/>
          <a:p>
            <a:pPr algn="l">
              <a:spcAft>
                <a:spcPts val="600"/>
              </a:spcAft>
            </a:pPr>
            <a:r>
              <a:rPr sz="1200" b="1" i="0">
                <a:solidFill>
                  <a:srgbClr val="3DC4A2"/>
                </a:solidFill>
                <a:latin typeface="Kaspersky Sans Display"/>
              </a:rPr>
              <a:t>✓</a:t>
            </a:r>
          </a:p>
        </p:txBody>
      </p:sp>
      <p:sp>
        <p:nvSpPr>
          <p:cNvPr id="38" name="Rectangle 37"/>
          <p:cNvSpPr/>
          <p:nvPr/>
        </p:nvSpPr>
        <p:spPr>
          <a:xfrm>
            <a:off x="548640" y="4434840"/>
            <a:ext cx="7955279"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4443984"/>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MSRP with taxes</a:t>
            </a:r>
          </a:p>
        </p:txBody>
      </p:sp>
      <p:sp>
        <p:nvSpPr>
          <p:cNvPr id="40" name="TextBox 39"/>
          <p:cNvSpPr txBox="1"/>
          <p:nvPr/>
        </p:nvSpPr>
        <p:spPr>
          <a:xfrm>
            <a:off x="2898648" y="4443984"/>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59.99 only from </a:t>
            </a:r>
            <a:r>
              <a:rPr sz="1200" b="1" i="0">
                <a:solidFill>
                  <a:srgbClr val="B8C2D0"/>
                </a:solidFill>
                <a:latin typeface="Kaspersky Sans Display"/>
              </a:rPr>
              <a:t>WebPriceList</a:t>
            </a:r>
          </a:p>
        </p:txBody>
      </p:sp>
      <p:sp>
        <p:nvSpPr>
          <p:cNvPr id="41" name="TextBox 40"/>
          <p:cNvSpPr txBox="1"/>
          <p:nvPr/>
        </p:nvSpPr>
        <p:spPr>
          <a:xfrm>
            <a:off x="5779007" y="4443984"/>
            <a:ext cx="1078992" cy="402336"/>
          </a:xfrm>
          <a:prstGeom prst="rect">
            <a:avLst/>
          </a:prstGeom>
          <a:noFill/>
        </p:spPr>
        <p:txBody>
          <a:bodyPr wrap="square" anchor="ctr" lIns="0" rIns="0" tIns="0" bIns="0">
            <a:spAutoFit/>
          </a:bodyPr>
          <a:lstStyle/>
          <a:p>
            <a:pPr algn="l">
              <a:spcAft>
                <a:spcPts val="600"/>
              </a:spcAft>
            </a:pPr>
            <a:r>
              <a:rPr sz="1200" b="1" i="0">
                <a:solidFill>
                  <a:srgbClr val="F2667F"/>
                </a:solidFill>
                <a:latin typeface="Kaspersky Sans Display"/>
              </a:rPr>
              <a:t>not stored</a:t>
            </a:r>
          </a:p>
        </p:txBody>
      </p:sp>
      <p:sp>
        <p:nvSpPr>
          <p:cNvPr id="42" name="TextBox 41"/>
          <p:cNvSpPr txBox="1"/>
          <p:nvPr/>
        </p:nvSpPr>
        <p:spPr>
          <a:xfrm>
            <a:off x="7013448" y="4443984"/>
            <a:ext cx="1444752" cy="402336"/>
          </a:xfrm>
          <a:prstGeom prst="rect">
            <a:avLst/>
          </a:prstGeom>
          <a:noFill/>
        </p:spPr>
        <p:txBody>
          <a:bodyPr wrap="square" anchor="ctr" lIns="0" rIns="0" tIns="0" bIns="0">
            <a:spAutoFit/>
          </a:bodyPr>
          <a:lstStyle/>
          <a:p>
            <a:pPr algn="l">
              <a:spcAft>
                <a:spcPts val="600"/>
              </a:spcAft>
            </a:pPr>
            <a:r>
              <a:rPr sz="1200" b="1" i="0">
                <a:solidFill>
                  <a:srgbClr val="F2667F"/>
                </a:solidFill>
                <a:latin typeface="Kaspersky Sans Display"/>
              </a:rPr>
              <a:t>✗  missing</a:t>
            </a:r>
          </a:p>
        </p:txBody>
      </p:sp>
      <p:sp>
        <p:nvSpPr>
          <p:cNvPr id="43" name="Rectangle 42"/>
          <p:cNvSpPr/>
          <p:nvPr/>
        </p:nvSpPr>
        <p:spPr>
          <a:xfrm>
            <a:off x="548640" y="4837176"/>
            <a:ext cx="7955279"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4846320"/>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Discount amount (with taxes)</a:t>
            </a:r>
          </a:p>
        </p:txBody>
      </p:sp>
      <p:sp>
        <p:nvSpPr>
          <p:cNvPr id="45" name="TextBox 44"/>
          <p:cNvSpPr txBox="1"/>
          <p:nvPr/>
        </p:nvSpPr>
        <p:spPr>
          <a:xfrm>
            <a:off x="2898648" y="4846320"/>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59.99 − 23.99 = 36.00</a:t>
            </a:r>
          </a:p>
        </p:txBody>
      </p:sp>
      <p:sp>
        <p:nvSpPr>
          <p:cNvPr id="46" name="TextBox 45"/>
          <p:cNvSpPr txBox="1"/>
          <p:nvPr/>
        </p:nvSpPr>
        <p:spPr>
          <a:xfrm>
            <a:off x="5779007" y="4846320"/>
            <a:ext cx="1078992" cy="402336"/>
          </a:xfrm>
          <a:prstGeom prst="rect">
            <a:avLst/>
          </a:prstGeom>
          <a:noFill/>
        </p:spPr>
        <p:txBody>
          <a:bodyPr wrap="square" anchor="ctr" lIns="0" rIns="0" tIns="0" bIns="0">
            <a:spAutoFit/>
          </a:bodyPr>
          <a:lstStyle/>
          <a:p>
            <a:pPr algn="l">
              <a:spcAft>
                <a:spcPts val="600"/>
              </a:spcAft>
            </a:pPr>
            <a:r>
              <a:rPr sz="1200" b="1" i="0">
                <a:solidFill>
                  <a:srgbClr val="F2667F"/>
                </a:solidFill>
                <a:latin typeface="Kaspersky Sans Display"/>
              </a:rPr>
              <a:t>30.25 (no tax)</a:t>
            </a:r>
          </a:p>
        </p:txBody>
      </p:sp>
      <p:sp>
        <p:nvSpPr>
          <p:cNvPr id="47" name="TextBox 46"/>
          <p:cNvSpPr txBox="1"/>
          <p:nvPr/>
        </p:nvSpPr>
        <p:spPr>
          <a:xfrm>
            <a:off x="7013448" y="4846320"/>
            <a:ext cx="1444752" cy="402336"/>
          </a:xfrm>
          <a:prstGeom prst="rect">
            <a:avLst/>
          </a:prstGeom>
          <a:noFill/>
        </p:spPr>
        <p:txBody>
          <a:bodyPr wrap="square" anchor="ctr" lIns="0" rIns="0" tIns="0" bIns="0">
            <a:spAutoFit/>
          </a:bodyPr>
          <a:lstStyle/>
          <a:p>
            <a:pPr algn="l">
              <a:spcAft>
                <a:spcPts val="600"/>
              </a:spcAft>
            </a:pPr>
            <a:r>
              <a:rPr sz="1200" b="1" i="0">
                <a:solidFill>
                  <a:srgbClr val="F2667F"/>
                </a:solidFill>
                <a:latin typeface="Kaspersky Sans Display"/>
              </a:rPr>
              <a:t>✗  other tax basis</a:t>
            </a:r>
          </a:p>
        </p:txBody>
      </p:sp>
      <p:sp>
        <p:nvSpPr>
          <p:cNvPr id="48" name="Rectangle 47"/>
          <p:cNvSpPr/>
          <p:nvPr/>
        </p:nvSpPr>
        <p:spPr>
          <a:xfrm>
            <a:off x="548640" y="5239512"/>
            <a:ext cx="7955279" cy="9144"/>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58368" y="5248656"/>
            <a:ext cx="2084832" cy="402336"/>
          </a:xfrm>
          <a:prstGeom prst="rect">
            <a:avLst/>
          </a:prstGeom>
          <a:noFill/>
        </p:spPr>
        <p:txBody>
          <a:bodyPr wrap="square" anchor="ctr" lIns="0" rIns="0" tIns="0" bIns="0">
            <a:spAutoFit/>
          </a:bodyPr>
          <a:lstStyle/>
          <a:p>
            <a:pPr algn="l">
              <a:spcAft>
                <a:spcPts val="600"/>
              </a:spcAft>
            </a:pPr>
            <a:r>
              <a:rPr sz="1200" b="1" i="0">
                <a:solidFill>
                  <a:srgbClr val="FFFFFF"/>
                </a:solidFill>
                <a:latin typeface="Kaspersky Sans Display"/>
              </a:rPr>
              <a:t>Discount %</a:t>
            </a:r>
          </a:p>
        </p:txBody>
      </p:sp>
      <p:sp>
        <p:nvSpPr>
          <p:cNvPr id="50" name="TextBox 49"/>
          <p:cNvSpPr txBox="1"/>
          <p:nvPr/>
        </p:nvSpPr>
        <p:spPr>
          <a:xfrm>
            <a:off x="2898648" y="5248656"/>
            <a:ext cx="2724912" cy="402336"/>
          </a:xfrm>
          <a:prstGeom prst="rect">
            <a:avLst/>
          </a:prstGeom>
          <a:noFill/>
        </p:spPr>
        <p:txBody>
          <a:bodyPr wrap="square" anchor="ctr" lIns="0" rIns="0" tIns="0" bIns="0">
            <a:spAutoFit/>
          </a:bodyPr>
          <a:lstStyle/>
          <a:p>
            <a:pPr algn="l">
              <a:spcAft>
                <a:spcPts val="600"/>
              </a:spcAft>
            </a:pPr>
            <a:r>
              <a:rPr sz="1200" b="0" i="0">
                <a:solidFill>
                  <a:srgbClr val="B8C2D0"/>
                </a:solidFill>
                <a:latin typeface="Kaspersky Sans Display"/>
              </a:rPr>
              <a:t>36.00 / 59.99 = 60%</a:t>
            </a:r>
          </a:p>
        </p:txBody>
      </p:sp>
      <p:sp>
        <p:nvSpPr>
          <p:cNvPr id="51" name="TextBox 50"/>
          <p:cNvSpPr txBox="1"/>
          <p:nvPr/>
        </p:nvSpPr>
        <p:spPr>
          <a:xfrm>
            <a:off x="5779007" y="5248656"/>
            <a:ext cx="1078992" cy="402336"/>
          </a:xfrm>
          <a:prstGeom prst="rect">
            <a:avLst/>
          </a:prstGeom>
          <a:noFill/>
        </p:spPr>
        <p:txBody>
          <a:bodyPr wrap="square" anchor="ctr" lIns="0" rIns="0" tIns="0" bIns="0">
            <a:spAutoFit/>
          </a:bodyPr>
          <a:lstStyle/>
          <a:p>
            <a:pPr algn="l">
              <a:spcAft>
                <a:spcPts val="600"/>
              </a:spcAft>
            </a:pPr>
            <a:r>
              <a:rPr sz="1200" b="1" i="0">
                <a:solidFill>
                  <a:srgbClr val="F2667F"/>
                </a:solidFill>
                <a:latin typeface="Kaspersky Sans Display"/>
              </a:rPr>
              <a:t>not stored</a:t>
            </a:r>
          </a:p>
        </p:txBody>
      </p:sp>
      <p:sp>
        <p:nvSpPr>
          <p:cNvPr id="52" name="TextBox 51"/>
          <p:cNvSpPr txBox="1"/>
          <p:nvPr/>
        </p:nvSpPr>
        <p:spPr>
          <a:xfrm>
            <a:off x="7013448" y="5248656"/>
            <a:ext cx="1444752" cy="402336"/>
          </a:xfrm>
          <a:prstGeom prst="rect">
            <a:avLst/>
          </a:prstGeom>
          <a:noFill/>
        </p:spPr>
        <p:txBody>
          <a:bodyPr wrap="square" anchor="ctr" lIns="0" rIns="0" tIns="0" bIns="0">
            <a:spAutoFit/>
          </a:bodyPr>
          <a:lstStyle/>
          <a:p>
            <a:pPr algn="l">
              <a:spcAft>
                <a:spcPts val="600"/>
              </a:spcAft>
            </a:pPr>
            <a:r>
              <a:rPr sz="1200" b="1" i="0">
                <a:solidFill>
                  <a:srgbClr val="F2667F"/>
                </a:solidFill>
                <a:latin typeface="Kaspersky Sans Display"/>
              </a:rPr>
              <a:t>✗  missing</a:t>
            </a:r>
          </a:p>
        </p:txBody>
      </p:sp>
      <p:sp>
        <p:nvSpPr>
          <p:cNvPr id="53" name="TextBox 52"/>
          <p:cNvSpPr txBox="1"/>
          <p:nvPr/>
        </p:nvSpPr>
        <p:spPr>
          <a:xfrm>
            <a:off x="8778240" y="1600200"/>
            <a:ext cx="2864815" cy="1188720"/>
          </a:xfrm>
          <a:prstGeom prst="rect">
            <a:avLst/>
          </a:prstGeom>
          <a:noFill/>
        </p:spPr>
        <p:txBody>
          <a:bodyPr wrap="square" anchor="t" lIns="0" rIns="0" tIns="0" bIns="0">
            <a:spAutoFit/>
          </a:bodyPr>
          <a:lstStyle/>
          <a:p>
            <a:pPr algn="l">
              <a:spcAft>
                <a:spcPts val="300"/>
              </a:spcAft>
            </a:pPr>
            <a:r>
              <a:rPr sz="1500" b="1" i="0">
                <a:solidFill>
                  <a:srgbClr val="3DC4A2"/>
                </a:solidFill>
                <a:latin typeface="Kaspersky Sans Display"/>
              </a:rPr>
              <a:t>What matches</a:t>
            </a:r>
          </a:p>
          <a:p>
            <a:pPr algn="l">
              <a:spcAft>
                <a:spcPts val="300"/>
              </a:spcAft>
            </a:pPr>
            <a:r>
              <a:rPr sz="1300" b="0" i="0">
                <a:solidFill>
                  <a:srgbClr val="FFFFFF"/>
                </a:solidFill>
                <a:latin typeface="Kaspersky Sans Display"/>
              </a:rPr>
              <a:t>From the two anchors we rebuild the amount without taxes, the VAT, the 19% rate and the partner fee, to the cent.</a:t>
            </a:r>
          </a:p>
        </p:txBody>
      </p:sp>
      <p:sp>
        <p:nvSpPr>
          <p:cNvPr id="54" name="TextBox 53"/>
          <p:cNvSpPr txBox="1"/>
          <p:nvPr/>
        </p:nvSpPr>
        <p:spPr>
          <a:xfrm>
            <a:off x="8778240" y="2880360"/>
            <a:ext cx="2864815" cy="1600200"/>
          </a:xfrm>
          <a:prstGeom prst="rect">
            <a:avLst/>
          </a:prstGeom>
          <a:noFill/>
        </p:spPr>
        <p:txBody>
          <a:bodyPr wrap="square" anchor="t" lIns="0" rIns="0" tIns="0" bIns="0">
            <a:spAutoFit/>
          </a:bodyPr>
          <a:lstStyle/>
          <a:p>
            <a:pPr algn="l">
              <a:spcAft>
                <a:spcPts val="300"/>
              </a:spcAft>
            </a:pPr>
            <a:r>
              <a:rPr sz="1500" b="1" i="0">
                <a:solidFill>
                  <a:srgbClr val="F2667F"/>
                </a:solidFill>
                <a:latin typeface="Kaspersky Sans Display"/>
              </a:rPr>
              <a:t>What does not</a:t>
            </a:r>
          </a:p>
          <a:p>
            <a:pPr algn="l">
              <a:spcAft>
                <a:spcPts val="300"/>
              </a:spcAft>
            </a:pPr>
            <a:r>
              <a:rPr sz="1300" b="0" i="0">
                <a:solidFill>
                  <a:srgbClr val="FFFFFF"/>
                </a:solidFill>
                <a:latin typeface="Kaspersky Sans Display"/>
              </a:rPr>
              <a:t>No MSRP, so no discount %. The discount is stored without taxes: 30.25 × 1.19 = 36.00.</a:t>
            </a:r>
          </a:p>
          <a:p>
            <a:pPr algn="l">
              <a:spcAft>
                <a:spcPts val="300"/>
              </a:spcAft>
            </a:pPr>
            <a:r>
              <a:rPr sz="1400" b="1" i="0">
                <a:solidFill>
                  <a:srgbClr val="F2667F"/>
                </a:solidFill>
                <a:latin typeface="Kaspersky Sans Display"/>
              </a:rPr>
              <a:t>23.99 + 30.25 = €54.24 ≠ €59.99  ✗</a:t>
            </a:r>
          </a:p>
        </p:txBody>
      </p:sp>
      <p:sp>
        <p:nvSpPr>
          <p:cNvPr id="55" name="TextBox 54"/>
          <p:cNvSpPr txBox="1"/>
          <p:nvPr/>
        </p:nvSpPr>
        <p:spPr>
          <a:xfrm>
            <a:off x="8778240" y="4572000"/>
            <a:ext cx="2864815" cy="1097280"/>
          </a:xfrm>
          <a:prstGeom prst="rect">
            <a:avLst/>
          </a:prstGeom>
          <a:noFill/>
        </p:spPr>
        <p:txBody>
          <a:bodyPr wrap="square" anchor="t" lIns="0" rIns="0" tIns="0" bIns="0">
            <a:spAutoFit/>
          </a:bodyPr>
          <a:lstStyle/>
          <a:p>
            <a:pPr algn="l">
              <a:spcAft>
                <a:spcPts val="300"/>
              </a:spcAft>
            </a:pPr>
            <a:r>
              <a:rPr sz="1500" b="1" i="0">
                <a:solidFill>
                  <a:srgbClr val="EEDB5C"/>
                </a:solidFill>
                <a:latin typeface="Kaspersky Sans Display"/>
              </a:rPr>
              <a:t>Open point: no VAT</a:t>
            </a:r>
          </a:p>
          <a:p>
            <a:pPr algn="l">
              <a:spcAft>
                <a:spcPts val="300"/>
              </a:spcAft>
            </a:pPr>
            <a:r>
              <a:rPr sz="1300" b="0" i="0">
                <a:solidFill>
                  <a:srgbClr val="FFFFFF"/>
                </a:solidFill>
                <a:latin typeface="Kaspersky Sans Display"/>
              </a:rPr>
              <a:t>If with taxes = without taxes, is the VAT 0, or a missing value? The table does not say it.</a:t>
            </a:r>
          </a:p>
        </p:txBody>
      </p:sp>
      <p:sp>
        <p:nvSpPr>
          <p:cNvPr id="56" name="Rounded Rectangle 55"/>
          <p:cNvSpPr/>
          <p:nvPr/>
        </p:nvSpPr>
        <p:spPr>
          <a:xfrm>
            <a:off x="548640" y="5897880"/>
            <a:ext cx="11094415" cy="548640"/>
          </a:xfrm>
          <a:prstGeom prst="roundRect">
            <a:avLst>
              <a:gd name="adj" fmla="val 12000"/>
            </a:avLst>
          </a:prstGeom>
          <a:solidFill>
            <a:srgbClr val="2A2E37"/>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The split follows the model. The MSRP and the discount on its tax basis are missing.</a:t>
            </a:r>
          </a:p>
        </p:txBody>
      </p:sp>
      <p:sp>
        <p:nvSpPr>
          <p:cNvPr id="57" name="TextBox 56"/>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15</a:t>
            </a:r>
          </a:p>
        </p:txBody>
      </p:sp>
      <p:sp>
        <p:nvSpPr>
          <p:cNvPr id="58" name="Rounded Rectangle 57"/>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Do we need to store the MSRP, or can we infer it?</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In theory yes, with basic arithmetic. In practice, the fields we have today do not allow it</a:t>
            </a:r>
          </a:p>
        </p:txBody>
      </p:sp>
      <p:sp>
        <p:nvSpPr>
          <p:cNvPr id="4" name="TextBox 3"/>
          <p:cNvSpPr txBox="1"/>
          <p:nvPr/>
        </p:nvSpPr>
        <p:spPr>
          <a:xfrm>
            <a:off x="548640" y="1600200"/>
            <a:ext cx="5394960" cy="365760"/>
          </a:xfrm>
          <a:prstGeom prst="rect">
            <a:avLst/>
          </a:prstGeom>
          <a:noFill/>
        </p:spPr>
        <p:txBody>
          <a:bodyPr wrap="square" anchor="t" lIns="0" rIns="0" tIns="0" bIns="0">
            <a:spAutoFit/>
          </a:bodyPr>
          <a:lstStyle/>
          <a:p>
            <a:pPr algn="l">
              <a:spcAft>
                <a:spcPts val="600"/>
              </a:spcAft>
            </a:pPr>
            <a:r>
              <a:rPr sz="1900" b="1" i="0">
                <a:solidFill>
                  <a:srgbClr val="149A7A"/>
                </a:solidFill>
                <a:latin typeface="Kaspersky Sans Display"/>
              </a:rPr>
              <a:t>In theory: yes, basic arithmetic</a:t>
            </a:r>
          </a:p>
        </p:txBody>
      </p:sp>
      <p:sp>
        <p:nvSpPr>
          <p:cNvPr id="5" name="Rectangle 4"/>
          <p:cNvSpPr/>
          <p:nvPr/>
        </p:nvSpPr>
        <p:spPr>
          <a:xfrm>
            <a:off x="548640" y="2377440"/>
            <a:ext cx="4572000"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37744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93207" y="237744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29968"/>
            <a:ext cx="4572000"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MSRP with taxes = ?   →   70 + 30 = €100</a:t>
            </a:r>
          </a:p>
        </p:txBody>
      </p:sp>
      <p:sp>
        <p:nvSpPr>
          <p:cNvPr id="9" name="Rectangle 8"/>
          <p:cNvSpPr/>
          <p:nvPr/>
        </p:nvSpPr>
        <p:spPr>
          <a:xfrm>
            <a:off x="548640" y="2560320"/>
            <a:ext cx="3200400" cy="59436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Customer amount with taxes</a:t>
            </a:r>
          </a:p>
          <a:p>
            <a:pPr algn="ctr">
              <a:spcAft>
                <a:spcPts val="0"/>
              </a:spcAft>
            </a:pPr>
            <a:r>
              <a:rPr sz="1200" b="1" i="0">
                <a:solidFill>
                  <a:srgbClr val="14171C"/>
                </a:solidFill>
                <a:latin typeface="Kaspersky Sans Display"/>
              </a:rPr>
              <a:t>€70</a:t>
            </a:r>
          </a:p>
        </p:txBody>
      </p:sp>
      <p:sp>
        <p:nvSpPr>
          <p:cNvPr id="10" name="Rectangle 9"/>
          <p:cNvSpPr/>
          <p:nvPr/>
        </p:nvSpPr>
        <p:spPr>
          <a:xfrm>
            <a:off x="3749039" y="2560320"/>
            <a:ext cx="1371600" cy="59436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Discount amount</a:t>
            </a:r>
          </a:p>
          <a:p>
            <a:pPr algn="ctr">
              <a:spcAft>
                <a:spcPts val="0"/>
              </a:spcAft>
            </a:pPr>
            <a:r>
              <a:rPr sz="1200" b="1" i="0">
                <a:solidFill>
                  <a:srgbClr val="14171C"/>
                </a:solidFill>
                <a:latin typeface="Kaspersky Sans Display"/>
              </a:rPr>
              <a:t>€30</a:t>
            </a:r>
          </a:p>
        </p:txBody>
      </p:sp>
      <p:sp>
        <p:nvSpPr>
          <p:cNvPr id="11" name="TextBox 10"/>
          <p:cNvSpPr txBox="1"/>
          <p:nvPr/>
        </p:nvSpPr>
        <p:spPr>
          <a:xfrm>
            <a:off x="548640" y="3383280"/>
            <a:ext cx="5394960" cy="365760"/>
          </a:xfrm>
          <a:prstGeom prst="rect">
            <a:avLst/>
          </a:prstGeom>
          <a:noFill/>
        </p:spPr>
        <p:txBody>
          <a:bodyPr wrap="square" anchor="t" lIns="0" rIns="0" tIns="0" bIns="0">
            <a:spAutoFit/>
          </a:bodyPr>
          <a:lstStyle/>
          <a:p>
            <a:pPr algn="l">
              <a:spcAft>
                <a:spcPts val="600"/>
              </a:spcAft>
            </a:pPr>
            <a:r>
              <a:rPr sz="1500" b="1" i="0">
                <a:solidFill>
                  <a:srgbClr val="1F2937"/>
                </a:solidFill>
                <a:latin typeface="Kaspersky Sans Display"/>
              </a:rPr>
              <a:t>It only works if the values are right:</a:t>
            </a:r>
          </a:p>
        </p:txBody>
      </p:sp>
      <p:sp>
        <p:nvSpPr>
          <p:cNvPr id="12" name="Oval 11"/>
          <p:cNvSpPr/>
          <p:nvPr/>
        </p:nvSpPr>
        <p:spPr>
          <a:xfrm>
            <a:off x="548640" y="3840480"/>
            <a:ext cx="411480" cy="41148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1</a:t>
            </a:r>
          </a:p>
        </p:txBody>
      </p:sp>
      <p:sp>
        <p:nvSpPr>
          <p:cNvPr id="13" name="TextBox 12"/>
          <p:cNvSpPr txBox="1"/>
          <p:nvPr/>
        </p:nvSpPr>
        <p:spPr>
          <a:xfrm>
            <a:off x="1143000" y="3813048"/>
            <a:ext cx="4800600" cy="502920"/>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The discount amount is the total discount: demand level + coupon + ladder, not only one part.</a:t>
            </a:r>
          </a:p>
        </p:txBody>
      </p:sp>
      <p:sp>
        <p:nvSpPr>
          <p:cNvPr id="14" name="Oval 13"/>
          <p:cNvSpPr/>
          <p:nvPr/>
        </p:nvSpPr>
        <p:spPr>
          <a:xfrm>
            <a:off x="548640" y="4407408"/>
            <a:ext cx="411480" cy="41148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2</a:t>
            </a:r>
          </a:p>
        </p:txBody>
      </p:sp>
      <p:sp>
        <p:nvSpPr>
          <p:cNvPr id="15" name="TextBox 14"/>
          <p:cNvSpPr txBox="1"/>
          <p:nvPr/>
        </p:nvSpPr>
        <p:spPr>
          <a:xfrm>
            <a:off x="1143000" y="4379976"/>
            <a:ext cx="4800600" cy="502920"/>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Both amounts are on the same tax basis.</a:t>
            </a:r>
          </a:p>
        </p:txBody>
      </p:sp>
      <p:sp>
        <p:nvSpPr>
          <p:cNvPr id="16" name="Oval 15"/>
          <p:cNvSpPr/>
          <p:nvPr/>
        </p:nvSpPr>
        <p:spPr>
          <a:xfrm>
            <a:off x="548640" y="4974336"/>
            <a:ext cx="411480" cy="411480"/>
          </a:xfrm>
          <a:prstGeom prst="ellipse">
            <a:avLst/>
          </a:prstGeom>
          <a:solidFill>
            <a:srgbClr val="149A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3</a:t>
            </a:r>
          </a:p>
        </p:txBody>
      </p:sp>
      <p:sp>
        <p:nvSpPr>
          <p:cNvPr id="17" name="TextBox 16"/>
          <p:cNvSpPr txBox="1"/>
          <p:nvPr/>
        </p:nvSpPr>
        <p:spPr>
          <a:xfrm>
            <a:off x="1143000" y="4946904"/>
            <a:ext cx="4800600" cy="502920"/>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The values are populated: no 0 or empty field when there is a discount.</a:t>
            </a:r>
          </a:p>
        </p:txBody>
      </p:sp>
      <p:sp>
        <p:nvSpPr>
          <p:cNvPr id="18" name="TextBox 17"/>
          <p:cNvSpPr txBox="1"/>
          <p:nvPr/>
        </p:nvSpPr>
        <p:spPr>
          <a:xfrm>
            <a:off x="6245352" y="1600200"/>
            <a:ext cx="5394960" cy="365760"/>
          </a:xfrm>
          <a:prstGeom prst="rect">
            <a:avLst/>
          </a:prstGeom>
          <a:noFill/>
        </p:spPr>
        <p:txBody>
          <a:bodyPr wrap="square" anchor="t" lIns="0" rIns="0" tIns="0" bIns="0">
            <a:spAutoFit/>
          </a:bodyPr>
          <a:lstStyle/>
          <a:p>
            <a:pPr algn="l">
              <a:spcAft>
                <a:spcPts val="600"/>
              </a:spcAft>
            </a:pPr>
            <a:r>
              <a:rPr sz="1900" b="1" i="0">
                <a:solidFill>
                  <a:srgbClr val="D42A4F"/>
                </a:solidFill>
                <a:latin typeface="Kaspersky Sans Display"/>
              </a:rPr>
              <a:t>In practice: what we infer today</a:t>
            </a:r>
          </a:p>
        </p:txBody>
      </p:sp>
      <p:sp>
        <p:nvSpPr>
          <p:cNvPr id="19" name="Rounded Rectangle 18"/>
          <p:cNvSpPr/>
          <p:nvPr/>
        </p:nvSpPr>
        <p:spPr>
          <a:xfrm>
            <a:off x="6245352" y="2103120"/>
            <a:ext cx="5394960" cy="1051560"/>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28232" y="2286000"/>
            <a:ext cx="731520" cy="347472"/>
          </a:xfrm>
          <a:prstGeom prst="roundRect">
            <a:avLst>
              <a:gd name="adj" fmla="val 12000"/>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Ex 3</a:t>
            </a:r>
          </a:p>
        </p:txBody>
      </p:sp>
      <p:sp>
        <p:nvSpPr>
          <p:cNvPr id="21" name="TextBox 20"/>
          <p:cNvSpPr txBox="1"/>
          <p:nvPr/>
        </p:nvSpPr>
        <p:spPr>
          <a:xfrm>
            <a:off x="7296912" y="2258568"/>
            <a:ext cx="2103120" cy="384048"/>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Demand level not stored</a:t>
            </a:r>
          </a:p>
        </p:txBody>
      </p:sp>
      <p:sp>
        <p:nvSpPr>
          <p:cNvPr id="22" name="TextBox 21"/>
          <p:cNvSpPr txBox="1"/>
          <p:nvPr/>
        </p:nvSpPr>
        <p:spPr>
          <a:xfrm>
            <a:off x="9354312" y="2258568"/>
            <a:ext cx="2103120" cy="384048"/>
          </a:xfrm>
          <a:prstGeom prst="rect">
            <a:avLst/>
          </a:prstGeom>
          <a:noFill/>
        </p:spPr>
        <p:txBody>
          <a:bodyPr wrap="square" anchor="ctr" lIns="0" rIns="0" tIns="0" bIns="0">
            <a:spAutoFit/>
          </a:bodyPr>
          <a:lstStyle/>
          <a:p>
            <a:pPr algn="r">
              <a:spcAft>
                <a:spcPts val="600"/>
              </a:spcAft>
            </a:pPr>
            <a:r>
              <a:rPr sz="1400" b="1" i="0">
                <a:solidFill>
                  <a:srgbClr val="D42A4F"/>
                </a:solidFill>
                <a:latin typeface="Kaspersky Sans Display"/>
              </a:rPr>
              <a:t>20.99 + 0.00 = 20.99  ✗</a:t>
            </a:r>
          </a:p>
        </p:txBody>
      </p:sp>
      <p:sp>
        <p:nvSpPr>
          <p:cNvPr id="23" name="TextBox 22"/>
          <p:cNvSpPr txBox="1"/>
          <p:nvPr/>
        </p:nvSpPr>
        <p:spPr>
          <a:xfrm>
            <a:off x="6428232" y="2724912"/>
            <a:ext cx="5029200" cy="36576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We infer the price after demand level, not the MSRP (23.99).</a:t>
            </a:r>
          </a:p>
        </p:txBody>
      </p:sp>
      <p:sp>
        <p:nvSpPr>
          <p:cNvPr id="24" name="Rounded Rectangle 23"/>
          <p:cNvSpPr/>
          <p:nvPr/>
        </p:nvSpPr>
        <p:spPr>
          <a:xfrm>
            <a:off x="6245352" y="3291839"/>
            <a:ext cx="5394960" cy="1051560"/>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28232" y="3474720"/>
            <a:ext cx="731520" cy="347472"/>
          </a:xfrm>
          <a:prstGeom prst="roundRect">
            <a:avLst>
              <a:gd name="adj" fmla="val 12000"/>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Ex 2</a:t>
            </a:r>
          </a:p>
        </p:txBody>
      </p:sp>
      <p:sp>
        <p:nvSpPr>
          <p:cNvPr id="26" name="TextBox 25"/>
          <p:cNvSpPr txBox="1"/>
          <p:nvPr/>
        </p:nvSpPr>
        <p:spPr>
          <a:xfrm>
            <a:off x="7296912" y="3447287"/>
            <a:ext cx="2103120" cy="384048"/>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Discount without tax</a:t>
            </a:r>
          </a:p>
        </p:txBody>
      </p:sp>
      <p:sp>
        <p:nvSpPr>
          <p:cNvPr id="27" name="TextBox 26"/>
          <p:cNvSpPr txBox="1"/>
          <p:nvPr/>
        </p:nvSpPr>
        <p:spPr>
          <a:xfrm>
            <a:off x="9354312" y="3447287"/>
            <a:ext cx="2103120" cy="384048"/>
          </a:xfrm>
          <a:prstGeom prst="rect">
            <a:avLst/>
          </a:prstGeom>
          <a:noFill/>
        </p:spPr>
        <p:txBody>
          <a:bodyPr wrap="square" anchor="ctr" lIns="0" rIns="0" tIns="0" bIns="0">
            <a:spAutoFit/>
          </a:bodyPr>
          <a:lstStyle/>
          <a:p>
            <a:pPr algn="r">
              <a:spcAft>
                <a:spcPts val="600"/>
              </a:spcAft>
            </a:pPr>
            <a:r>
              <a:rPr sz="1400" b="1" i="0">
                <a:solidFill>
                  <a:srgbClr val="D42A4F"/>
                </a:solidFill>
                <a:latin typeface="Kaspersky Sans Display"/>
              </a:rPr>
              <a:t>4.24 + 0.63 = 4.87  ✗</a:t>
            </a:r>
          </a:p>
        </p:txBody>
      </p:sp>
      <p:sp>
        <p:nvSpPr>
          <p:cNvPr id="28" name="TextBox 27"/>
          <p:cNvSpPr txBox="1"/>
          <p:nvPr/>
        </p:nvSpPr>
        <p:spPr>
          <a:xfrm>
            <a:off x="6428232" y="3913631"/>
            <a:ext cx="5029200" cy="36576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The MSRP is 4.99. The discount with tax (0.75) is not stored.</a:t>
            </a:r>
          </a:p>
        </p:txBody>
      </p:sp>
      <p:sp>
        <p:nvSpPr>
          <p:cNvPr id="29" name="Rounded Rectangle 28"/>
          <p:cNvSpPr/>
          <p:nvPr/>
        </p:nvSpPr>
        <p:spPr>
          <a:xfrm>
            <a:off x="6245352" y="4480559"/>
            <a:ext cx="5394960" cy="1051560"/>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428232" y="4663440"/>
            <a:ext cx="731520" cy="347472"/>
          </a:xfrm>
          <a:prstGeom prst="roundRect">
            <a:avLst>
              <a:gd name="adj" fmla="val 12000"/>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Ex 5</a:t>
            </a:r>
          </a:p>
        </p:txBody>
      </p:sp>
      <p:sp>
        <p:nvSpPr>
          <p:cNvPr id="31" name="TextBox 30"/>
          <p:cNvSpPr txBox="1"/>
          <p:nvPr/>
        </p:nvSpPr>
        <p:spPr>
          <a:xfrm>
            <a:off x="7296912" y="4636007"/>
            <a:ext cx="2103120" cy="384048"/>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Empty value</a:t>
            </a:r>
          </a:p>
        </p:txBody>
      </p:sp>
      <p:sp>
        <p:nvSpPr>
          <p:cNvPr id="32" name="TextBox 31"/>
          <p:cNvSpPr txBox="1"/>
          <p:nvPr/>
        </p:nvSpPr>
        <p:spPr>
          <a:xfrm>
            <a:off x="9354312" y="4636007"/>
            <a:ext cx="2103120" cy="384048"/>
          </a:xfrm>
          <a:prstGeom prst="rect">
            <a:avLst/>
          </a:prstGeom>
          <a:noFill/>
        </p:spPr>
        <p:txBody>
          <a:bodyPr wrap="square" anchor="ctr" lIns="0" rIns="0" tIns="0" bIns="0">
            <a:spAutoFit/>
          </a:bodyPr>
          <a:lstStyle/>
          <a:p>
            <a:pPr algn="r">
              <a:spcAft>
                <a:spcPts val="600"/>
              </a:spcAft>
            </a:pPr>
            <a:r>
              <a:rPr sz="1400" b="1" i="0">
                <a:solidFill>
                  <a:srgbClr val="D42A4F"/>
                </a:solidFill>
                <a:latin typeface="Kaspersky Sans Display"/>
              </a:rPr>
              <a:t>API grossMsrp = 0  ✗</a:t>
            </a:r>
          </a:p>
        </p:txBody>
      </p:sp>
      <p:sp>
        <p:nvSpPr>
          <p:cNvPr id="33" name="TextBox 32"/>
          <p:cNvSpPr txBox="1"/>
          <p:nvPr/>
        </p:nvSpPr>
        <p:spPr>
          <a:xfrm>
            <a:off x="6428232" y="5102351"/>
            <a:ext cx="5029200" cy="36576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The stored MSRP is empty: nothing to compare against.</a:t>
            </a:r>
          </a:p>
        </p:txBody>
      </p:sp>
      <p:sp>
        <p:nvSpPr>
          <p:cNvPr id="34" name="Rounded Rectangle 33"/>
          <p:cNvSpPr/>
          <p:nvPr/>
        </p:nvSpPr>
        <p:spPr>
          <a:xfrm>
            <a:off x="548640" y="5715000"/>
            <a:ext cx="11094415" cy="77724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700" b="1" i="0">
                <a:solidFill>
                  <a:srgbClr val="FFFFFF"/>
                </a:solidFill>
                <a:latin typeface="Kaspersky Sans Display"/>
              </a:rPr>
              <a:t>We are not inventing a new model. </a:t>
            </a:r>
            <a:r>
              <a:rPr sz="1700" b="1" i="0">
                <a:solidFill>
                  <a:srgbClr val="E5B400"/>
                </a:solidFill>
                <a:latin typeface="Kaspersky Sans Display"/>
              </a:rPr>
              <a:t>The formula is simple: the values must mean what they say.</a:t>
            </a:r>
          </a:p>
          <a:p>
            <a:pPr algn="ctr">
              <a:spcAft>
                <a:spcPts val="200"/>
              </a:spcAft>
            </a:pPr>
            <a:r>
              <a:rPr sz="1400" b="1" i="0">
                <a:solidFill>
                  <a:srgbClr val="149A7A"/>
                </a:solidFill>
                <a:latin typeface="Kaspersky Sans Display"/>
              </a:rPr>
              <a:t>→  Agreement 1: </a:t>
            </a:r>
            <a:r>
              <a:rPr sz="1400" b="1" i="0">
                <a:solidFill>
                  <a:srgbClr val="FFFFFF"/>
                </a:solidFill>
                <a:latin typeface="Kaspersky Sans Display"/>
              </a:rPr>
              <a:t>We need the MSRP in the transaction. Then the same equality becomes the check.</a:t>
            </a:r>
          </a:p>
        </p:txBody>
      </p:sp>
      <p:sp>
        <p:nvSpPr>
          <p:cNvPr id="35" name="TextBox 34"/>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16</a:t>
            </a:r>
          </a:p>
        </p:txBody>
      </p:sp>
      <p:sp>
        <p:nvSpPr>
          <p:cNvPr id="36" name="Rounded Rectangle 35"/>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Case 2: the workaround, an external MSRP</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To find €59.99 for order 4K7019VAUH4 we join WebPriceList. It works here, with assumptions</a:t>
            </a:r>
          </a:p>
        </p:txBody>
      </p:sp>
      <p:sp>
        <p:nvSpPr>
          <p:cNvPr id="4" name="TextBox 3"/>
          <p:cNvSpPr txBox="1"/>
          <p:nvPr/>
        </p:nvSpPr>
        <p:spPr>
          <a:xfrm>
            <a:off x="548640" y="1600200"/>
            <a:ext cx="4754880" cy="1463040"/>
          </a:xfrm>
          <a:prstGeom prst="rect">
            <a:avLst/>
          </a:prstGeom>
          <a:noFill/>
        </p:spPr>
        <p:txBody>
          <a:bodyPr wrap="square" anchor="t" lIns="0" rIns="0" tIns="0" bIns="0">
            <a:spAutoFit/>
          </a:bodyPr>
          <a:lstStyle/>
          <a:p>
            <a:pPr algn="l">
              <a:spcAft>
                <a:spcPts val="400"/>
              </a:spcAft>
            </a:pPr>
            <a:r>
              <a:rPr sz="1400" b="1" i="0">
                <a:solidFill>
                  <a:srgbClr val="A9B1BF"/>
                </a:solidFill>
                <a:latin typeface="Kaspersky Sans Display"/>
              </a:rPr>
              <a:t>1 · Where 59.99 comes from</a:t>
            </a:r>
          </a:p>
          <a:p>
            <a:pPr algn="l">
              <a:spcAft>
                <a:spcPts val="400"/>
              </a:spcAft>
            </a:pPr>
            <a:r>
              <a:rPr sz="1400" b="1" i="0">
                <a:solidFill>
                  <a:srgbClr val="ECEEF2"/>
                </a:solidFill>
                <a:latin typeface="Kaspersky Sans Display"/>
              </a:rPr>
              <a:t>CustomerFullPrice</a:t>
            </a:r>
            <a:r>
              <a:rPr sz="1400" b="0" i="0">
                <a:solidFill>
                  <a:srgbClr val="ECEEF2"/>
                </a:solidFill>
                <a:latin typeface="Kaspersky Sans Display"/>
              </a:rPr>
              <a:t> from </a:t>
            </a:r>
            <a:r>
              <a:rPr sz="1400" b="1" i="0">
                <a:solidFill>
                  <a:srgbClr val="ECEEF2"/>
                </a:solidFill>
                <a:latin typeface="Kaspersky Sans Display"/>
              </a:rPr>
              <a:t>WebPriceList</a:t>
            </a:r>
            <a:r>
              <a:rPr sz="1400" b="0" i="0">
                <a:solidFill>
                  <a:srgbClr val="ECEEF2"/>
                </a:solidFill>
                <a:latin typeface="Kaspersky Sans Display"/>
              </a:rPr>
              <a:t>, not from the transaction. If it belonged to the transaction, it would be called TransactionCustomerFullPrice.</a:t>
            </a:r>
          </a:p>
        </p:txBody>
      </p:sp>
      <p:sp>
        <p:nvSpPr>
          <p:cNvPr id="5" name="TextBox 4"/>
          <p:cNvSpPr txBox="1"/>
          <p:nvPr/>
        </p:nvSpPr>
        <p:spPr>
          <a:xfrm>
            <a:off x="548640" y="2971800"/>
            <a:ext cx="4754880" cy="1188720"/>
          </a:xfrm>
          <a:prstGeom prst="rect">
            <a:avLst/>
          </a:prstGeom>
          <a:noFill/>
        </p:spPr>
        <p:txBody>
          <a:bodyPr wrap="square" anchor="t" lIns="0" rIns="0" tIns="0" bIns="0">
            <a:spAutoFit/>
          </a:bodyPr>
          <a:lstStyle/>
          <a:p>
            <a:pPr algn="l">
              <a:spcAft>
                <a:spcPts val="400"/>
              </a:spcAft>
            </a:pPr>
            <a:r>
              <a:rPr sz="1400" b="1" i="0">
                <a:solidFill>
                  <a:srgbClr val="A9B1BF"/>
                </a:solidFill>
                <a:latin typeface="Kaspersky Sans Display"/>
              </a:rPr>
              <a:t>2 · With it, the example closes</a:t>
            </a:r>
          </a:p>
          <a:p>
            <a:pPr algn="l">
              <a:spcAft>
                <a:spcPts val="400"/>
              </a:spcAft>
            </a:pPr>
            <a:r>
              <a:rPr sz="1800" b="1" i="0">
                <a:solidFill>
                  <a:srgbClr val="3DC4A2"/>
                </a:solidFill>
                <a:latin typeface="Kaspersky Sans Display"/>
              </a:rPr>
              <a:t>59.99 − 23.99 = €36.00  ✓</a:t>
            </a:r>
          </a:p>
          <a:p>
            <a:pPr algn="l">
              <a:spcAft>
                <a:spcPts val="400"/>
              </a:spcAft>
            </a:pPr>
            <a:r>
              <a:rPr sz="1300" b="0" i="0">
                <a:solidFill>
                  <a:srgbClr val="A9B1BF"/>
                </a:solidFill>
                <a:latin typeface="Kaspersky Sans Display"/>
              </a:rPr>
              <a:t>= 30.25 × 1.19, the stored discount with taxes</a:t>
            </a:r>
          </a:p>
        </p:txBody>
      </p:sp>
      <p:sp>
        <p:nvSpPr>
          <p:cNvPr id="6" name="TextBox 5"/>
          <p:cNvSpPr txBox="1"/>
          <p:nvPr/>
        </p:nvSpPr>
        <p:spPr>
          <a:xfrm>
            <a:off x="548640" y="4251960"/>
            <a:ext cx="4754880" cy="1371600"/>
          </a:xfrm>
          <a:prstGeom prst="rect">
            <a:avLst/>
          </a:prstGeom>
          <a:noFill/>
        </p:spPr>
        <p:txBody>
          <a:bodyPr wrap="square" anchor="t" lIns="0" rIns="0" tIns="0" bIns="0">
            <a:spAutoFit/>
          </a:bodyPr>
          <a:lstStyle/>
          <a:p>
            <a:pPr algn="l">
              <a:spcAft>
                <a:spcPts val="400"/>
              </a:spcAft>
            </a:pPr>
            <a:r>
              <a:rPr sz="1400" b="1" i="0">
                <a:solidFill>
                  <a:srgbClr val="A9B1BF"/>
                </a:solidFill>
                <a:latin typeface="Kaspersky Sans Display"/>
              </a:rPr>
              <a:t>3 · But the link depends on assumptions</a:t>
            </a:r>
          </a:p>
          <a:p>
            <a:pPr algn="l">
              <a:spcAft>
                <a:spcPts val="400"/>
              </a:spcAft>
            </a:pPr>
            <a:r>
              <a:rPr sz="1400" b="0" i="0">
                <a:solidFill>
                  <a:srgbClr val="ECEEF2"/>
                </a:solidFill>
                <a:latin typeface="Kaspersky Sans Display"/>
              </a:rPr>
              <a:t>Three of them, marked in the query. We do not know yet how many transactions the link finds correctly.</a:t>
            </a:r>
          </a:p>
        </p:txBody>
      </p:sp>
      <p:sp>
        <p:nvSpPr>
          <p:cNvPr id="7" name="Rounded Rectangle 6"/>
          <p:cNvSpPr/>
          <p:nvPr/>
        </p:nvSpPr>
        <p:spPr>
          <a:xfrm>
            <a:off x="5532120" y="1600200"/>
            <a:ext cx="6110935" cy="3154680"/>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1691640"/>
            <a:ext cx="5653735" cy="274320"/>
          </a:xfrm>
          <a:prstGeom prst="rect">
            <a:avLst/>
          </a:prstGeom>
          <a:noFill/>
        </p:spPr>
        <p:txBody>
          <a:bodyPr wrap="square" anchor="t" lIns="0" rIns="0" tIns="0" bIns="0">
            <a:spAutoFit/>
          </a:bodyPr>
          <a:lstStyle/>
          <a:p>
            <a:pPr algn="l">
              <a:spcAft>
                <a:spcPts val="600"/>
              </a:spcAft>
            </a:pPr>
            <a:r>
              <a:rPr sz="1100" b="0" i="1">
                <a:solidFill>
                  <a:srgbClr val="A9B1BF"/>
                </a:solidFill>
                <a:latin typeface="Kaspersky Sans Display"/>
              </a:rPr>
              <a:t>Query from the email to Dmitry (select list shortened)</a:t>
            </a:r>
          </a:p>
        </p:txBody>
      </p:sp>
      <p:sp>
        <p:nvSpPr>
          <p:cNvPr id="9" name="TextBox 8"/>
          <p:cNvSpPr txBox="1"/>
          <p:nvPr/>
        </p:nvSpPr>
        <p:spPr>
          <a:xfrm>
            <a:off x="5760720" y="2011680"/>
            <a:ext cx="5745175" cy="2926080"/>
          </a:xfrm>
          <a:prstGeom prst="rect">
            <a:avLst/>
          </a:prstGeom>
          <a:noFill/>
        </p:spPr>
        <p:txBody>
          <a:bodyPr wrap="square" anchor="t" lIns="0" rIns="0" tIns="0" bIns="0">
            <a:spAutoFit/>
          </a:bodyPr>
          <a:lstStyle/>
          <a:p>
            <a:pPr algn="l">
              <a:spcAft>
                <a:spcPts val="0"/>
              </a:spcAft>
            </a:pPr>
            <a:r>
              <a:rPr sz="950" b="0" i="0">
                <a:solidFill>
                  <a:srgbClr val="ECEEF2"/>
                </a:solidFill>
                <a:latin typeface="Courier New"/>
              </a:rPr>
              <a:t>SELECT [OnlineSalesTransactionDateKey], [ExternalOrderId], base.[SKU]</a:t>
            </a:r>
          </a:p>
          <a:p>
            <a:pPr algn="l">
              <a:spcAft>
                <a:spcPts val="0"/>
              </a:spcAft>
            </a:pPr>
            <a:r>
              <a:rPr sz="950" b="0" i="0">
                <a:solidFill>
                  <a:srgbClr val="ECEEF2"/>
                </a:solidFill>
                <a:latin typeface="Courier New"/>
              </a:rPr>
              <a:t>      ,[CalculatedTransactionCustomerAmountWithTaxes]</a:t>
            </a:r>
          </a:p>
          <a:p>
            <a:pPr algn="l">
              <a:spcAft>
                <a:spcPts val="0"/>
              </a:spcAft>
            </a:pPr>
            <a:r>
              <a:rPr sz="950" b="0" i="0">
                <a:solidFill>
                  <a:srgbClr val="ECEEF2"/>
                </a:solidFill>
                <a:latin typeface="Courier New"/>
              </a:rPr>
              <a:t>      ,[TransactionDiscountAmount], [TransactionTaxAmount]</a:t>
            </a:r>
          </a:p>
          <a:p>
            <a:pPr algn="l">
              <a:spcAft>
                <a:spcPts val="0"/>
              </a:spcAft>
            </a:pPr>
            <a:r>
              <a:rPr sz="950" b="0" i="0">
                <a:solidFill>
                  <a:srgbClr val="ECEEF2"/>
                </a:solidFill>
                <a:latin typeface="Courier New"/>
              </a:rPr>
              <a:t>      ,price.[CustomerFullPrice]</a:t>
            </a:r>
            <a:r>
              <a:rPr sz="950" b="1" i="0">
                <a:solidFill>
                  <a:srgbClr val="EEDB5C"/>
                </a:solidFill>
                <a:latin typeface="Courier New"/>
              </a:rPr>
              <a:t>   -- 1</a:t>
            </a:r>
          </a:p>
          <a:p>
            <a:pPr algn="l">
              <a:spcAft>
                <a:spcPts val="0"/>
              </a:spcAft>
            </a:pPr>
            <a:r>
              <a:rPr sz="950" b="0" i="0">
                <a:solidFill>
                  <a:srgbClr val="ECEEF2"/>
                </a:solidFill>
                <a:latin typeface="Courier New"/>
              </a:rPr>
              <a:t>FROM #example AS base</a:t>
            </a:r>
          </a:p>
          <a:p>
            <a:pPr algn="l">
              <a:spcAft>
                <a:spcPts val="0"/>
              </a:spcAft>
            </a:pPr>
            <a:r>
              <a:rPr sz="950" b="0" i="0">
                <a:solidFill>
                  <a:srgbClr val="ECEEF2"/>
                </a:solidFill>
                <a:latin typeface="Courier New"/>
              </a:rPr>
              <a:t>LEFT JOIN [DWH].[sales].[WebPriceLists] AS price</a:t>
            </a:r>
            <a:r>
              <a:rPr sz="950" b="1" i="0">
                <a:solidFill>
                  <a:srgbClr val="EEDB5C"/>
                </a:solidFill>
                <a:latin typeface="Courier New"/>
              </a:rPr>
              <a:t>   -- 1</a:t>
            </a:r>
          </a:p>
          <a:p>
            <a:pPr algn="l">
              <a:spcAft>
                <a:spcPts val="0"/>
              </a:spcAft>
            </a:pPr>
            <a:r>
              <a:rPr sz="950" b="0" i="0">
                <a:solidFill>
                  <a:srgbClr val="ECEEF2"/>
                </a:solidFill>
                <a:latin typeface="Courier New"/>
              </a:rPr>
              <a:t>  ON  price.[MasterPartnerKey] = base.[MasterPartnerKey]</a:t>
            </a:r>
          </a:p>
          <a:p>
            <a:pPr algn="l">
              <a:spcAft>
                <a:spcPts val="0"/>
              </a:spcAft>
            </a:pPr>
            <a:r>
              <a:rPr sz="950" b="0" i="0">
                <a:solidFill>
                  <a:srgbClr val="ECEEF2"/>
                </a:solidFill>
                <a:latin typeface="Courier New"/>
              </a:rPr>
              <a:t>  AND price.SKU = 'KL1042GDAFG'</a:t>
            </a:r>
            <a:r>
              <a:rPr sz="950" b="1" i="0">
                <a:solidFill>
                  <a:srgbClr val="EEDB5C"/>
                </a:solidFill>
                <a:latin typeface="Courier New"/>
              </a:rPr>
              <a:t>   -- 2</a:t>
            </a:r>
          </a:p>
          <a:p>
            <a:pPr algn="l">
              <a:spcAft>
                <a:spcPts val="0"/>
              </a:spcAft>
            </a:pPr>
            <a:r>
              <a:rPr sz="950" b="0" i="0">
                <a:solidFill>
                  <a:srgbClr val="ECEEF2"/>
                </a:solidFill>
                <a:latin typeface="Courier New"/>
              </a:rPr>
              <a:t>  AND CONVERT(DATE, CAST(base.[OnlineSalesTransactionDateKey]</a:t>
            </a:r>
            <a:r>
              <a:rPr sz="950" b="1" i="0">
                <a:solidFill>
                  <a:srgbClr val="EEDB5C"/>
                </a:solidFill>
                <a:latin typeface="Courier New"/>
              </a:rPr>
              <a:t>   -- 3</a:t>
            </a:r>
          </a:p>
          <a:p>
            <a:pPr algn="l">
              <a:spcAft>
                <a:spcPts val="0"/>
              </a:spcAft>
            </a:pPr>
            <a:r>
              <a:rPr sz="950" b="0" i="0">
                <a:solidFill>
                  <a:srgbClr val="ECEEF2"/>
                </a:solidFill>
                <a:latin typeface="Courier New"/>
              </a:rPr>
              <a:t>                         AS varchar(8)), 112)</a:t>
            </a:r>
          </a:p>
          <a:p>
            <a:pPr algn="l">
              <a:spcAft>
                <a:spcPts val="0"/>
              </a:spcAft>
            </a:pPr>
            <a:r>
              <a:rPr sz="950" b="0" i="0">
                <a:solidFill>
                  <a:srgbClr val="ECEEF2"/>
                </a:solidFill>
                <a:latin typeface="Courier New"/>
              </a:rPr>
              <a:t>      BETWEEN price.[PriceListEffectiveTimestamp]</a:t>
            </a:r>
          </a:p>
          <a:p>
            <a:pPr algn="l">
              <a:spcAft>
                <a:spcPts val="0"/>
              </a:spcAft>
            </a:pPr>
            <a:r>
              <a:rPr sz="950" b="0" i="0">
                <a:solidFill>
                  <a:srgbClr val="ECEEF2"/>
                </a:solidFill>
                <a:latin typeface="Courier New"/>
              </a:rPr>
              <a:t>          AND price.[PriceListExpirationTimestamp]</a:t>
            </a:r>
          </a:p>
          <a:p>
            <a:pPr algn="l">
              <a:spcAft>
                <a:spcPts val="0"/>
              </a:spcAft>
            </a:pPr>
            <a:r>
              <a:rPr sz="950" b="0" i="0">
                <a:solidFill>
                  <a:srgbClr val="ECEEF2"/>
                </a:solidFill>
                <a:latin typeface="Courier New"/>
              </a:rPr>
              <a:t>  AND CONVERT(DATE, CAST(base.[OnlineSalesTransactionDateKey]</a:t>
            </a:r>
          </a:p>
          <a:p>
            <a:pPr algn="l">
              <a:spcAft>
                <a:spcPts val="0"/>
              </a:spcAft>
            </a:pPr>
            <a:r>
              <a:rPr sz="950" b="0" i="0">
                <a:solidFill>
                  <a:srgbClr val="ECEEF2"/>
                </a:solidFill>
                <a:latin typeface="Courier New"/>
              </a:rPr>
              <a:t>                         AS varchar(8)), 112)</a:t>
            </a:r>
          </a:p>
          <a:p>
            <a:pPr algn="l">
              <a:spcAft>
                <a:spcPts val="0"/>
              </a:spcAft>
            </a:pPr>
            <a:r>
              <a:rPr sz="950" b="0" i="0">
                <a:solidFill>
                  <a:srgbClr val="ECEEF2"/>
                </a:solidFill>
                <a:latin typeface="Courier New"/>
              </a:rPr>
              <a:t>      BETWEEN price.[PriceEffectiveTimestamp]</a:t>
            </a:r>
          </a:p>
          <a:p>
            <a:pPr algn="l">
              <a:spcAft>
                <a:spcPts val="0"/>
              </a:spcAft>
            </a:pPr>
            <a:r>
              <a:rPr sz="950" b="0" i="0">
                <a:solidFill>
                  <a:srgbClr val="ECEEF2"/>
                </a:solidFill>
                <a:latin typeface="Courier New"/>
              </a:rPr>
              <a:t>          AND price.[PriceExpirationTimestamp]</a:t>
            </a:r>
          </a:p>
          <a:p>
            <a:pPr algn="l">
              <a:spcAft>
                <a:spcPts val="0"/>
              </a:spcAft>
            </a:pPr>
            <a:r>
              <a:rPr sz="950" b="0" i="0">
                <a:solidFill>
                  <a:srgbClr val="ECEEF2"/>
                </a:solidFill>
                <a:latin typeface="Courier New"/>
              </a:rPr>
              <a:t>  AND eStore = '[N/A]'</a:t>
            </a:r>
          </a:p>
          <a:p>
            <a:pPr algn="l">
              <a:spcAft>
                <a:spcPts val="0"/>
              </a:spcAft>
            </a:pPr>
            <a:r>
              <a:rPr sz="950" b="0" i="0">
                <a:solidFill>
                  <a:srgbClr val="ECEEF2"/>
                </a:solidFill>
                <a:latin typeface="Courier New"/>
              </a:rPr>
              <a:t>  AND price.[CurrencyKey] = base.TransactionCurrencyKey</a:t>
            </a:r>
          </a:p>
        </p:txBody>
      </p:sp>
      <p:sp>
        <p:nvSpPr>
          <p:cNvPr id="10" name="TextBox 9"/>
          <p:cNvSpPr txBox="1"/>
          <p:nvPr/>
        </p:nvSpPr>
        <p:spPr>
          <a:xfrm>
            <a:off x="5532120" y="4846320"/>
            <a:ext cx="6110935" cy="1097280"/>
          </a:xfrm>
          <a:prstGeom prst="rect">
            <a:avLst/>
          </a:prstGeom>
          <a:noFill/>
        </p:spPr>
        <p:txBody>
          <a:bodyPr wrap="square" anchor="t" lIns="0" rIns="0" tIns="0" bIns="0">
            <a:spAutoFit/>
          </a:bodyPr>
          <a:lstStyle/>
          <a:p>
            <a:pPr algn="l">
              <a:spcAft>
                <a:spcPts val="300"/>
              </a:spcAft>
            </a:pPr>
            <a:r>
              <a:rPr sz="1300" b="1" i="0">
                <a:solidFill>
                  <a:srgbClr val="EEDB5C"/>
                </a:solidFill>
                <a:latin typeface="Kaspersky Sans Display"/>
              </a:rPr>
              <a:t>1  </a:t>
            </a:r>
            <a:r>
              <a:rPr sz="1300" b="0" i="0">
                <a:solidFill>
                  <a:srgbClr val="ECEEF2"/>
                </a:solidFill>
                <a:latin typeface="Kaspersky Sans Display"/>
              </a:rPr>
              <a:t>The MSRP comes from another source (WebPriceList), not from the transaction.</a:t>
            </a:r>
          </a:p>
          <a:p>
            <a:pPr algn="l">
              <a:spcAft>
                <a:spcPts val="300"/>
              </a:spcAft>
            </a:pPr>
            <a:r>
              <a:rPr sz="1300" b="1" i="0">
                <a:solidFill>
                  <a:srgbClr val="EEDB5C"/>
                </a:solidFill>
                <a:latin typeface="Kaspersky Sans Display"/>
              </a:rPr>
              <a:t>2  </a:t>
            </a:r>
            <a:r>
              <a:rPr sz="1300" b="0" i="0">
                <a:solidFill>
                  <a:srgbClr val="ECEEF2"/>
                </a:solidFill>
                <a:latin typeface="Kaspersky Sans Display"/>
              </a:rPr>
              <a:t>The renewal SKU (…F) is joined as the purchase SKU (…G): same MSRP assumed. Not true for products with only renewals.</a:t>
            </a:r>
          </a:p>
          <a:p>
            <a:pPr algn="l">
              <a:spcAft>
                <a:spcPts val="300"/>
              </a:spcAft>
            </a:pPr>
            <a:r>
              <a:rPr sz="1300" b="1" i="0">
                <a:solidFill>
                  <a:srgbClr val="EEDB5C"/>
                </a:solidFill>
                <a:latin typeface="Kaspersky Sans Display"/>
              </a:rPr>
              <a:t>3  </a:t>
            </a:r>
            <a:r>
              <a:rPr sz="1300" b="0" i="0">
                <a:solidFill>
                  <a:srgbClr val="ECEEF2"/>
                </a:solidFill>
                <a:latin typeface="Kaspersky Sans Display"/>
              </a:rPr>
              <a:t>The join uses the date, not the time of the transaction.</a:t>
            </a:r>
          </a:p>
        </p:txBody>
      </p:sp>
      <p:sp>
        <p:nvSpPr>
          <p:cNvPr id="11" name="Rounded Rectangle 10"/>
          <p:cNvSpPr/>
          <p:nvPr/>
        </p:nvSpPr>
        <p:spPr>
          <a:xfrm>
            <a:off x="548640" y="6053328"/>
            <a:ext cx="11094415" cy="502920"/>
          </a:xfrm>
          <a:prstGeom prst="roundRect">
            <a:avLst>
              <a:gd name="adj" fmla="val 12000"/>
            </a:avLst>
          </a:prstGeom>
          <a:solidFill>
            <a:srgbClr val="2A2E37"/>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ECEEF2"/>
                </a:solidFill>
                <a:latin typeface="Kaspersky Sans Display"/>
              </a:rPr>
              <a:t>It works for this example. </a:t>
            </a:r>
            <a:r>
              <a:rPr sz="1500" b="1" i="0">
                <a:solidFill>
                  <a:srgbClr val="F2667F"/>
                </a:solidFill>
                <a:latin typeface="Kaspersky Sans Display"/>
              </a:rPr>
              <a:t>How often does the link work? We do not know yet.</a:t>
            </a:r>
          </a:p>
        </p:txBody>
      </p:sp>
      <p:sp>
        <p:nvSpPr>
          <p:cNvPr id="12" name="TextBox 11"/>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17</a:t>
            </a:r>
          </a:p>
        </p:txBody>
      </p:sp>
      <p:sp>
        <p:nvSpPr>
          <p:cNvPr id="13" name="Rounded Rectangle 12"/>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2128"/>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Price changes: WebPriceList gives the wrong price</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Case 2 · Where the link fails: the MSRP is looked up after the transaction, not stored with it</a:t>
            </a:r>
          </a:p>
        </p:txBody>
      </p:sp>
      <p:sp>
        <p:nvSpPr>
          <p:cNvPr id="4" name="Rounded Rectangle 3"/>
          <p:cNvSpPr/>
          <p:nvPr/>
        </p:nvSpPr>
        <p:spPr>
          <a:xfrm>
            <a:off x="548640" y="1600200"/>
            <a:ext cx="3576218"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868680" cy="411480"/>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Ex 6</a:t>
            </a:r>
          </a:p>
        </p:txBody>
      </p:sp>
      <p:sp>
        <p:nvSpPr>
          <p:cNvPr id="6" name="TextBox 5"/>
          <p:cNvSpPr txBox="1"/>
          <p:nvPr/>
        </p:nvSpPr>
        <p:spPr>
          <a:xfrm>
            <a:off x="1783080" y="1764792"/>
            <a:ext cx="2158898"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No coupon</a:t>
            </a:r>
          </a:p>
        </p:txBody>
      </p:sp>
      <p:sp>
        <p:nvSpPr>
          <p:cNvPr id="7" name="TextBox 6"/>
          <p:cNvSpPr txBox="1"/>
          <p:nvPr/>
        </p:nvSpPr>
        <p:spPr>
          <a:xfrm>
            <a:off x="1783080" y="2075688"/>
            <a:ext cx="2158898"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TRY · order 4EPFNR3MJNC</a:t>
            </a:r>
          </a:p>
        </p:txBody>
      </p:sp>
      <p:sp>
        <p:nvSpPr>
          <p:cNvPr id="8" name="TextBox 7"/>
          <p:cNvSpPr txBox="1"/>
          <p:nvPr/>
        </p:nvSpPr>
        <p:spPr>
          <a:xfrm>
            <a:off x="777240" y="2560320"/>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tax)</a:t>
            </a:r>
          </a:p>
        </p:txBody>
      </p:sp>
      <p:sp>
        <p:nvSpPr>
          <p:cNvPr id="9" name="TextBox 8"/>
          <p:cNvSpPr txBox="1"/>
          <p:nvPr/>
        </p:nvSpPr>
        <p:spPr>
          <a:xfrm>
            <a:off x="2661818" y="2560320"/>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129.99</a:t>
            </a:r>
          </a:p>
        </p:txBody>
      </p:sp>
      <p:sp>
        <p:nvSpPr>
          <p:cNvPr id="10" name="TextBox 9"/>
          <p:cNvSpPr txBox="1"/>
          <p:nvPr/>
        </p:nvSpPr>
        <p:spPr>
          <a:xfrm>
            <a:off x="777240" y="2889503"/>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a:t>
            </a:r>
          </a:p>
        </p:txBody>
      </p:sp>
      <p:sp>
        <p:nvSpPr>
          <p:cNvPr id="11" name="TextBox 10"/>
          <p:cNvSpPr txBox="1"/>
          <p:nvPr/>
        </p:nvSpPr>
        <p:spPr>
          <a:xfrm>
            <a:off x="2661818" y="2889503"/>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0.00</a:t>
            </a:r>
          </a:p>
        </p:txBody>
      </p:sp>
      <p:sp>
        <p:nvSpPr>
          <p:cNvPr id="12" name="TextBox 11"/>
          <p:cNvSpPr txBox="1"/>
          <p:nvPr/>
        </p:nvSpPr>
        <p:spPr>
          <a:xfrm>
            <a:off x="777240" y="3218687"/>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WebPriceList · MSRP</a:t>
            </a:r>
          </a:p>
        </p:txBody>
      </p:sp>
      <p:sp>
        <p:nvSpPr>
          <p:cNvPr id="13" name="TextBox 12"/>
          <p:cNvSpPr txBox="1"/>
          <p:nvPr/>
        </p:nvSpPr>
        <p:spPr>
          <a:xfrm>
            <a:off x="2661818" y="3218687"/>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99.99</a:t>
            </a:r>
          </a:p>
        </p:txBody>
      </p:sp>
      <p:sp>
        <p:nvSpPr>
          <p:cNvPr id="14" name="Rounded Rectangle 13"/>
          <p:cNvSpPr/>
          <p:nvPr/>
        </p:nvSpPr>
        <p:spPr>
          <a:xfrm>
            <a:off x="731520" y="4014216"/>
            <a:ext cx="3210458" cy="859536"/>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51376"/>
            <a:ext cx="2844698" cy="585215"/>
          </a:xfrm>
          <a:prstGeom prst="rect">
            <a:avLst/>
          </a:prstGeom>
          <a:noFill/>
        </p:spPr>
        <p:txBody>
          <a:bodyPr wrap="square" anchor="ctr" lIns="0" rIns="0" tIns="0" bIns="0">
            <a:spAutoFit/>
          </a:bodyPr>
          <a:lstStyle/>
          <a:p>
            <a:pPr algn="l">
              <a:spcAft>
                <a:spcPts val="300"/>
              </a:spcAft>
            </a:pPr>
            <a:r>
              <a:rPr sz="1300" b="1" i="0">
                <a:solidFill>
                  <a:srgbClr val="F2667F"/>
                </a:solidFill>
                <a:latin typeface="Kaspersky Sans Display"/>
              </a:rPr>
              <a:t>129.99 + 0.00 = 129.99 &gt; 99.99  ✗</a:t>
            </a:r>
          </a:p>
          <a:p>
            <a:pPr algn="l">
              <a:spcAft>
                <a:spcPts val="300"/>
              </a:spcAft>
            </a:pPr>
            <a:r>
              <a:rPr sz="1200" b="0" i="0">
                <a:solidFill>
                  <a:srgbClr val="A9B1BF"/>
                </a:solidFill>
                <a:latin typeface="Kaspersky Sans Display"/>
              </a:rPr>
              <a:t>Discount would be −30.00</a:t>
            </a:r>
          </a:p>
        </p:txBody>
      </p:sp>
      <p:sp>
        <p:nvSpPr>
          <p:cNvPr id="16" name="TextBox 15"/>
          <p:cNvSpPr txBox="1"/>
          <p:nvPr/>
        </p:nvSpPr>
        <p:spPr>
          <a:xfrm>
            <a:off x="777240" y="5056632"/>
            <a:ext cx="3119018" cy="960120"/>
          </a:xfrm>
          <a:prstGeom prst="rect">
            <a:avLst/>
          </a:prstGeom>
          <a:noFill/>
        </p:spPr>
        <p:txBody>
          <a:bodyPr wrap="square" anchor="t" lIns="0" rIns="0" tIns="0" bIns="0">
            <a:spAutoFit/>
          </a:bodyPr>
          <a:lstStyle/>
          <a:p>
            <a:pPr algn="l">
              <a:spcAft>
                <a:spcPts val="600"/>
              </a:spcAft>
            </a:pPr>
            <a:r>
              <a:rPr sz="1300" b="0" i="0">
                <a:solidFill>
                  <a:srgbClr val="ECEEF2"/>
                </a:solidFill>
                <a:latin typeface="Kaspersky Sans Display"/>
              </a:rPr>
              <a:t>The price changed on the transaction date. The join takes the old price.</a:t>
            </a:r>
          </a:p>
        </p:txBody>
      </p:sp>
      <p:sp>
        <p:nvSpPr>
          <p:cNvPr id="17" name="Rounded Rectangle 16"/>
          <p:cNvSpPr/>
          <p:nvPr/>
        </p:nvSpPr>
        <p:spPr>
          <a:xfrm>
            <a:off x="4307738" y="1600200"/>
            <a:ext cx="3576218"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36338" y="1828800"/>
            <a:ext cx="868680" cy="411480"/>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Ex 7</a:t>
            </a:r>
          </a:p>
        </p:txBody>
      </p:sp>
      <p:sp>
        <p:nvSpPr>
          <p:cNvPr id="19" name="TextBox 18"/>
          <p:cNvSpPr txBox="1"/>
          <p:nvPr/>
        </p:nvSpPr>
        <p:spPr>
          <a:xfrm>
            <a:off x="5542178" y="1764792"/>
            <a:ext cx="2158898"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Coupon</a:t>
            </a:r>
          </a:p>
        </p:txBody>
      </p:sp>
      <p:sp>
        <p:nvSpPr>
          <p:cNvPr id="20" name="TextBox 19"/>
          <p:cNvSpPr txBox="1"/>
          <p:nvPr/>
        </p:nvSpPr>
        <p:spPr>
          <a:xfrm>
            <a:off x="5542178" y="2075688"/>
            <a:ext cx="2158898"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ARS · order 4D1TNCDYH8P</a:t>
            </a:r>
          </a:p>
        </p:txBody>
      </p:sp>
      <p:sp>
        <p:nvSpPr>
          <p:cNvPr id="21" name="TextBox 20"/>
          <p:cNvSpPr txBox="1"/>
          <p:nvPr/>
        </p:nvSpPr>
        <p:spPr>
          <a:xfrm>
            <a:off x="4536338" y="2560320"/>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a:t>
            </a:r>
          </a:p>
        </p:txBody>
      </p:sp>
      <p:sp>
        <p:nvSpPr>
          <p:cNvPr id="22" name="TextBox 21"/>
          <p:cNvSpPr txBox="1"/>
          <p:nvPr/>
        </p:nvSpPr>
        <p:spPr>
          <a:xfrm>
            <a:off x="6420916" y="2560320"/>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2,099.30</a:t>
            </a:r>
          </a:p>
        </p:txBody>
      </p:sp>
      <p:sp>
        <p:nvSpPr>
          <p:cNvPr id="23" name="TextBox 22"/>
          <p:cNvSpPr txBox="1"/>
          <p:nvPr/>
        </p:nvSpPr>
        <p:spPr>
          <a:xfrm>
            <a:off x="4536338" y="2889503"/>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a:t>
            </a:r>
          </a:p>
        </p:txBody>
      </p:sp>
      <p:sp>
        <p:nvSpPr>
          <p:cNvPr id="24" name="TextBox 23"/>
          <p:cNvSpPr txBox="1"/>
          <p:nvPr/>
        </p:nvSpPr>
        <p:spPr>
          <a:xfrm>
            <a:off x="6420916" y="2889503"/>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899.70</a:t>
            </a:r>
          </a:p>
        </p:txBody>
      </p:sp>
      <p:sp>
        <p:nvSpPr>
          <p:cNvPr id="25" name="TextBox 24"/>
          <p:cNvSpPr txBox="1"/>
          <p:nvPr/>
        </p:nvSpPr>
        <p:spPr>
          <a:xfrm>
            <a:off x="4536338" y="3218687"/>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grossPrice</a:t>
            </a:r>
          </a:p>
        </p:txBody>
      </p:sp>
      <p:sp>
        <p:nvSpPr>
          <p:cNvPr id="26" name="TextBox 25"/>
          <p:cNvSpPr txBox="1"/>
          <p:nvPr/>
        </p:nvSpPr>
        <p:spPr>
          <a:xfrm>
            <a:off x="6420916" y="3218687"/>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2,999.00</a:t>
            </a:r>
          </a:p>
        </p:txBody>
      </p:sp>
      <p:sp>
        <p:nvSpPr>
          <p:cNvPr id="27" name="TextBox 26"/>
          <p:cNvSpPr txBox="1"/>
          <p:nvPr/>
        </p:nvSpPr>
        <p:spPr>
          <a:xfrm>
            <a:off x="4536338" y="3547872"/>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WebPriceList · MSRP</a:t>
            </a:r>
          </a:p>
        </p:txBody>
      </p:sp>
      <p:sp>
        <p:nvSpPr>
          <p:cNvPr id="28" name="TextBox 27"/>
          <p:cNvSpPr txBox="1"/>
          <p:nvPr/>
        </p:nvSpPr>
        <p:spPr>
          <a:xfrm>
            <a:off x="6420916" y="3547872"/>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839.00</a:t>
            </a:r>
          </a:p>
        </p:txBody>
      </p:sp>
      <p:sp>
        <p:nvSpPr>
          <p:cNvPr id="29" name="Rounded Rectangle 28"/>
          <p:cNvSpPr/>
          <p:nvPr/>
        </p:nvSpPr>
        <p:spPr>
          <a:xfrm>
            <a:off x="4490618" y="4014216"/>
            <a:ext cx="3210458" cy="859536"/>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73498" y="4151376"/>
            <a:ext cx="2844698" cy="585215"/>
          </a:xfrm>
          <a:prstGeom prst="rect">
            <a:avLst/>
          </a:prstGeom>
          <a:noFill/>
        </p:spPr>
        <p:txBody>
          <a:bodyPr wrap="square" anchor="ctr" lIns="0" rIns="0" tIns="0" bIns="0">
            <a:spAutoFit/>
          </a:bodyPr>
          <a:lstStyle/>
          <a:p>
            <a:pPr algn="l">
              <a:spcAft>
                <a:spcPts val="300"/>
              </a:spcAft>
            </a:pPr>
            <a:r>
              <a:rPr sz="1200" b="0" i="0">
                <a:solidFill>
                  <a:srgbClr val="A9B1BF"/>
                </a:solidFill>
                <a:latin typeface="Kaspersky Sans Display"/>
              </a:rPr>
              <a:t>2,099.30 + 899.70 = 2,999.00</a:t>
            </a:r>
          </a:p>
          <a:p>
            <a:pPr algn="l">
              <a:spcAft>
                <a:spcPts val="300"/>
              </a:spcAft>
            </a:pPr>
            <a:r>
              <a:rPr sz="1300" b="1" i="0">
                <a:solidFill>
                  <a:srgbClr val="F2667F"/>
                </a:solidFill>
                <a:latin typeface="Kaspersky Sans Display"/>
              </a:rPr>
              <a:t>2,999.00 ≠ 839.00  ✗</a:t>
            </a:r>
          </a:p>
        </p:txBody>
      </p:sp>
      <p:sp>
        <p:nvSpPr>
          <p:cNvPr id="31" name="TextBox 30"/>
          <p:cNvSpPr txBox="1"/>
          <p:nvPr/>
        </p:nvSpPr>
        <p:spPr>
          <a:xfrm>
            <a:off x="4536338" y="5056632"/>
            <a:ext cx="3119018" cy="960120"/>
          </a:xfrm>
          <a:prstGeom prst="rect">
            <a:avLst/>
          </a:prstGeom>
          <a:noFill/>
        </p:spPr>
        <p:txBody>
          <a:bodyPr wrap="square" anchor="t" lIns="0" rIns="0" tIns="0" bIns="0">
            <a:spAutoFit/>
          </a:bodyPr>
          <a:lstStyle/>
          <a:p>
            <a:pPr algn="l">
              <a:spcAft>
                <a:spcPts val="600"/>
              </a:spcAft>
            </a:pPr>
            <a:r>
              <a:rPr sz="1300" b="0" i="0">
                <a:solidFill>
                  <a:srgbClr val="ECEEF2"/>
                </a:solidFill>
                <a:latin typeface="Kaspersky Sans Display"/>
              </a:rPr>
              <a:t>The sum closes with the </a:t>
            </a:r>
            <a:r>
              <a:rPr sz="1300" b="1" i="0">
                <a:solidFill>
                  <a:srgbClr val="ECEEF2"/>
                </a:solidFill>
                <a:latin typeface="Kaspersky Sans Display"/>
              </a:rPr>
              <a:t>API</a:t>
            </a:r>
            <a:r>
              <a:rPr sz="1300" b="0" i="0">
                <a:solidFill>
                  <a:srgbClr val="ECEEF2"/>
                </a:solidFill>
                <a:latin typeface="Kaspersky Sans Display"/>
              </a:rPr>
              <a:t> price, not with </a:t>
            </a:r>
            <a:r>
              <a:rPr sz="1300" b="1" i="0">
                <a:solidFill>
                  <a:srgbClr val="ECEEF2"/>
                </a:solidFill>
                <a:latin typeface="Kaspersky Sans Display"/>
              </a:rPr>
              <a:t>WebPriceList</a:t>
            </a:r>
            <a:r>
              <a:rPr sz="1300" b="0" i="0">
                <a:solidFill>
                  <a:srgbClr val="ECEEF2"/>
                </a:solidFill>
                <a:latin typeface="Kaspersky Sans Display"/>
              </a:rPr>
              <a:t>. Price increase on that date: wrong row in the join.</a:t>
            </a:r>
          </a:p>
        </p:txBody>
      </p:sp>
      <p:sp>
        <p:nvSpPr>
          <p:cNvPr id="32" name="Rounded Rectangle 31"/>
          <p:cNvSpPr/>
          <p:nvPr/>
        </p:nvSpPr>
        <p:spPr>
          <a:xfrm>
            <a:off x="8066836" y="1600200"/>
            <a:ext cx="3576218"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295436" y="1828800"/>
            <a:ext cx="868680" cy="411480"/>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Ex 8a</a:t>
            </a:r>
          </a:p>
        </p:txBody>
      </p:sp>
      <p:sp>
        <p:nvSpPr>
          <p:cNvPr id="34" name="TextBox 33"/>
          <p:cNvSpPr txBox="1"/>
          <p:nvPr/>
        </p:nvSpPr>
        <p:spPr>
          <a:xfrm>
            <a:off x="9301276" y="1764792"/>
            <a:ext cx="2158898"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Demand level only</a:t>
            </a:r>
          </a:p>
        </p:txBody>
      </p:sp>
      <p:sp>
        <p:nvSpPr>
          <p:cNvPr id="35" name="TextBox 34"/>
          <p:cNvSpPr txBox="1"/>
          <p:nvPr/>
        </p:nvSpPr>
        <p:spPr>
          <a:xfrm>
            <a:off x="9301276" y="2075688"/>
            <a:ext cx="2158898"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EUR · order 4C8P9ATTPEN</a:t>
            </a:r>
          </a:p>
        </p:txBody>
      </p:sp>
      <p:sp>
        <p:nvSpPr>
          <p:cNvPr id="36" name="TextBox 35"/>
          <p:cNvSpPr txBox="1"/>
          <p:nvPr/>
        </p:nvSpPr>
        <p:spPr>
          <a:xfrm>
            <a:off x="8295436" y="2560320"/>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tax)</a:t>
            </a:r>
          </a:p>
        </p:txBody>
      </p:sp>
      <p:sp>
        <p:nvSpPr>
          <p:cNvPr id="37" name="TextBox 36"/>
          <p:cNvSpPr txBox="1"/>
          <p:nvPr/>
        </p:nvSpPr>
        <p:spPr>
          <a:xfrm>
            <a:off x="10180015" y="2560320"/>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15.99</a:t>
            </a:r>
          </a:p>
        </p:txBody>
      </p:sp>
      <p:sp>
        <p:nvSpPr>
          <p:cNvPr id="38" name="TextBox 37"/>
          <p:cNvSpPr txBox="1"/>
          <p:nvPr/>
        </p:nvSpPr>
        <p:spPr>
          <a:xfrm>
            <a:off x="8295436" y="2889503"/>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a:t>
            </a:r>
          </a:p>
        </p:txBody>
      </p:sp>
      <p:sp>
        <p:nvSpPr>
          <p:cNvPr id="39" name="TextBox 38"/>
          <p:cNvSpPr txBox="1"/>
          <p:nvPr/>
        </p:nvSpPr>
        <p:spPr>
          <a:xfrm>
            <a:off x="10180015" y="2889503"/>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0.00</a:t>
            </a:r>
          </a:p>
        </p:txBody>
      </p:sp>
      <p:sp>
        <p:nvSpPr>
          <p:cNvPr id="40" name="TextBox 39"/>
          <p:cNvSpPr txBox="1"/>
          <p:nvPr/>
        </p:nvSpPr>
        <p:spPr>
          <a:xfrm>
            <a:off x="8295436" y="3218687"/>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grossMsrp</a:t>
            </a:r>
          </a:p>
        </p:txBody>
      </p:sp>
      <p:sp>
        <p:nvSpPr>
          <p:cNvPr id="41" name="TextBox 40"/>
          <p:cNvSpPr txBox="1"/>
          <p:nvPr/>
        </p:nvSpPr>
        <p:spPr>
          <a:xfrm>
            <a:off x="10180015" y="3218687"/>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19.99</a:t>
            </a:r>
          </a:p>
        </p:txBody>
      </p:sp>
      <p:sp>
        <p:nvSpPr>
          <p:cNvPr id="42" name="TextBox 41"/>
          <p:cNvSpPr txBox="1"/>
          <p:nvPr/>
        </p:nvSpPr>
        <p:spPr>
          <a:xfrm>
            <a:off x="8295436" y="3547872"/>
            <a:ext cx="1884578"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WebPriceList · after DL</a:t>
            </a:r>
          </a:p>
        </p:txBody>
      </p:sp>
      <p:sp>
        <p:nvSpPr>
          <p:cNvPr id="43" name="TextBox 42"/>
          <p:cNvSpPr txBox="1"/>
          <p:nvPr/>
        </p:nvSpPr>
        <p:spPr>
          <a:xfrm>
            <a:off x="10180015" y="3547872"/>
            <a:ext cx="123444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14.99</a:t>
            </a:r>
          </a:p>
        </p:txBody>
      </p:sp>
      <p:sp>
        <p:nvSpPr>
          <p:cNvPr id="44" name="Rounded Rectangle 43"/>
          <p:cNvSpPr/>
          <p:nvPr/>
        </p:nvSpPr>
        <p:spPr>
          <a:xfrm>
            <a:off x="8249716" y="4014216"/>
            <a:ext cx="3210458" cy="859536"/>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32596" y="4151376"/>
            <a:ext cx="2844698" cy="585215"/>
          </a:xfrm>
          <a:prstGeom prst="rect">
            <a:avLst/>
          </a:prstGeom>
          <a:noFill/>
        </p:spPr>
        <p:txBody>
          <a:bodyPr wrap="square" anchor="ctr" lIns="0" rIns="0" tIns="0" bIns="0">
            <a:spAutoFit/>
          </a:bodyPr>
          <a:lstStyle/>
          <a:p>
            <a:pPr algn="l">
              <a:spcAft>
                <a:spcPts val="300"/>
              </a:spcAft>
            </a:pPr>
            <a:r>
              <a:rPr sz="1300" b="1" i="0">
                <a:solidFill>
                  <a:srgbClr val="F2667F"/>
                </a:solidFill>
                <a:latin typeface="Kaspersky Sans Display"/>
              </a:rPr>
              <a:t>15.99 + 0.00 = 15.99 ≠ 19.99  ✗</a:t>
            </a:r>
          </a:p>
          <a:p>
            <a:pPr algn="l">
              <a:spcAft>
                <a:spcPts val="300"/>
              </a:spcAft>
            </a:pPr>
            <a:r>
              <a:rPr sz="1200" b="0" i="0">
                <a:solidFill>
                  <a:srgbClr val="A9B1BF"/>
                </a:solidFill>
                <a:latin typeface="Kaspersky Sans Display"/>
              </a:rPr>
              <a:t>Paid 1.00 above the price of that day</a:t>
            </a:r>
          </a:p>
        </p:txBody>
      </p:sp>
      <p:sp>
        <p:nvSpPr>
          <p:cNvPr id="46" name="TextBox 45"/>
          <p:cNvSpPr txBox="1"/>
          <p:nvPr/>
        </p:nvSpPr>
        <p:spPr>
          <a:xfrm>
            <a:off x="8295436" y="5056632"/>
            <a:ext cx="3119018" cy="960120"/>
          </a:xfrm>
          <a:prstGeom prst="rect">
            <a:avLst/>
          </a:prstGeom>
          <a:noFill/>
        </p:spPr>
        <p:txBody>
          <a:bodyPr wrap="square" anchor="t" lIns="0" rIns="0" tIns="0" bIns="0">
            <a:spAutoFit/>
          </a:bodyPr>
          <a:lstStyle/>
          <a:p>
            <a:pPr algn="l">
              <a:spcAft>
                <a:spcPts val="600"/>
              </a:spcAft>
            </a:pPr>
            <a:r>
              <a:rPr sz="1300" b="0" i="0">
                <a:solidFill>
                  <a:srgbClr val="ECEEF2"/>
                </a:solidFill>
                <a:latin typeface="Kaspersky Sans Display"/>
              </a:rPr>
              <a:t>New price 14.99 valid from 01-10-2025 08:00, order on 02-10-2025. Real discount 4.00 (20%) is not stored.</a:t>
            </a:r>
          </a:p>
        </p:txBody>
      </p:sp>
      <p:sp>
        <p:nvSpPr>
          <p:cNvPr id="47" name="Rounded Rectangle 46"/>
          <p:cNvSpPr/>
          <p:nvPr/>
        </p:nvSpPr>
        <p:spPr>
          <a:xfrm>
            <a:off x="548640" y="6291072"/>
            <a:ext cx="11094415" cy="429768"/>
          </a:xfrm>
          <a:prstGeom prst="roundRect">
            <a:avLst>
              <a:gd name="adj" fmla="val 12000"/>
            </a:avLst>
          </a:prstGeom>
          <a:solidFill>
            <a:srgbClr val="2A2E37"/>
          </a:solidFill>
          <a:ln w="19050">
            <a:solidFill>
              <a:srgbClr val="3DC4A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3DC4A2"/>
                </a:solidFill>
                <a:latin typeface="Kaspersky Sans Display"/>
              </a:rPr>
              <a:t>→  Agreement 2:  </a:t>
            </a:r>
            <a:r>
              <a:rPr sz="1500" b="1" i="0">
                <a:solidFill>
                  <a:srgbClr val="ECEEF2"/>
                </a:solidFill>
                <a:latin typeface="Kaspersky Sans Display"/>
              </a:rPr>
              <a:t>We hand over how we link to WebPriceList. Your team reviews it and measures the coverage of the link.</a:t>
            </a:r>
          </a:p>
        </p:txBody>
      </p:sp>
      <p:sp>
        <p:nvSpPr>
          <p:cNvPr id="48" name="TextBox 47"/>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18</a:t>
            </a:r>
          </a:p>
        </p:txBody>
      </p:sp>
      <p:sp>
        <p:nvSpPr>
          <p:cNvPr id="49" name="Rounded Rectangle 48"/>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Case 3: the 'full price' is not the MSRP</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MSRP €100 · demand level 50% · 10% coupon applied on the already discounted price</a:t>
            </a:r>
          </a:p>
        </p:txBody>
      </p:sp>
      <p:sp>
        <p:nvSpPr>
          <p:cNvPr id="4" name="Rounded Rectangle 3"/>
          <p:cNvSpPr/>
          <p:nvPr/>
        </p:nvSpPr>
        <p:spPr>
          <a:xfrm>
            <a:off x="548640" y="1645920"/>
            <a:ext cx="5394960" cy="457200"/>
          </a:xfrm>
          <a:prstGeom prst="roundRect">
            <a:avLst>
              <a:gd name="adj" fmla="val 12000"/>
            </a:avLst>
          </a:prstGeom>
          <a:solidFill>
            <a:srgbClr val="DDF3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9A7A"/>
                </a:solidFill>
                <a:latin typeface="Kaspersky Sans Display"/>
              </a:rPr>
              <a:t>What we need: everything relative to the MSRP</a:t>
            </a:r>
          </a:p>
        </p:txBody>
      </p:sp>
      <p:sp>
        <p:nvSpPr>
          <p:cNvPr id="5" name="Rectangle 4"/>
          <p:cNvSpPr/>
          <p:nvPr/>
        </p:nvSpPr>
        <p:spPr>
          <a:xfrm>
            <a:off x="548640" y="2606040"/>
            <a:ext cx="4572000"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60604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93207" y="260604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258568"/>
            <a:ext cx="4572000"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Valid MSRP: €100</a:t>
            </a:r>
          </a:p>
        </p:txBody>
      </p:sp>
      <p:sp>
        <p:nvSpPr>
          <p:cNvPr id="9" name="Rectangle 8"/>
          <p:cNvSpPr/>
          <p:nvPr/>
        </p:nvSpPr>
        <p:spPr>
          <a:xfrm>
            <a:off x="548640" y="2788920"/>
            <a:ext cx="2057400" cy="64008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Paid</a:t>
            </a:r>
          </a:p>
          <a:p>
            <a:pPr algn="ctr">
              <a:spcAft>
                <a:spcPts val="0"/>
              </a:spcAft>
            </a:pPr>
            <a:r>
              <a:rPr sz="1200" b="1" i="0">
                <a:solidFill>
                  <a:srgbClr val="14171C"/>
                </a:solidFill>
                <a:latin typeface="Kaspersky Sans Display"/>
              </a:rPr>
              <a:t>€45</a:t>
            </a:r>
          </a:p>
        </p:txBody>
      </p:sp>
      <p:sp>
        <p:nvSpPr>
          <p:cNvPr id="10" name="Rectangle 9"/>
          <p:cNvSpPr/>
          <p:nvPr/>
        </p:nvSpPr>
        <p:spPr>
          <a:xfrm>
            <a:off x="2606040" y="2788920"/>
            <a:ext cx="2286000" cy="64008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Demand level</a:t>
            </a:r>
          </a:p>
          <a:p>
            <a:pPr algn="ctr">
              <a:spcAft>
                <a:spcPts val="0"/>
              </a:spcAft>
            </a:pPr>
            <a:r>
              <a:rPr sz="1200" b="1" i="0">
                <a:solidFill>
                  <a:srgbClr val="14171C"/>
                </a:solidFill>
                <a:latin typeface="Kaspersky Sans Display"/>
              </a:rPr>
              <a:t>€50</a:t>
            </a:r>
          </a:p>
        </p:txBody>
      </p:sp>
      <p:sp>
        <p:nvSpPr>
          <p:cNvPr id="11" name="Rectangle 10"/>
          <p:cNvSpPr/>
          <p:nvPr/>
        </p:nvSpPr>
        <p:spPr>
          <a:xfrm>
            <a:off x="4892040" y="2788920"/>
            <a:ext cx="228600" cy="640080"/>
          </a:xfrm>
          <a:prstGeom prst="rect">
            <a:avLst/>
          </a:prstGeom>
          <a:solidFill>
            <a:srgbClr val="E5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4820" y="3465576"/>
            <a:ext cx="1463040" cy="228600"/>
          </a:xfrm>
          <a:prstGeom prst="rect">
            <a:avLst/>
          </a:prstGeom>
          <a:noFill/>
        </p:spPr>
        <p:txBody>
          <a:bodyPr wrap="square" anchor="t" lIns="0" rIns="0" tIns="0" bIns="0">
            <a:spAutoFit/>
          </a:bodyPr>
          <a:lstStyle/>
          <a:p>
            <a:pPr algn="ctr">
              <a:spcAft>
                <a:spcPts val="600"/>
              </a:spcAft>
            </a:pPr>
            <a:r>
              <a:rPr sz="1100" b="1" i="0">
                <a:solidFill>
                  <a:srgbClr val="E5B400"/>
                </a:solidFill>
                <a:latin typeface="Kaspersky Sans Display"/>
              </a:rPr>
              <a:t>Coupon €5</a:t>
            </a:r>
          </a:p>
        </p:txBody>
      </p:sp>
      <p:sp>
        <p:nvSpPr>
          <p:cNvPr id="13" name="TextBox 12"/>
          <p:cNvSpPr txBox="1"/>
          <p:nvPr/>
        </p:nvSpPr>
        <p:spPr>
          <a:xfrm>
            <a:off x="548640" y="3977639"/>
            <a:ext cx="5394960" cy="1828800"/>
          </a:xfrm>
          <a:prstGeom prst="rect">
            <a:avLst/>
          </a:prstGeom>
          <a:noFill/>
        </p:spPr>
        <p:txBody>
          <a:bodyPr wrap="square" anchor="t" lIns="0" rIns="0" tIns="0" bIns="0">
            <a:spAutoFit/>
          </a:bodyPr>
          <a:lstStyle/>
          <a:p>
            <a:pPr algn="l">
              <a:spcAft>
                <a:spcPts val="500"/>
              </a:spcAft>
            </a:pPr>
            <a:r>
              <a:rPr sz="1400" b="0" i="0">
                <a:solidFill>
                  <a:srgbClr val="1F2937"/>
                </a:solidFill>
                <a:latin typeface="Kaspersky Sans Display"/>
              </a:rPr>
              <a:t>Demand level: €50 → 50% of MSRP</a:t>
            </a:r>
          </a:p>
          <a:p>
            <a:pPr algn="l">
              <a:spcAft>
                <a:spcPts val="500"/>
              </a:spcAft>
            </a:pPr>
            <a:r>
              <a:rPr sz="1400" b="0" i="0">
                <a:solidFill>
                  <a:srgbClr val="1F2937"/>
                </a:solidFill>
                <a:latin typeface="Kaspersky Sans Display"/>
              </a:rPr>
              <a:t>Coupon: 10% of €50 = €5 → 5% of MSRP</a:t>
            </a:r>
          </a:p>
          <a:p>
            <a:pPr algn="l">
              <a:spcAft>
                <a:spcPts val="500"/>
              </a:spcAft>
            </a:pPr>
            <a:r>
              <a:rPr sz="1400" b="1" i="0">
                <a:solidFill>
                  <a:srgbClr val="1F2937"/>
                </a:solidFill>
                <a:latin typeface="Kaspersky Sans Display"/>
              </a:rPr>
              <a:t>Total discount: €55 → 55%</a:t>
            </a:r>
          </a:p>
          <a:p>
            <a:pPr algn="l">
              <a:spcAft>
                <a:spcPts val="500"/>
              </a:spcAft>
            </a:pPr>
            <a:r>
              <a:rPr sz="2000" b="1" i="0">
                <a:solidFill>
                  <a:srgbClr val="149A7A"/>
                </a:solidFill>
                <a:latin typeface="Kaspersky Sans Display"/>
              </a:rPr>
              <a:t>55 + 45 = 100   ✓</a:t>
            </a:r>
          </a:p>
        </p:txBody>
      </p:sp>
      <p:sp>
        <p:nvSpPr>
          <p:cNvPr id="14" name="Rounded Rectangle 13"/>
          <p:cNvSpPr/>
          <p:nvPr/>
        </p:nvSpPr>
        <p:spPr>
          <a:xfrm>
            <a:off x="6245352" y="1645920"/>
            <a:ext cx="5394960" cy="457200"/>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D42A4F"/>
                </a:solidFill>
                <a:latin typeface="Kaspersky Sans Display"/>
              </a:rPr>
              <a:t>What the data gives: reference = price after demand level</a:t>
            </a:r>
          </a:p>
        </p:txBody>
      </p:sp>
      <p:sp>
        <p:nvSpPr>
          <p:cNvPr id="15" name="Rectangle 14"/>
          <p:cNvSpPr/>
          <p:nvPr/>
        </p:nvSpPr>
        <p:spPr>
          <a:xfrm>
            <a:off x="6245352" y="2606040"/>
            <a:ext cx="2286000" cy="27432"/>
          </a:xfrm>
          <a:prstGeom prst="rect">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5352" y="2606040"/>
            <a:ext cx="27432" cy="146304"/>
          </a:xfrm>
          <a:prstGeom prst="rect">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03920" y="2606040"/>
            <a:ext cx="27432" cy="146304"/>
          </a:xfrm>
          <a:prstGeom prst="rect">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45352" y="2258568"/>
            <a:ext cx="2286000" cy="292608"/>
          </a:xfrm>
          <a:prstGeom prst="rect">
            <a:avLst/>
          </a:prstGeom>
          <a:noFill/>
        </p:spPr>
        <p:txBody>
          <a:bodyPr wrap="square" anchor="b" lIns="0" rIns="0" tIns="0" bIns="0">
            <a:spAutoFit/>
          </a:bodyPr>
          <a:lstStyle/>
          <a:p>
            <a:pPr algn="ctr">
              <a:spcAft>
                <a:spcPts val="600"/>
              </a:spcAft>
            </a:pPr>
            <a:r>
              <a:rPr sz="1300" b="1" i="0">
                <a:solidFill>
                  <a:srgbClr val="D42A4F"/>
                </a:solidFill>
                <a:latin typeface="Kaspersky Sans Display"/>
              </a:rPr>
              <a:t>'Full' price in data: €50</a:t>
            </a:r>
          </a:p>
        </p:txBody>
      </p:sp>
      <p:sp>
        <p:nvSpPr>
          <p:cNvPr id="19" name="Rectangle 18"/>
          <p:cNvSpPr/>
          <p:nvPr/>
        </p:nvSpPr>
        <p:spPr>
          <a:xfrm>
            <a:off x="6245352" y="2788920"/>
            <a:ext cx="2057400" cy="64008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Paid</a:t>
            </a:r>
          </a:p>
          <a:p>
            <a:pPr algn="ctr">
              <a:spcAft>
                <a:spcPts val="0"/>
              </a:spcAft>
            </a:pPr>
            <a:r>
              <a:rPr sz="1200" b="1" i="0">
                <a:solidFill>
                  <a:srgbClr val="14171C"/>
                </a:solidFill>
                <a:latin typeface="Kaspersky Sans Display"/>
              </a:rPr>
              <a:t>€45</a:t>
            </a:r>
          </a:p>
        </p:txBody>
      </p:sp>
      <p:sp>
        <p:nvSpPr>
          <p:cNvPr id="20" name="Rectangle 19"/>
          <p:cNvSpPr/>
          <p:nvPr/>
        </p:nvSpPr>
        <p:spPr>
          <a:xfrm>
            <a:off x="8302752" y="2788920"/>
            <a:ext cx="228600" cy="640080"/>
          </a:xfrm>
          <a:prstGeom prst="rect">
            <a:avLst/>
          </a:prstGeom>
          <a:solidFill>
            <a:srgbClr val="E5B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5531" y="3465576"/>
            <a:ext cx="1463040" cy="228600"/>
          </a:xfrm>
          <a:prstGeom prst="rect">
            <a:avLst/>
          </a:prstGeom>
          <a:noFill/>
        </p:spPr>
        <p:txBody>
          <a:bodyPr wrap="square" anchor="t" lIns="0" rIns="0" tIns="0" bIns="0">
            <a:spAutoFit/>
          </a:bodyPr>
          <a:lstStyle/>
          <a:p>
            <a:pPr algn="ctr">
              <a:spcAft>
                <a:spcPts val="600"/>
              </a:spcAft>
            </a:pPr>
            <a:r>
              <a:rPr sz="1100" b="1" i="0">
                <a:solidFill>
                  <a:srgbClr val="E5B400"/>
                </a:solidFill>
                <a:latin typeface="Kaspersky Sans Display"/>
              </a:rPr>
              <a:t>Coupon €5</a:t>
            </a:r>
          </a:p>
        </p:txBody>
      </p:sp>
      <p:sp>
        <p:nvSpPr>
          <p:cNvPr id="22" name="Rectangle 21"/>
          <p:cNvSpPr/>
          <p:nvPr/>
        </p:nvSpPr>
        <p:spPr>
          <a:xfrm>
            <a:off x="8531352" y="2788920"/>
            <a:ext cx="2286000" cy="640080"/>
          </a:xfrm>
          <a:prstGeom prst="rect">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Demand level €50</a:t>
            </a:r>
          </a:p>
          <a:p>
            <a:pPr algn="ctr">
              <a:spcAft>
                <a:spcPts val="0"/>
              </a:spcAft>
            </a:pPr>
            <a:r>
              <a:rPr sz="1100" b="1" i="0">
                <a:solidFill>
                  <a:srgbClr val="D42A4F"/>
                </a:solidFill>
                <a:latin typeface="Kaspersky Sans Display"/>
              </a:rPr>
              <a:t>not stored</a:t>
            </a:r>
          </a:p>
        </p:txBody>
      </p:sp>
      <p:sp>
        <p:nvSpPr>
          <p:cNvPr id="23" name="TextBox 22"/>
          <p:cNvSpPr txBox="1"/>
          <p:nvPr/>
        </p:nvSpPr>
        <p:spPr>
          <a:xfrm>
            <a:off x="6245352" y="3977639"/>
            <a:ext cx="5394960" cy="1828800"/>
          </a:xfrm>
          <a:prstGeom prst="rect">
            <a:avLst/>
          </a:prstGeom>
          <a:noFill/>
        </p:spPr>
        <p:txBody>
          <a:bodyPr wrap="square" anchor="t" lIns="0" rIns="0" tIns="0" bIns="0">
            <a:spAutoFit/>
          </a:bodyPr>
          <a:lstStyle/>
          <a:p>
            <a:pPr algn="l">
              <a:spcAft>
                <a:spcPts val="500"/>
              </a:spcAft>
            </a:pPr>
            <a:r>
              <a:rPr sz="1400" b="0" i="0">
                <a:solidFill>
                  <a:srgbClr val="1F2937"/>
                </a:solidFill>
                <a:latin typeface="Kaspersky Sans Display"/>
              </a:rPr>
              <a:t>Coupon: €5 → 10% of €50</a:t>
            </a:r>
          </a:p>
          <a:p>
            <a:pPr algn="l">
              <a:spcAft>
                <a:spcPts val="500"/>
              </a:spcAft>
            </a:pPr>
            <a:r>
              <a:rPr sz="1400" b="0" i="0">
                <a:solidFill>
                  <a:srgbClr val="1F2937"/>
                </a:solidFill>
                <a:latin typeface="Kaspersky Sans Display"/>
              </a:rPr>
              <a:t>The demand level (€50) is not in the data</a:t>
            </a:r>
          </a:p>
          <a:p>
            <a:pPr algn="l">
              <a:spcAft>
                <a:spcPts val="500"/>
              </a:spcAft>
            </a:pPr>
            <a:r>
              <a:rPr sz="1400" b="1" i="0">
                <a:solidFill>
                  <a:srgbClr val="1F2937"/>
                </a:solidFill>
                <a:latin typeface="Kaspersky Sans Display"/>
              </a:rPr>
              <a:t>Discount shown: 10%. Real discount: 55%.</a:t>
            </a:r>
          </a:p>
          <a:p>
            <a:pPr algn="l">
              <a:spcAft>
                <a:spcPts val="500"/>
              </a:spcAft>
            </a:pPr>
            <a:r>
              <a:rPr sz="2000" b="1" i="0">
                <a:solidFill>
                  <a:srgbClr val="D42A4F"/>
                </a:solidFill>
                <a:latin typeface="Kaspersky Sans Display"/>
              </a:rPr>
              <a:t>5 + 45 = 50 ✓   but €50 is not the MSRP ✗</a:t>
            </a:r>
          </a:p>
        </p:txBody>
      </p:sp>
      <p:sp>
        <p:nvSpPr>
          <p:cNvPr id="24" name="TextBox 23"/>
          <p:cNvSpPr txBox="1"/>
          <p:nvPr/>
        </p:nvSpPr>
        <p:spPr>
          <a:xfrm>
            <a:off x="548640" y="5943600"/>
            <a:ext cx="11094415" cy="411480"/>
          </a:xfrm>
          <a:prstGeom prst="rect">
            <a:avLst/>
          </a:prstGeom>
          <a:noFill/>
        </p:spPr>
        <p:txBody>
          <a:bodyPr wrap="square" anchor="t" lIns="0" rIns="0" tIns="0" bIns="0">
            <a:spAutoFit/>
          </a:bodyPr>
          <a:lstStyle/>
          <a:p>
            <a:pPr algn="l">
              <a:spcAft>
                <a:spcPts val="600"/>
              </a:spcAft>
            </a:pPr>
            <a:r>
              <a:rPr sz="1600" b="1" i="0">
                <a:solidFill>
                  <a:srgbClr val="1F2937"/>
                </a:solidFill>
                <a:latin typeface="Kaspersky Sans Display"/>
              </a:rPr>
              <a:t>The sum can close against the wrong reference. Next: the same in real data (Ex 3 and Ex 4).</a:t>
            </a:r>
          </a:p>
        </p:txBody>
      </p:sp>
      <p:sp>
        <p:nvSpPr>
          <p:cNvPr id="25" name="TextBox 24"/>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19</a:t>
            </a:r>
          </a:p>
        </p:txBody>
      </p:sp>
      <p:sp>
        <p:nvSpPr>
          <p:cNvPr id="26" name="Rounded Rectangle 25"/>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2128"/>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With demand level, the MSRP is lost</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Case 3 · The data only knows the price after demand level</a:t>
            </a:r>
          </a:p>
        </p:txBody>
      </p:sp>
      <p:sp>
        <p:nvSpPr>
          <p:cNvPr id="4" name="Rounded Rectangle 3"/>
          <p:cNvSpPr/>
          <p:nvPr/>
        </p:nvSpPr>
        <p:spPr>
          <a:xfrm>
            <a:off x="548640" y="1600200"/>
            <a:ext cx="5455767"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868680" cy="411480"/>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Ex 3</a:t>
            </a:r>
          </a:p>
        </p:txBody>
      </p:sp>
      <p:sp>
        <p:nvSpPr>
          <p:cNvPr id="6" name="TextBox 5"/>
          <p:cNvSpPr txBox="1"/>
          <p:nvPr/>
        </p:nvSpPr>
        <p:spPr>
          <a:xfrm>
            <a:off x="1783080" y="1764792"/>
            <a:ext cx="4038447"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Demand level · no coupon</a:t>
            </a:r>
          </a:p>
        </p:txBody>
      </p:sp>
      <p:sp>
        <p:nvSpPr>
          <p:cNvPr id="7" name="TextBox 6"/>
          <p:cNvSpPr txBox="1"/>
          <p:nvPr/>
        </p:nvSpPr>
        <p:spPr>
          <a:xfrm>
            <a:off x="1783080" y="2075688"/>
            <a:ext cx="4038447"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EUR · order 4AKQYNNG6R4</a:t>
            </a:r>
          </a:p>
        </p:txBody>
      </p:sp>
      <p:sp>
        <p:nvSpPr>
          <p:cNvPr id="8" name="TextBox 7"/>
          <p:cNvSpPr txBox="1"/>
          <p:nvPr/>
        </p:nvSpPr>
        <p:spPr>
          <a:xfrm>
            <a:off x="777240" y="2560320"/>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tax)</a:t>
            </a:r>
          </a:p>
        </p:txBody>
      </p:sp>
      <p:sp>
        <p:nvSpPr>
          <p:cNvPr id="9" name="TextBox 8"/>
          <p:cNvSpPr txBox="1"/>
          <p:nvPr/>
        </p:nvSpPr>
        <p:spPr>
          <a:xfrm>
            <a:off x="4129887" y="2560320"/>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20.99</a:t>
            </a:r>
          </a:p>
        </p:txBody>
      </p:sp>
      <p:sp>
        <p:nvSpPr>
          <p:cNvPr id="10" name="TextBox 9"/>
          <p:cNvSpPr txBox="1"/>
          <p:nvPr/>
        </p:nvSpPr>
        <p:spPr>
          <a:xfrm>
            <a:off x="777240" y="2889503"/>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a:t>
            </a:r>
          </a:p>
        </p:txBody>
      </p:sp>
      <p:sp>
        <p:nvSpPr>
          <p:cNvPr id="11" name="TextBox 10"/>
          <p:cNvSpPr txBox="1"/>
          <p:nvPr/>
        </p:nvSpPr>
        <p:spPr>
          <a:xfrm>
            <a:off x="4129887" y="2889503"/>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0.00</a:t>
            </a:r>
          </a:p>
        </p:txBody>
      </p:sp>
      <p:sp>
        <p:nvSpPr>
          <p:cNvPr id="12" name="TextBox 11"/>
          <p:cNvSpPr txBox="1"/>
          <p:nvPr/>
        </p:nvSpPr>
        <p:spPr>
          <a:xfrm>
            <a:off x="777240" y="3218687"/>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grossMsrp</a:t>
            </a:r>
          </a:p>
        </p:txBody>
      </p:sp>
      <p:sp>
        <p:nvSpPr>
          <p:cNvPr id="13" name="TextBox 12"/>
          <p:cNvSpPr txBox="1"/>
          <p:nvPr/>
        </p:nvSpPr>
        <p:spPr>
          <a:xfrm>
            <a:off x="4129887" y="3218687"/>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23.99</a:t>
            </a:r>
          </a:p>
        </p:txBody>
      </p:sp>
      <p:sp>
        <p:nvSpPr>
          <p:cNvPr id="14" name="Rounded Rectangle 13"/>
          <p:cNvSpPr/>
          <p:nvPr/>
        </p:nvSpPr>
        <p:spPr>
          <a:xfrm>
            <a:off x="731520" y="4014216"/>
            <a:ext cx="5090007" cy="932688"/>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51376"/>
            <a:ext cx="4724247" cy="658368"/>
          </a:xfrm>
          <a:prstGeom prst="rect">
            <a:avLst/>
          </a:prstGeom>
          <a:noFill/>
        </p:spPr>
        <p:txBody>
          <a:bodyPr wrap="square" anchor="ctr" lIns="0" rIns="0" tIns="0" bIns="0">
            <a:spAutoFit/>
          </a:bodyPr>
          <a:lstStyle/>
          <a:p>
            <a:pPr algn="l">
              <a:spcAft>
                <a:spcPts val="300"/>
              </a:spcAft>
            </a:pPr>
            <a:r>
              <a:rPr sz="1500" b="1" i="0">
                <a:solidFill>
                  <a:srgbClr val="F2667F"/>
                </a:solidFill>
                <a:latin typeface="Kaspersky Sans Display"/>
              </a:rPr>
              <a:t>20.99 + 0.00 = 20.99 ≠ 23.99  ✗</a:t>
            </a:r>
          </a:p>
          <a:p>
            <a:pPr algn="l">
              <a:spcAft>
                <a:spcPts val="300"/>
              </a:spcAft>
            </a:pPr>
            <a:r>
              <a:rPr sz="1400" b="0" i="0">
                <a:solidFill>
                  <a:srgbClr val="A9B1BF"/>
                </a:solidFill>
                <a:latin typeface="Kaspersky Sans Display"/>
              </a:rPr>
              <a:t>Real discount: 23.99 − 20.99 = 3.00 (12.5%)</a:t>
            </a:r>
          </a:p>
        </p:txBody>
      </p:sp>
      <p:sp>
        <p:nvSpPr>
          <p:cNvPr id="16" name="TextBox 15"/>
          <p:cNvSpPr txBox="1"/>
          <p:nvPr/>
        </p:nvSpPr>
        <p:spPr>
          <a:xfrm>
            <a:off x="777240" y="5129784"/>
            <a:ext cx="4998567" cy="886968"/>
          </a:xfrm>
          <a:prstGeom prst="rect">
            <a:avLst/>
          </a:prstGeom>
          <a:noFill/>
        </p:spPr>
        <p:txBody>
          <a:bodyPr wrap="square" anchor="t" lIns="0" rIns="0" tIns="0" bIns="0">
            <a:spAutoFit/>
          </a:bodyPr>
          <a:lstStyle/>
          <a:p>
            <a:pPr algn="l">
              <a:spcAft>
                <a:spcPts val="600"/>
              </a:spcAft>
            </a:pPr>
            <a:r>
              <a:rPr sz="1400" b="0" i="0">
                <a:solidFill>
                  <a:srgbClr val="ECEEF2"/>
                </a:solidFill>
                <a:latin typeface="Kaspersky Sans Display"/>
              </a:rPr>
              <a:t>The demand level discount is not stored: </a:t>
            </a:r>
            <a:r>
              <a:rPr sz="1400" b="1" i="0">
                <a:solidFill>
                  <a:srgbClr val="ECEEF2"/>
                </a:solidFill>
                <a:latin typeface="Kaspersky Sans Display"/>
              </a:rPr>
              <a:t>eComm</a:t>
            </a:r>
            <a:r>
              <a:rPr sz="1400" b="0" i="0">
                <a:solidFill>
                  <a:srgbClr val="ECEEF2"/>
                </a:solidFill>
                <a:latin typeface="Kaspersky Sans Display"/>
              </a:rPr>
              <a:t> shows 0%. The MSRP is only in the </a:t>
            </a:r>
            <a:r>
              <a:rPr sz="1400" b="1" i="0">
                <a:solidFill>
                  <a:srgbClr val="ECEEF2"/>
                </a:solidFill>
                <a:latin typeface="Kaspersky Sans Display"/>
              </a:rPr>
              <a:t>API</a:t>
            </a:r>
            <a:r>
              <a:rPr sz="1400" b="0" i="0">
                <a:solidFill>
                  <a:srgbClr val="ECEEF2"/>
                </a:solidFill>
                <a:latin typeface="Kaspersky Sans Display"/>
              </a:rPr>
              <a:t> or in </a:t>
            </a:r>
            <a:r>
              <a:rPr sz="1400" b="1" i="0">
                <a:solidFill>
                  <a:srgbClr val="ECEEF2"/>
                </a:solidFill>
                <a:latin typeface="Kaspersky Sans Display"/>
              </a:rPr>
              <a:t>WebPriceList</a:t>
            </a:r>
            <a:r>
              <a:rPr sz="1400" b="0" i="0">
                <a:solidFill>
                  <a:srgbClr val="ECEEF2"/>
                </a:solidFill>
                <a:latin typeface="Kaspersky Sans Display"/>
              </a:rPr>
              <a:t>, and renewal SKUs are not in </a:t>
            </a:r>
            <a:r>
              <a:rPr sz="1400" b="1" i="0">
                <a:solidFill>
                  <a:srgbClr val="ECEEF2"/>
                </a:solidFill>
                <a:latin typeface="Kaspersky Sans Display"/>
              </a:rPr>
              <a:t>WebPriceList</a:t>
            </a:r>
            <a:r>
              <a:rPr sz="1400" b="0" i="0">
                <a:solidFill>
                  <a:srgbClr val="ECEEF2"/>
                </a:solidFill>
                <a:latin typeface="Kaspersky Sans Display"/>
              </a:rPr>
              <a:t>.</a:t>
            </a:r>
          </a:p>
        </p:txBody>
      </p:sp>
      <p:sp>
        <p:nvSpPr>
          <p:cNvPr id="17" name="Rounded Rectangle 16"/>
          <p:cNvSpPr/>
          <p:nvPr/>
        </p:nvSpPr>
        <p:spPr>
          <a:xfrm>
            <a:off x="6187287" y="1600200"/>
            <a:ext cx="5455767"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15887" y="1828800"/>
            <a:ext cx="868680" cy="411480"/>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Ex 4</a:t>
            </a:r>
          </a:p>
        </p:txBody>
      </p:sp>
      <p:sp>
        <p:nvSpPr>
          <p:cNvPr id="19" name="TextBox 18"/>
          <p:cNvSpPr txBox="1"/>
          <p:nvPr/>
        </p:nvSpPr>
        <p:spPr>
          <a:xfrm>
            <a:off x="7421727" y="1764792"/>
            <a:ext cx="4038447"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Demand level · coupon</a:t>
            </a:r>
          </a:p>
        </p:txBody>
      </p:sp>
      <p:sp>
        <p:nvSpPr>
          <p:cNvPr id="20" name="TextBox 19"/>
          <p:cNvSpPr txBox="1"/>
          <p:nvPr/>
        </p:nvSpPr>
        <p:spPr>
          <a:xfrm>
            <a:off x="7421727" y="2075688"/>
            <a:ext cx="4038447"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INR · order 4CA0PVURQGA</a:t>
            </a:r>
          </a:p>
        </p:txBody>
      </p:sp>
      <p:sp>
        <p:nvSpPr>
          <p:cNvPr id="21" name="TextBox 20"/>
          <p:cNvSpPr txBox="1"/>
          <p:nvPr/>
        </p:nvSpPr>
        <p:spPr>
          <a:xfrm>
            <a:off x="6415887" y="2560320"/>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tax)</a:t>
            </a:r>
          </a:p>
        </p:txBody>
      </p:sp>
      <p:sp>
        <p:nvSpPr>
          <p:cNvPr id="22" name="TextBox 21"/>
          <p:cNvSpPr txBox="1"/>
          <p:nvPr/>
        </p:nvSpPr>
        <p:spPr>
          <a:xfrm>
            <a:off x="9768535" y="2560320"/>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1,250.10</a:t>
            </a:r>
          </a:p>
        </p:txBody>
      </p:sp>
      <p:sp>
        <p:nvSpPr>
          <p:cNvPr id="23" name="TextBox 22"/>
          <p:cNvSpPr txBox="1"/>
          <p:nvPr/>
        </p:nvSpPr>
        <p:spPr>
          <a:xfrm>
            <a:off x="6415887" y="2889503"/>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 (no tax)</a:t>
            </a:r>
          </a:p>
        </p:txBody>
      </p:sp>
      <p:sp>
        <p:nvSpPr>
          <p:cNvPr id="24" name="TextBox 23"/>
          <p:cNvSpPr txBox="1"/>
          <p:nvPr/>
        </p:nvSpPr>
        <p:spPr>
          <a:xfrm>
            <a:off x="9768535" y="2889503"/>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117.71</a:t>
            </a:r>
          </a:p>
        </p:txBody>
      </p:sp>
      <p:sp>
        <p:nvSpPr>
          <p:cNvPr id="25" name="TextBox 24"/>
          <p:cNvSpPr txBox="1"/>
          <p:nvPr/>
        </p:nvSpPr>
        <p:spPr>
          <a:xfrm>
            <a:off x="6415887" y="3218687"/>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grossPrice</a:t>
            </a:r>
          </a:p>
        </p:txBody>
      </p:sp>
      <p:sp>
        <p:nvSpPr>
          <p:cNvPr id="26" name="TextBox 25"/>
          <p:cNvSpPr txBox="1"/>
          <p:nvPr/>
        </p:nvSpPr>
        <p:spPr>
          <a:xfrm>
            <a:off x="9768535" y="3218687"/>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1,389.00</a:t>
            </a:r>
          </a:p>
        </p:txBody>
      </p:sp>
      <p:sp>
        <p:nvSpPr>
          <p:cNvPr id="27" name="TextBox 26"/>
          <p:cNvSpPr txBox="1"/>
          <p:nvPr/>
        </p:nvSpPr>
        <p:spPr>
          <a:xfrm>
            <a:off x="6415887" y="3547872"/>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grossMsrp</a:t>
            </a:r>
          </a:p>
        </p:txBody>
      </p:sp>
      <p:sp>
        <p:nvSpPr>
          <p:cNvPr id="28" name="TextBox 27"/>
          <p:cNvSpPr txBox="1"/>
          <p:nvPr/>
        </p:nvSpPr>
        <p:spPr>
          <a:xfrm>
            <a:off x="9768535" y="3547872"/>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1,439.00</a:t>
            </a:r>
          </a:p>
        </p:txBody>
      </p:sp>
      <p:sp>
        <p:nvSpPr>
          <p:cNvPr id="29" name="Rounded Rectangle 28"/>
          <p:cNvSpPr/>
          <p:nvPr/>
        </p:nvSpPr>
        <p:spPr>
          <a:xfrm>
            <a:off x="6370167" y="4014216"/>
            <a:ext cx="5090007" cy="1261872"/>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3047" y="4151376"/>
            <a:ext cx="4724247" cy="987552"/>
          </a:xfrm>
          <a:prstGeom prst="rect">
            <a:avLst/>
          </a:prstGeom>
          <a:noFill/>
        </p:spPr>
        <p:txBody>
          <a:bodyPr wrap="square" anchor="ctr" lIns="0" rIns="0" tIns="0" bIns="0">
            <a:spAutoFit/>
          </a:bodyPr>
          <a:lstStyle/>
          <a:p>
            <a:pPr algn="l">
              <a:spcAft>
                <a:spcPts val="300"/>
              </a:spcAft>
            </a:pPr>
            <a:r>
              <a:rPr sz="1500" b="1" i="0">
                <a:solidFill>
                  <a:srgbClr val="F2667F"/>
                </a:solidFill>
                <a:latin typeface="Kaspersky Sans Display"/>
              </a:rPr>
              <a:t>1,250.10 + 117.71 = 1,367.81  ✗</a:t>
            </a:r>
          </a:p>
          <a:p>
            <a:pPr algn="l">
              <a:spcAft>
                <a:spcPts val="300"/>
              </a:spcAft>
            </a:pPr>
            <a:r>
              <a:rPr sz="1400" b="0" i="0">
                <a:solidFill>
                  <a:srgbClr val="A9B1BF"/>
                </a:solidFill>
                <a:latin typeface="Kaspersky Sans Display"/>
              </a:rPr>
              <a:t>Coupon with tax 138.90  →  1,389.00 = price after DL</a:t>
            </a:r>
          </a:p>
          <a:p>
            <a:pPr algn="l">
              <a:spcAft>
                <a:spcPts val="300"/>
              </a:spcAft>
            </a:pPr>
            <a:r>
              <a:rPr sz="1400" b="0" i="0">
                <a:solidFill>
                  <a:srgbClr val="A9B1BF"/>
                </a:solidFill>
                <a:latin typeface="Kaspersky Sans Display"/>
              </a:rPr>
              <a:t>Real discount: 1,439.00 − 1,250.10 = 188.90 (13.1%)</a:t>
            </a:r>
          </a:p>
        </p:txBody>
      </p:sp>
      <p:sp>
        <p:nvSpPr>
          <p:cNvPr id="31" name="TextBox 30"/>
          <p:cNvSpPr txBox="1"/>
          <p:nvPr/>
        </p:nvSpPr>
        <p:spPr>
          <a:xfrm>
            <a:off x="6415887" y="5458968"/>
            <a:ext cx="4998567" cy="557783"/>
          </a:xfrm>
          <a:prstGeom prst="rect">
            <a:avLst/>
          </a:prstGeom>
          <a:noFill/>
        </p:spPr>
        <p:txBody>
          <a:bodyPr wrap="square" anchor="t" lIns="0" rIns="0" tIns="0" bIns="0">
            <a:spAutoFit/>
          </a:bodyPr>
          <a:lstStyle/>
          <a:p>
            <a:pPr algn="l">
              <a:spcAft>
                <a:spcPts val="600"/>
              </a:spcAft>
            </a:pPr>
            <a:r>
              <a:rPr sz="1400" b="0" i="0">
                <a:solidFill>
                  <a:srgbClr val="ECEEF2"/>
                </a:solidFill>
                <a:latin typeface="Kaspersky Sans Display"/>
              </a:rPr>
              <a:t>Both problems: the discount has no tax, and the demand level (50.00) is not stored. The coupon is 10% of the price after DL.</a:t>
            </a:r>
          </a:p>
        </p:txBody>
      </p:sp>
      <p:sp>
        <p:nvSpPr>
          <p:cNvPr id="32" name="Rounded Rectangle 31"/>
          <p:cNvSpPr/>
          <p:nvPr/>
        </p:nvSpPr>
        <p:spPr>
          <a:xfrm>
            <a:off x="548640" y="6291072"/>
            <a:ext cx="11094415" cy="429768"/>
          </a:xfrm>
          <a:prstGeom prst="roundRect">
            <a:avLst>
              <a:gd name="adj" fmla="val 12000"/>
            </a:avLst>
          </a:prstGeom>
          <a:solidFill>
            <a:srgbClr val="2A2E37"/>
          </a:solidFill>
          <a:ln w="19050">
            <a:solidFill>
              <a:srgbClr val="3DC4A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3DC4A2"/>
                </a:solidFill>
                <a:latin typeface="Kaspersky Sans Display"/>
              </a:rPr>
              <a:t>→  Agreement 3:  </a:t>
            </a:r>
            <a:r>
              <a:rPr sz="1500" b="1" i="0">
                <a:solidFill>
                  <a:srgbClr val="ECEEF2"/>
                </a:solidFill>
                <a:latin typeface="Kaspersky Sans Display"/>
              </a:rPr>
              <a:t>Clarify what each existing field means. New columns with a guaranteed meaning.</a:t>
            </a:r>
          </a:p>
        </p:txBody>
      </p:sp>
      <p:sp>
        <p:nvSpPr>
          <p:cNvPr id="33" name="TextBox 32"/>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20</a:t>
            </a:r>
          </a:p>
        </p:txBody>
      </p:sp>
      <p:sp>
        <p:nvSpPr>
          <p:cNvPr id="34" name="Rounded Rectangle 33"/>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Case 4: mixed tax bases</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MSRP €100 tax-exclusive · €121 tax-inclusive (21%, illustrative) · 30% ladder</a:t>
            </a:r>
          </a:p>
        </p:txBody>
      </p:sp>
      <p:sp>
        <p:nvSpPr>
          <p:cNvPr id="4" name="Rounded Rectangle 3"/>
          <p:cNvSpPr/>
          <p:nvPr/>
        </p:nvSpPr>
        <p:spPr>
          <a:xfrm>
            <a:off x="548640" y="1645920"/>
            <a:ext cx="3566160" cy="310896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828800"/>
            <a:ext cx="3017520" cy="365760"/>
          </a:xfrm>
          <a:prstGeom prst="rect">
            <a:avLst/>
          </a:prstGeom>
          <a:noFill/>
        </p:spPr>
        <p:txBody>
          <a:bodyPr wrap="square" anchor="t" lIns="0" rIns="0" tIns="0" bIns="0">
            <a:spAutoFit/>
          </a:bodyPr>
          <a:lstStyle/>
          <a:p>
            <a:pPr algn="l">
              <a:spcAft>
                <a:spcPts val="600"/>
              </a:spcAft>
            </a:pPr>
            <a:r>
              <a:rPr sz="1800" b="1" i="0">
                <a:solidFill>
                  <a:srgbClr val="1F2937"/>
                </a:solidFill>
                <a:latin typeface="Kaspersky Sans Display"/>
              </a:rPr>
              <a:t>Tax-exclusive</a:t>
            </a:r>
          </a:p>
        </p:txBody>
      </p:sp>
      <p:sp>
        <p:nvSpPr>
          <p:cNvPr id="6" name="Rectangle 5"/>
          <p:cNvSpPr/>
          <p:nvPr/>
        </p:nvSpPr>
        <p:spPr>
          <a:xfrm>
            <a:off x="822959" y="2651760"/>
            <a:ext cx="2468880"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59" y="265176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64408" y="265176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304288"/>
            <a:ext cx="2468880"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MSRP €100</a:t>
            </a:r>
          </a:p>
        </p:txBody>
      </p:sp>
      <p:sp>
        <p:nvSpPr>
          <p:cNvPr id="10" name="Rectangle 9"/>
          <p:cNvSpPr/>
          <p:nvPr/>
        </p:nvSpPr>
        <p:spPr>
          <a:xfrm>
            <a:off x="822959" y="2834640"/>
            <a:ext cx="1728216" cy="54864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Paid</a:t>
            </a:r>
          </a:p>
          <a:p>
            <a:pPr algn="ctr">
              <a:spcAft>
                <a:spcPts val="0"/>
              </a:spcAft>
            </a:pPr>
            <a:r>
              <a:rPr sz="1200" b="1" i="0">
                <a:solidFill>
                  <a:srgbClr val="14171C"/>
                </a:solidFill>
                <a:latin typeface="Kaspersky Sans Display"/>
              </a:rPr>
              <a:t>€70</a:t>
            </a:r>
          </a:p>
        </p:txBody>
      </p:sp>
      <p:sp>
        <p:nvSpPr>
          <p:cNvPr id="11" name="Rectangle 10"/>
          <p:cNvSpPr/>
          <p:nvPr/>
        </p:nvSpPr>
        <p:spPr>
          <a:xfrm>
            <a:off x="2551176" y="2834640"/>
            <a:ext cx="740664" cy="54864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89987" y="3419856"/>
            <a:ext cx="1463040" cy="228600"/>
          </a:xfrm>
          <a:prstGeom prst="rect">
            <a:avLst/>
          </a:prstGeom>
          <a:noFill/>
        </p:spPr>
        <p:txBody>
          <a:bodyPr wrap="square" anchor="t" lIns="0" rIns="0" tIns="0" bIns="0">
            <a:spAutoFit/>
          </a:bodyPr>
          <a:lstStyle/>
          <a:p>
            <a:pPr algn="ctr">
              <a:spcAft>
                <a:spcPts val="600"/>
              </a:spcAft>
            </a:pPr>
            <a:r>
              <a:rPr sz="1100" b="1" i="0">
                <a:solidFill>
                  <a:srgbClr val="EC7A3C"/>
                </a:solidFill>
                <a:latin typeface="Kaspersky Sans Display"/>
              </a:rPr>
              <a:t>Discount €30</a:t>
            </a:r>
          </a:p>
        </p:txBody>
      </p:sp>
      <p:sp>
        <p:nvSpPr>
          <p:cNvPr id="13" name="TextBox 12"/>
          <p:cNvSpPr txBox="1"/>
          <p:nvPr/>
        </p:nvSpPr>
        <p:spPr>
          <a:xfrm>
            <a:off x="822959" y="3794760"/>
            <a:ext cx="3017520" cy="914400"/>
          </a:xfrm>
          <a:prstGeom prst="rect">
            <a:avLst/>
          </a:prstGeom>
          <a:noFill/>
        </p:spPr>
        <p:txBody>
          <a:bodyPr wrap="square" anchor="t" lIns="0" rIns="0" tIns="0" bIns="0">
            <a:spAutoFit/>
          </a:bodyPr>
          <a:lstStyle/>
          <a:p>
            <a:pPr algn="l">
              <a:spcAft>
                <a:spcPts val="400"/>
              </a:spcAft>
            </a:pPr>
            <a:r>
              <a:rPr sz="1700" b="1" i="0">
                <a:solidFill>
                  <a:srgbClr val="149A7A"/>
                </a:solidFill>
                <a:latin typeface="Kaspersky Sans Display"/>
              </a:rPr>
              <a:t>€30 + €70 = €100</a:t>
            </a:r>
          </a:p>
          <a:p>
            <a:pPr algn="l">
              <a:spcAft>
                <a:spcPts val="400"/>
              </a:spcAft>
            </a:pPr>
            <a:r>
              <a:rPr sz="1500" b="0" i="0">
                <a:solidFill>
                  <a:srgbClr val="149A7A"/>
                </a:solidFill>
                <a:latin typeface="Kaspersky Sans Display"/>
              </a:rPr>
              <a:t>Discount 30%   ✓</a:t>
            </a:r>
          </a:p>
        </p:txBody>
      </p:sp>
      <p:sp>
        <p:nvSpPr>
          <p:cNvPr id="14" name="Rounded Rectangle 13"/>
          <p:cNvSpPr/>
          <p:nvPr/>
        </p:nvSpPr>
        <p:spPr>
          <a:xfrm>
            <a:off x="4297680" y="1645920"/>
            <a:ext cx="3566160" cy="310896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28800"/>
            <a:ext cx="3017520" cy="365760"/>
          </a:xfrm>
          <a:prstGeom prst="rect">
            <a:avLst/>
          </a:prstGeom>
          <a:noFill/>
        </p:spPr>
        <p:txBody>
          <a:bodyPr wrap="square" anchor="t" lIns="0" rIns="0" tIns="0" bIns="0">
            <a:spAutoFit/>
          </a:bodyPr>
          <a:lstStyle/>
          <a:p>
            <a:pPr algn="l">
              <a:spcAft>
                <a:spcPts val="600"/>
              </a:spcAft>
            </a:pPr>
            <a:r>
              <a:rPr sz="1800" b="1" i="0">
                <a:solidFill>
                  <a:srgbClr val="1F2937"/>
                </a:solidFill>
                <a:latin typeface="Kaspersky Sans Display"/>
              </a:rPr>
              <a:t>Tax-inclusive</a:t>
            </a:r>
          </a:p>
        </p:txBody>
      </p:sp>
      <p:sp>
        <p:nvSpPr>
          <p:cNvPr id="16" name="Rectangle 15"/>
          <p:cNvSpPr/>
          <p:nvPr/>
        </p:nvSpPr>
        <p:spPr>
          <a:xfrm>
            <a:off x="4572000" y="2651760"/>
            <a:ext cx="2987344" cy="27432"/>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0" y="265176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531912" y="2651760"/>
            <a:ext cx="27432" cy="146304"/>
          </a:xfrm>
          <a:prstGeom prst="rect">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2304288"/>
            <a:ext cx="2987344" cy="292608"/>
          </a:xfrm>
          <a:prstGeom prst="rect">
            <a:avLst/>
          </a:prstGeom>
          <a:noFill/>
        </p:spPr>
        <p:txBody>
          <a:bodyPr wrap="square" anchor="b" lIns="0" rIns="0" tIns="0" bIns="0">
            <a:spAutoFit/>
          </a:bodyPr>
          <a:lstStyle/>
          <a:p>
            <a:pPr algn="ctr">
              <a:spcAft>
                <a:spcPts val="600"/>
              </a:spcAft>
            </a:pPr>
            <a:r>
              <a:rPr sz="1300" b="1" i="0">
                <a:solidFill>
                  <a:srgbClr val="1F2937"/>
                </a:solidFill>
                <a:latin typeface="Kaspersky Sans Display"/>
              </a:rPr>
              <a:t>MSRP €121</a:t>
            </a:r>
          </a:p>
        </p:txBody>
      </p:sp>
      <p:sp>
        <p:nvSpPr>
          <p:cNvPr id="20" name="Rectangle 19"/>
          <p:cNvSpPr/>
          <p:nvPr/>
        </p:nvSpPr>
        <p:spPr>
          <a:xfrm>
            <a:off x="4572000" y="2834640"/>
            <a:ext cx="2091141" cy="54864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Paid</a:t>
            </a:r>
          </a:p>
          <a:p>
            <a:pPr algn="ctr">
              <a:spcAft>
                <a:spcPts val="0"/>
              </a:spcAft>
            </a:pPr>
            <a:r>
              <a:rPr sz="1200" b="1" i="0">
                <a:solidFill>
                  <a:srgbClr val="14171C"/>
                </a:solidFill>
                <a:latin typeface="Kaspersky Sans Display"/>
              </a:rPr>
              <a:t>€84.70</a:t>
            </a:r>
          </a:p>
        </p:txBody>
      </p:sp>
      <p:sp>
        <p:nvSpPr>
          <p:cNvPr id="21" name="Rectangle 20"/>
          <p:cNvSpPr/>
          <p:nvPr/>
        </p:nvSpPr>
        <p:spPr>
          <a:xfrm>
            <a:off x="6663141" y="2834640"/>
            <a:ext cx="896203" cy="54864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9723" y="3419856"/>
            <a:ext cx="1463040" cy="228600"/>
          </a:xfrm>
          <a:prstGeom prst="rect">
            <a:avLst/>
          </a:prstGeom>
          <a:noFill/>
        </p:spPr>
        <p:txBody>
          <a:bodyPr wrap="square" anchor="t" lIns="0" rIns="0" tIns="0" bIns="0">
            <a:spAutoFit/>
          </a:bodyPr>
          <a:lstStyle/>
          <a:p>
            <a:pPr algn="ctr">
              <a:spcAft>
                <a:spcPts val="600"/>
              </a:spcAft>
            </a:pPr>
            <a:r>
              <a:rPr sz="1100" b="1" i="0">
                <a:solidFill>
                  <a:srgbClr val="EC7A3C"/>
                </a:solidFill>
                <a:latin typeface="Kaspersky Sans Display"/>
              </a:rPr>
              <a:t>Discount €36.30</a:t>
            </a:r>
          </a:p>
        </p:txBody>
      </p:sp>
      <p:sp>
        <p:nvSpPr>
          <p:cNvPr id="23" name="TextBox 22"/>
          <p:cNvSpPr txBox="1"/>
          <p:nvPr/>
        </p:nvSpPr>
        <p:spPr>
          <a:xfrm>
            <a:off x="4572000" y="3794760"/>
            <a:ext cx="3017520" cy="914400"/>
          </a:xfrm>
          <a:prstGeom prst="rect">
            <a:avLst/>
          </a:prstGeom>
          <a:noFill/>
        </p:spPr>
        <p:txBody>
          <a:bodyPr wrap="square" anchor="t" lIns="0" rIns="0" tIns="0" bIns="0">
            <a:spAutoFit/>
          </a:bodyPr>
          <a:lstStyle/>
          <a:p>
            <a:pPr algn="l">
              <a:spcAft>
                <a:spcPts val="400"/>
              </a:spcAft>
            </a:pPr>
            <a:r>
              <a:rPr sz="1700" b="1" i="0">
                <a:solidFill>
                  <a:srgbClr val="149A7A"/>
                </a:solidFill>
                <a:latin typeface="Kaspersky Sans Display"/>
              </a:rPr>
              <a:t>€36.30 + €84.70 = €121</a:t>
            </a:r>
          </a:p>
          <a:p>
            <a:pPr algn="l">
              <a:spcAft>
                <a:spcPts val="400"/>
              </a:spcAft>
            </a:pPr>
            <a:r>
              <a:rPr sz="1500" b="0" i="0">
                <a:solidFill>
                  <a:srgbClr val="149A7A"/>
                </a:solidFill>
                <a:latin typeface="Kaspersky Sans Display"/>
              </a:rPr>
              <a:t>Discount 30%   ✓</a:t>
            </a:r>
          </a:p>
        </p:txBody>
      </p:sp>
      <p:sp>
        <p:nvSpPr>
          <p:cNvPr id="24" name="Rounded Rectangle 23"/>
          <p:cNvSpPr/>
          <p:nvPr/>
        </p:nvSpPr>
        <p:spPr>
          <a:xfrm>
            <a:off x="8046719" y="1645920"/>
            <a:ext cx="3566160" cy="3108960"/>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1828800"/>
            <a:ext cx="3017520" cy="365760"/>
          </a:xfrm>
          <a:prstGeom prst="rect">
            <a:avLst/>
          </a:prstGeom>
          <a:noFill/>
        </p:spPr>
        <p:txBody>
          <a:bodyPr wrap="square" anchor="t" lIns="0" rIns="0" tIns="0" bIns="0">
            <a:spAutoFit/>
          </a:bodyPr>
          <a:lstStyle/>
          <a:p>
            <a:pPr algn="l">
              <a:spcAft>
                <a:spcPts val="600"/>
              </a:spcAft>
            </a:pPr>
            <a:r>
              <a:rPr sz="1800" b="1" i="0">
                <a:solidFill>
                  <a:srgbClr val="D42A4F"/>
                </a:solidFill>
                <a:latin typeface="Kaspersky Sans Display"/>
              </a:rPr>
              <a:t>Mixed bases</a:t>
            </a:r>
          </a:p>
        </p:txBody>
      </p:sp>
      <p:sp>
        <p:nvSpPr>
          <p:cNvPr id="26" name="TextBox 25"/>
          <p:cNvSpPr txBox="1"/>
          <p:nvPr/>
        </p:nvSpPr>
        <p:spPr>
          <a:xfrm>
            <a:off x="8321040" y="2468880"/>
            <a:ext cx="3017520" cy="2651760"/>
          </a:xfrm>
          <a:prstGeom prst="rect">
            <a:avLst/>
          </a:prstGeom>
          <a:noFill/>
        </p:spPr>
        <p:txBody>
          <a:bodyPr wrap="square" anchor="t" lIns="0" rIns="0" tIns="0" bIns="0">
            <a:spAutoFit/>
          </a:bodyPr>
          <a:lstStyle/>
          <a:p>
            <a:pPr algn="l">
              <a:spcAft>
                <a:spcPts val="1200"/>
              </a:spcAft>
            </a:pPr>
            <a:r>
              <a:rPr sz="1500" b="0" i="0">
                <a:solidFill>
                  <a:srgbClr val="1F2937"/>
                </a:solidFill>
                <a:latin typeface="Kaspersky Sans Display"/>
              </a:rPr>
              <a:t>Tax-exclusive discount + tax-inclusive amount paid</a:t>
            </a:r>
          </a:p>
          <a:p>
            <a:pPr algn="l">
              <a:spcAft>
                <a:spcPts val="1200"/>
              </a:spcAft>
            </a:pPr>
            <a:r>
              <a:rPr sz="1700" b="1" i="0">
                <a:solidFill>
                  <a:srgbClr val="D42A4F"/>
                </a:solidFill>
                <a:latin typeface="Kaspersky Sans Display"/>
              </a:rPr>
              <a:t>€30 + €84.70 = €114.70   ✗</a:t>
            </a:r>
          </a:p>
          <a:p>
            <a:pPr algn="l">
              <a:spcAft>
                <a:spcPts val="1200"/>
              </a:spcAft>
            </a:pPr>
            <a:r>
              <a:rPr sz="1500" b="0" i="0">
                <a:solidFill>
                  <a:srgbClr val="1F2937"/>
                </a:solidFill>
                <a:latin typeface="Kaspersky Sans Display"/>
              </a:rPr>
              <a:t>Reconciles with neither €100 nor €121.</a:t>
            </a:r>
          </a:p>
        </p:txBody>
      </p:sp>
      <p:sp>
        <p:nvSpPr>
          <p:cNvPr id="27" name="TextBox 26"/>
          <p:cNvSpPr txBox="1"/>
          <p:nvPr/>
        </p:nvSpPr>
        <p:spPr>
          <a:xfrm>
            <a:off x="548640" y="5074920"/>
            <a:ext cx="11094415" cy="914400"/>
          </a:xfrm>
          <a:prstGeom prst="rect">
            <a:avLst/>
          </a:prstGeom>
          <a:noFill/>
        </p:spPr>
        <p:txBody>
          <a:bodyPr wrap="square" anchor="t" lIns="0" rIns="0" tIns="0" bIns="0">
            <a:spAutoFit/>
          </a:bodyPr>
          <a:lstStyle/>
          <a:p>
            <a:pPr algn="l">
              <a:spcAft>
                <a:spcPts val="600"/>
              </a:spcAft>
            </a:pPr>
            <a:r>
              <a:rPr sz="1600" b="1" i="0">
                <a:solidFill>
                  <a:srgbClr val="1F2937"/>
                </a:solidFill>
                <a:latin typeface="Kaspersky Sans Display"/>
              </a:rPr>
              <a:t>The discount % is the same on both bases; the amounts are not. </a:t>
            </a:r>
            <a:r>
              <a:rPr sz="1600" b="0" i="0">
                <a:solidFill>
                  <a:srgbClr val="5B6472"/>
                </a:solidFill>
                <a:latin typeface="Kaspersky Sans Display"/>
              </a:rPr>
              <a:t>Each amount is stored on both bases and each basis reconciles separately. The tax rate depends on the country.</a:t>
            </a:r>
          </a:p>
        </p:txBody>
      </p:sp>
      <p:sp>
        <p:nvSpPr>
          <p:cNvPr id="28" name="TextBox 27"/>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21</a:t>
            </a:r>
          </a:p>
        </p:txBody>
      </p:sp>
      <p:sp>
        <p:nvSpPr>
          <p:cNvPr id="29" name="Rounded Rectangle 28"/>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E2128"/>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Mixed tax bases in real data</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Case 4 · Ex 1 closes. Ex 2 fails only because the discount is stored without tax</a:t>
            </a:r>
          </a:p>
        </p:txBody>
      </p:sp>
      <p:sp>
        <p:nvSpPr>
          <p:cNvPr id="4" name="Rounded Rectangle 3"/>
          <p:cNvSpPr/>
          <p:nvPr/>
        </p:nvSpPr>
        <p:spPr>
          <a:xfrm>
            <a:off x="548640" y="1600200"/>
            <a:ext cx="5455767"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868680" cy="411480"/>
          </a:xfrm>
          <a:prstGeom prst="roundRect">
            <a:avLst>
              <a:gd name="adj" fmla="val 12000"/>
            </a:avLst>
          </a:prstGeom>
          <a:solidFill>
            <a:srgbClr val="3DC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Ex 1</a:t>
            </a:r>
          </a:p>
        </p:txBody>
      </p:sp>
      <p:sp>
        <p:nvSpPr>
          <p:cNvPr id="6" name="TextBox 5"/>
          <p:cNvSpPr txBox="1"/>
          <p:nvPr/>
        </p:nvSpPr>
        <p:spPr>
          <a:xfrm>
            <a:off x="1783080" y="1764792"/>
            <a:ext cx="4038447"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No demand level · no coupon</a:t>
            </a:r>
          </a:p>
        </p:txBody>
      </p:sp>
      <p:sp>
        <p:nvSpPr>
          <p:cNvPr id="7" name="TextBox 6"/>
          <p:cNvSpPr txBox="1"/>
          <p:nvPr/>
        </p:nvSpPr>
        <p:spPr>
          <a:xfrm>
            <a:off x="1783080" y="2075688"/>
            <a:ext cx="4038447"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EUR · order 4C9M4H0370D</a:t>
            </a:r>
          </a:p>
        </p:txBody>
      </p:sp>
      <p:sp>
        <p:nvSpPr>
          <p:cNvPr id="8" name="TextBox 7"/>
          <p:cNvSpPr txBox="1"/>
          <p:nvPr/>
        </p:nvSpPr>
        <p:spPr>
          <a:xfrm>
            <a:off x="777240" y="2560320"/>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tax)</a:t>
            </a:r>
          </a:p>
        </p:txBody>
      </p:sp>
      <p:sp>
        <p:nvSpPr>
          <p:cNvPr id="9" name="TextBox 8"/>
          <p:cNvSpPr txBox="1"/>
          <p:nvPr/>
        </p:nvSpPr>
        <p:spPr>
          <a:xfrm>
            <a:off x="4129887" y="2560320"/>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6.99</a:t>
            </a:r>
          </a:p>
        </p:txBody>
      </p:sp>
      <p:sp>
        <p:nvSpPr>
          <p:cNvPr id="10" name="TextBox 9"/>
          <p:cNvSpPr txBox="1"/>
          <p:nvPr/>
        </p:nvSpPr>
        <p:spPr>
          <a:xfrm>
            <a:off x="777240" y="2889503"/>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a:t>
            </a:r>
          </a:p>
        </p:txBody>
      </p:sp>
      <p:sp>
        <p:nvSpPr>
          <p:cNvPr id="11" name="TextBox 10"/>
          <p:cNvSpPr txBox="1"/>
          <p:nvPr/>
        </p:nvSpPr>
        <p:spPr>
          <a:xfrm>
            <a:off x="4129887" y="2889503"/>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0.00</a:t>
            </a:r>
          </a:p>
        </p:txBody>
      </p:sp>
      <p:sp>
        <p:nvSpPr>
          <p:cNvPr id="12" name="TextBox 11"/>
          <p:cNvSpPr txBox="1"/>
          <p:nvPr/>
        </p:nvSpPr>
        <p:spPr>
          <a:xfrm>
            <a:off x="777240" y="3218687"/>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WebPriceList · MSRP</a:t>
            </a:r>
          </a:p>
        </p:txBody>
      </p:sp>
      <p:sp>
        <p:nvSpPr>
          <p:cNvPr id="13" name="TextBox 12"/>
          <p:cNvSpPr txBox="1"/>
          <p:nvPr/>
        </p:nvSpPr>
        <p:spPr>
          <a:xfrm>
            <a:off x="4129887" y="3218687"/>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6.99</a:t>
            </a:r>
          </a:p>
        </p:txBody>
      </p:sp>
      <p:sp>
        <p:nvSpPr>
          <p:cNvPr id="14" name="Rounded Rectangle 13"/>
          <p:cNvSpPr/>
          <p:nvPr/>
        </p:nvSpPr>
        <p:spPr>
          <a:xfrm>
            <a:off x="731520" y="4014216"/>
            <a:ext cx="5090007" cy="603503"/>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151376"/>
            <a:ext cx="4724247" cy="329183"/>
          </a:xfrm>
          <a:prstGeom prst="rect">
            <a:avLst/>
          </a:prstGeom>
          <a:noFill/>
        </p:spPr>
        <p:txBody>
          <a:bodyPr wrap="square" anchor="ctr" lIns="0" rIns="0" tIns="0" bIns="0">
            <a:spAutoFit/>
          </a:bodyPr>
          <a:lstStyle/>
          <a:p>
            <a:pPr algn="l">
              <a:spcAft>
                <a:spcPts val="300"/>
              </a:spcAft>
            </a:pPr>
            <a:r>
              <a:rPr sz="1500" b="1" i="0">
                <a:solidFill>
                  <a:srgbClr val="3DC4A2"/>
                </a:solidFill>
                <a:latin typeface="Kaspersky Sans Display"/>
              </a:rPr>
              <a:t>6.99 + 0.00 = 6.99 = MSRP  ✓</a:t>
            </a:r>
          </a:p>
        </p:txBody>
      </p:sp>
      <p:sp>
        <p:nvSpPr>
          <p:cNvPr id="16" name="TextBox 15"/>
          <p:cNvSpPr txBox="1"/>
          <p:nvPr/>
        </p:nvSpPr>
        <p:spPr>
          <a:xfrm>
            <a:off x="777240" y="4800600"/>
            <a:ext cx="4998567" cy="1216151"/>
          </a:xfrm>
          <a:prstGeom prst="rect">
            <a:avLst/>
          </a:prstGeom>
          <a:noFill/>
        </p:spPr>
        <p:txBody>
          <a:bodyPr wrap="square" anchor="t" lIns="0" rIns="0" tIns="0" bIns="0">
            <a:spAutoFit/>
          </a:bodyPr>
          <a:lstStyle/>
          <a:p>
            <a:pPr algn="l">
              <a:spcAft>
                <a:spcPts val="600"/>
              </a:spcAft>
            </a:pPr>
            <a:r>
              <a:rPr sz="1400" b="0" i="0">
                <a:solidFill>
                  <a:srgbClr val="ECEEF2"/>
                </a:solidFill>
                <a:latin typeface="Kaspersky Sans Display"/>
              </a:rPr>
              <a:t>The only clean case: no demand level and no coupon. The paid amount is the MSRP.</a:t>
            </a:r>
          </a:p>
        </p:txBody>
      </p:sp>
      <p:sp>
        <p:nvSpPr>
          <p:cNvPr id="17" name="Rounded Rectangle 16"/>
          <p:cNvSpPr/>
          <p:nvPr/>
        </p:nvSpPr>
        <p:spPr>
          <a:xfrm>
            <a:off x="6187287" y="1600200"/>
            <a:ext cx="5455767"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15887" y="1828800"/>
            <a:ext cx="868680" cy="411480"/>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Ex 2</a:t>
            </a:r>
          </a:p>
        </p:txBody>
      </p:sp>
      <p:sp>
        <p:nvSpPr>
          <p:cNvPr id="19" name="TextBox 18"/>
          <p:cNvSpPr txBox="1"/>
          <p:nvPr/>
        </p:nvSpPr>
        <p:spPr>
          <a:xfrm>
            <a:off x="7421727" y="1764792"/>
            <a:ext cx="4038447"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No demand level · coupon</a:t>
            </a:r>
          </a:p>
        </p:txBody>
      </p:sp>
      <p:sp>
        <p:nvSpPr>
          <p:cNvPr id="20" name="TextBox 19"/>
          <p:cNvSpPr txBox="1"/>
          <p:nvPr/>
        </p:nvSpPr>
        <p:spPr>
          <a:xfrm>
            <a:off x="7421727" y="2075688"/>
            <a:ext cx="4038447"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USD · order 4CAHHEP0WNE</a:t>
            </a:r>
          </a:p>
        </p:txBody>
      </p:sp>
      <p:sp>
        <p:nvSpPr>
          <p:cNvPr id="21" name="TextBox 20"/>
          <p:cNvSpPr txBox="1"/>
          <p:nvPr/>
        </p:nvSpPr>
        <p:spPr>
          <a:xfrm>
            <a:off x="6415887" y="2560320"/>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tax)</a:t>
            </a:r>
          </a:p>
        </p:txBody>
      </p:sp>
      <p:sp>
        <p:nvSpPr>
          <p:cNvPr id="22" name="TextBox 21"/>
          <p:cNvSpPr txBox="1"/>
          <p:nvPr/>
        </p:nvSpPr>
        <p:spPr>
          <a:xfrm>
            <a:off x="9768535" y="2560320"/>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4.24</a:t>
            </a:r>
          </a:p>
        </p:txBody>
      </p:sp>
      <p:sp>
        <p:nvSpPr>
          <p:cNvPr id="23" name="TextBox 22"/>
          <p:cNvSpPr txBox="1"/>
          <p:nvPr/>
        </p:nvSpPr>
        <p:spPr>
          <a:xfrm>
            <a:off x="6415887" y="2889503"/>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 (no tax)</a:t>
            </a:r>
          </a:p>
        </p:txBody>
      </p:sp>
      <p:sp>
        <p:nvSpPr>
          <p:cNvPr id="24" name="TextBox 23"/>
          <p:cNvSpPr txBox="1"/>
          <p:nvPr/>
        </p:nvSpPr>
        <p:spPr>
          <a:xfrm>
            <a:off x="9768535" y="2889503"/>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0.63</a:t>
            </a:r>
          </a:p>
        </p:txBody>
      </p:sp>
      <p:sp>
        <p:nvSpPr>
          <p:cNvPr id="25" name="TextBox 24"/>
          <p:cNvSpPr txBox="1"/>
          <p:nvPr/>
        </p:nvSpPr>
        <p:spPr>
          <a:xfrm>
            <a:off x="6415887" y="3218687"/>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grossPrice = MSRP</a:t>
            </a:r>
          </a:p>
        </p:txBody>
      </p:sp>
      <p:sp>
        <p:nvSpPr>
          <p:cNvPr id="26" name="TextBox 25"/>
          <p:cNvSpPr txBox="1"/>
          <p:nvPr/>
        </p:nvSpPr>
        <p:spPr>
          <a:xfrm>
            <a:off x="9768535" y="3218687"/>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4.99</a:t>
            </a:r>
          </a:p>
        </p:txBody>
      </p:sp>
      <p:sp>
        <p:nvSpPr>
          <p:cNvPr id="27" name="TextBox 26"/>
          <p:cNvSpPr txBox="1"/>
          <p:nvPr/>
        </p:nvSpPr>
        <p:spPr>
          <a:xfrm>
            <a:off x="6415887" y="3547872"/>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discount with tax</a:t>
            </a:r>
          </a:p>
        </p:txBody>
      </p:sp>
      <p:sp>
        <p:nvSpPr>
          <p:cNvPr id="28" name="TextBox 27"/>
          <p:cNvSpPr txBox="1"/>
          <p:nvPr/>
        </p:nvSpPr>
        <p:spPr>
          <a:xfrm>
            <a:off x="9768535" y="3547872"/>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0.75</a:t>
            </a:r>
          </a:p>
        </p:txBody>
      </p:sp>
      <p:sp>
        <p:nvSpPr>
          <p:cNvPr id="29" name="Rounded Rectangle 28"/>
          <p:cNvSpPr/>
          <p:nvPr/>
        </p:nvSpPr>
        <p:spPr>
          <a:xfrm>
            <a:off x="6370167" y="4014216"/>
            <a:ext cx="5090007" cy="932688"/>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3047" y="4151376"/>
            <a:ext cx="4724247" cy="658368"/>
          </a:xfrm>
          <a:prstGeom prst="rect">
            <a:avLst/>
          </a:prstGeom>
          <a:noFill/>
        </p:spPr>
        <p:txBody>
          <a:bodyPr wrap="square" anchor="ctr" lIns="0" rIns="0" tIns="0" bIns="0">
            <a:spAutoFit/>
          </a:bodyPr>
          <a:lstStyle/>
          <a:p>
            <a:pPr algn="l">
              <a:spcAft>
                <a:spcPts val="300"/>
              </a:spcAft>
            </a:pPr>
            <a:r>
              <a:rPr sz="1500" b="1" i="0">
                <a:solidFill>
                  <a:srgbClr val="F2667F"/>
                </a:solidFill>
                <a:latin typeface="Kaspersky Sans Display"/>
              </a:rPr>
              <a:t>4.24 + 0.63 = 4.87 ≠ 4.99  ✗</a:t>
            </a:r>
          </a:p>
          <a:p>
            <a:pPr algn="l">
              <a:spcAft>
                <a:spcPts val="300"/>
              </a:spcAft>
            </a:pPr>
            <a:r>
              <a:rPr sz="1400" b="0" i="0">
                <a:solidFill>
                  <a:srgbClr val="A9B1BF"/>
                </a:solidFill>
                <a:latin typeface="Kaspersky Sans Display"/>
              </a:rPr>
              <a:t>0.63 × 4.24 / 3.56 = 0.75  →  4.24 + 0.75 = 4.99</a:t>
            </a:r>
          </a:p>
        </p:txBody>
      </p:sp>
      <p:sp>
        <p:nvSpPr>
          <p:cNvPr id="31" name="TextBox 30"/>
          <p:cNvSpPr txBox="1"/>
          <p:nvPr/>
        </p:nvSpPr>
        <p:spPr>
          <a:xfrm>
            <a:off x="6415887" y="5129784"/>
            <a:ext cx="4998567" cy="886968"/>
          </a:xfrm>
          <a:prstGeom prst="rect">
            <a:avLst/>
          </a:prstGeom>
          <a:noFill/>
        </p:spPr>
        <p:txBody>
          <a:bodyPr wrap="square" anchor="t" lIns="0" rIns="0" tIns="0" bIns="0">
            <a:spAutoFit/>
          </a:bodyPr>
          <a:lstStyle/>
          <a:p>
            <a:pPr algn="l">
              <a:spcAft>
                <a:spcPts val="600"/>
              </a:spcAft>
            </a:pPr>
            <a:r>
              <a:rPr sz="1400" b="0" i="0">
                <a:solidFill>
                  <a:srgbClr val="ECEEF2"/>
                </a:solidFill>
                <a:latin typeface="Kaspersky Sans Display"/>
              </a:rPr>
              <a:t>The discount is stored without tax and the paid amount with tax. The discount with tax (0.75) is not in </a:t>
            </a:r>
            <a:r>
              <a:rPr sz="1400" b="1" i="0">
                <a:solidFill>
                  <a:srgbClr val="ECEEF2"/>
                </a:solidFill>
                <a:latin typeface="Kaspersky Sans Display"/>
              </a:rPr>
              <a:t>eComm</a:t>
            </a:r>
            <a:r>
              <a:rPr sz="1400" b="0" i="0">
                <a:solidFill>
                  <a:srgbClr val="ECEEF2"/>
                </a:solidFill>
                <a:latin typeface="Kaspersky Sans Display"/>
              </a:rPr>
              <a:t>: we must rebuild it.</a:t>
            </a:r>
          </a:p>
        </p:txBody>
      </p:sp>
      <p:sp>
        <p:nvSpPr>
          <p:cNvPr id="32" name="Rounded Rectangle 31"/>
          <p:cNvSpPr/>
          <p:nvPr/>
        </p:nvSpPr>
        <p:spPr>
          <a:xfrm>
            <a:off x="548640" y="6291072"/>
            <a:ext cx="11094415" cy="429768"/>
          </a:xfrm>
          <a:prstGeom prst="roundRect">
            <a:avLst>
              <a:gd name="adj" fmla="val 12000"/>
            </a:avLst>
          </a:prstGeom>
          <a:solidFill>
            <a:srgbClr val="2A2E37"/>
          </a:solidFill>
          <a:ln w="19050">
            <a:solidFill>
              <a:srgbClr val="3DC4A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3DC4A2"/>
                </a:solidFill>
                <a:latin typeface="Kaspersky Sans Display"/>
              </a:rPr>
              <a:t>→  Agreement 4:  </a:t>
            </a:r>
            <a:r>
              <a:rPr sz="1500" b="1" i="0">
                <a:solidFill>
                  <a:srgbClr val="ECEEF2"/>
                </a:solidFill>
                <a:latin typeface="Kaspersky Sans Display"/>
              </a:rPr>
              <a:t>Amounts on the same tax basis, and the VAT rate stored, also when it is 0.</a:t>
            </a:r>
          </a:p>
        </p:txBody>
      </p:sp>
      <p:sp>
        <p:nvSpPr>
          <p:cNvPr id="33" name="TextBox 32"/>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22</a:t>
            </a:r>
          </a:p>
        </p:txBody>
      </p:sp>
      <p:sp>
        <p:nvSpPr>
          <p:cNvPr id="34" name="Rounded Rectangle 33"/>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E2128"/>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Values we cannot explain</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Case 5 · International SKU without gross MSRP, and a price that exists in no source</a:t>
            </a:r>
          </a:p>
        </p:txBody>
      </p:sp>
      <p:sp>
        <p:nvSpPr>
          <p:cNvPr id="4" name="Rounded Rectangle 3"/>
          <p:cNvSpPr/>
          <p:nvPr/>
        </p:nvSpPr>
        <p:spPr>
          <a:xfrm>
            <a:off x="548640" y="1600200"/>
            <a:ext cx="5455767"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28800"/>
            <a:ext cx="868680" cy="411480"/>
          </a:xfrm>
          <a:prstGeom prst="roundRect">
            <a:avLst>
              <a:gd name="adj" fmla="val 12000"/>
            </a:avLst>
          </a:prstGeom>
          <a:solidFill>
            <a:srgbClr val="EED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Ex 5</a:t>
            </a:r>
          </a:p>
        </p:txBody>
      </p:sp>
      <p:sp>
        <p:nvSpPr>
          <p:cNvPr id="6" name="TextBox 5"/>
          <p:cNvSpPr txBox="1"/>
          <p:nvPr/>
        </p:nvSpPr>
        <p:spPr>
          <a:xfrm>
            <a:off x="1783080" y="1764792"/>
            <a:ext cx="4038447"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International SKU · coupon</a:t>
            </a:r>
          </a:p>
        </p:txBody>
      </p:sp>
      <p:sp>
        <p:nvSpPr>
          <p:cNvPr id="7" name="TextBox 6"/>
          <p:cNvSpPr txBox="1"/>
          <p:nvPr/>
        </p:nvSpPr>
        <p:spPr>
          <a:xfrm>
            <a:off x="1783080" y="2075688"/>
            <a:ext cx="4038447"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USD · order 4EAHPHV8P00</a:t>
            </a:r>
          </a:p>
        </p:txBody>
      </p:sp>
      <p:sp>
        <p:nvSpPr>
          <p:cNvPr id="8" name="TextBox 7"/>
          <p:cNvSpPr txBox="1"/>
          <p:nvPr/>
        </p:nvSpPr>
        <p:spPr>
          <a:xfrm>
            <a:off x="777240" y="2560320"/>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 no tax</a:t>
            </a:r>
          </a:p>
        </p:txBody>
      </p:sp>
      <p:sp>
        <p:nvSpPr>
          <p:cNvPr id="9" name="TextBox 8"/>
          <p:cNvSpPr txBox="1"/>
          <p:nvPr/>
        </p:nvSpPr>
        <p:spPr>
          <a:xfrm>
            <a:off x="4129887" y="2560320"/>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157.47 / 140.60</a:t>
            </a:r>
          </a:p>
        </p:txBody>
      </p:sp>
      <p:sp>
        <p:nvSpPr>
          <p:cNvPr id="10" name="TextBox 9"/>
          <p:cNvSpPr txBox="1"/>
          <p:nvPr/>
        </p:nvSpPr>
        <p:spPr>
          <a:xfrm>
            <a:off x="777240" y="2889503"/>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 (no tax)</a:t>
            </a:r>
          </a:p>
        </p:txBody>
      </p:sp>
      <p:sp>
        <p:nvSpPr>
          <p:cNvPr id="11" name="TextBox 10"/>
          <p:cNvSpPr txBox="1"/>
          <p:nvPr/>
        </p:nvSpPr>
        <p:spPr>
          <a:xfrm>
            <a:off x="4129887" y="2889503"/>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7.40</a:t>
            </a:r>
          </a:p>
        </p:txBody>
      </p:sp>
      <p:sp>
        <p:nvSpPr>
          <p:cNvPr id="12" name="TextBox 11"/>
          <p:cNvSpPr txBox="1"/>
          <p:nvPr/>
        </p:nvSpPr>
        <p:spPr>
          <a:xfrm>
            <a:off x="777240" y="3218687"/>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WebPriceList · MSRP</a:t>
            </a:r>
          </a:p>
        </p:txBody>
      </p:sp>
      <p:sp>
        <p:nvSpPr>
          <p:cNvPr id="13" name="TextBox 12"/>
          <p:cNvSpPr txBox="1"/>
          <p:nvPr/>
        </p:nvSpPr>
        <p:spPr>
          <a:xfrm>
            <a:off x="4129887" y="3218687"/>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148.00</a:t>
            </a:r>
          </a:p>
        </p:txBody>
      </p:sp>
      <p:sp>
        <p:nvSpPr>
          <p:cNvPr id="14" name="TextBox 13"/>
          <p:cNvSpPr txBox="1"/>
          <p:nvPr/>
        </p:nvSpPr>
        <p:spPr>
          <a:xfrm>
            <a:off x="777240" y="3547872"/>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grossMsrp</a:t>
            </a:r>
          </a:p>
        </p:txBody>
      </p:sp>
      <p:sp>
        <p:nvSpPr>
          <p:cNvPr id="15" name="TextBox 14"/>
          <p:cNvSpPr txBox="1"/>
          <p:nvPr/>
        </p:nvSpPr>
        <p:spPr>
          <a:xfrm>
            <a:off x="4129887" y="3547872"/>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0</a:t>
            </a:r>
          </a:p>
        </p:txBody>
      </p:sp>
      <p:sp>
        <p:nvSpPr>
          <p:cNvPr id="16" name="Rounded Rectangle 15"/>
          <p:cNvSpPr/>
          <p:nvPr/>
        </p:nvSpPr>
        <p:spPr>
          <a:xfrm>
            <a:off x="731520" y="4014216"/>
            <a:ext cx="5090007" cy="932688"/>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151376"/>
            <a:ext cx="4724247" cy="658368"/>
          </a:xfrm>
          <a:prstGeom prst="rect">
            <a:avLst/>
          </a:prstGeom>
          <a:noFill/>
        </p:spPr>
        <p:txBody>
          <a:bodyPr wrap="square" anchor="ctr" lIns="0" rIns="0" tIns="0" bIns="0">
            <a:spAutoFit/>
          </a:bodyPr>
          <a:lstStyle/>
          <a:p>
            <a:pPr algn="l">
              <a:spcAft>
                <a:spcPts val="300"/>
              </a:spcAft>
            </a:pPr>
            <a:r>
              <a:rPr sz="1500" b="1" i="0">
                <a:solidFill>
                  <a:srgbClr val="F2667F"/>
                </a:solidFill>
                <a:latin typeface="Kaspersky Sans Display"/>
              </a:rPr>
              <a:t>With tax: 157.47 + 7.40 = 164.87 ≠ 148.00  ✗</a:t>
            </a:r>
          </a:p>
          <a:p>
            <a:pPr algn="l">
              <a:spcAft>
                <a:spcPts val="300"/>
              </a:spcAft>
            </a:pPr>
            <a:r>
              <a:rPr sz="1500" b="1" i="0">
                <a:solidFill>
                  <a:srgbClr val="3DC4A2"/>
                </a:solidFill>
                <a:latin typeface="Kaspersky Sans Display"/>
              </a:rPr>
              <a:t>No tax: 140.60 + 7.40 = 148.00  ✓</a:t>
            </a:r>
          </a:p>
        </p:txBody>
      </p:sp>
      <p:sp>
        <p:nvSpPr>
          <p:cNvPr id="18" name="TextBox 17"/>
          <p:cNvSpPr txBox="1"/>
          <p:nvPr/>
        </p:nvSpPr>
        <p:spPr>
          <a:xfrm>
            <a:off x="777240" y="5129784"/>
            <a:ext cx="4998567" cy="886968"/>
          </a:xfrm>
          <a:prstGeom prst="rect">
            <a:avLst/>
          </a:prstGeom>
          <a:noFill/>
        </p:spPr>
        <p:txBody>
          <a:bodyPr wrap="square" anchor="t" lIns="0" rIns="0" tIns="0" bIns="0">
            <a:spAutoFit/>
          </a:bodyPr>
          <a:lstStyle/>
          <a:p>
            <a:pPr algn="l">
              <a:spcAft>
                <a:spcPts val="600"/>
              </a:spcAft>
            </a:pPr>
            <a:r>
              <a:rPr sz="1400" b="0" i="0">
                <a:solidFill>
                  <a:srgbClr val="ECEEF2"/>
                </a:solidFill>
                <a:latin typeface="Kaspersky Sans Display"/>
              </a:rPr>
              <a:t>Here the MSRP is without tax. The </a:t>
            </a:r>
            <a:r>
              <a:rPr sz="1400" b="1" i="0">
                <a:solidFill>
                  <a:srgbClr val="ECEEF2"/>
                </a:solidFill>
                <a:latin typeface="Kaspersky Sans Display"/>
              </a:rPr>
              <a:t>API</a:t>
            </a:r>
            <a:r>
              <a:rPr sz="1400" b="0" i="0">
                <a:solidFill>
                  <a:srgbClr val="ECEEF2"/>
                </a:solidFill>
                <a:latin typeface="Kaspersky Sans Display"/>
              </a:rPr>
              <a:t> sends grossMsrp = 0, so we cannot confirm that 148.00 is the MSRP and not a price after demand level.</a:t>
            </a:r>
          </a:p>
        </p:txBody>
      </p:sp>
      <p:sp>
        <p:nvSpPr>
          <p:cNvPr id="19" name="Rounded Rectangle 18"/>
          <p:cNvSpPr/>
          <p:nvPr/>
        </p:nvSpPr>
        <p:spPr>
          <a:xfrm>
            <a:off x="6187287" y="1600200"/>
            <a:ext cx="5455767" cy="4553712"/>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15887" y="1828800"/>
            <a:ext cx="868680" cy="411480"/>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FFFFFF"/>
                </a:solidFill>
                <a:latin typeface="Kaspersky Sans Display"/>
              </a:rPr>
              <a:t>Ex 8b</a:t>
            </a:r>
          </a:p>
        </p:txBody>
      </p:sp>
      <p:sp>
        <p:nvSpPr>
          <p:cNvPr id="21" name="TextBox 20"/>
          <p:cNvSpPr txBox="1"/>
          <p:nvPr/>
        </p:nvSpPr>
        <p:spPr>
          <a:xfrm>
            <a:off x="7421727" y="1764792"/>
            <a:ext cx="4038447" cy="320040"/>
          </a:xfrm>
          <a:prstGeom prst="rect">
            <a:avLst/>
          </a:prstGeom>
          <a:noFill/>
        </p:spPr>
        <p:txBody>
          <a:bodyPr wrap="square" anchor="t" lIns="0" rIns="0" tIns="0" bIns="0">
            <a:spAutoFit/>
          </a:bodyPr>
          <a:lstStyle/>
          <a:p>
            <a:pPr algn="l">
              <a:spcAft>
                <a:spcPts val="600"/>
              </a:spcAft>
            </a:pPr>
            <a:r>
              <a:rPr sz="1600" b="1" i="0">
                <a:solidFill>
                  <a:srgbClr val="ECEEF2"/>
                </a:solidFill>
                <a:latin typeface="Kaspersky Sans Display"/>
              </a:rPr>
              <a:t>Demand level · coupon</a:t>
            </a:r>
          </a:p>
        </p:txBody>
      </p:sp>
      <p:sp>
        <p:nvSpPr>
          <p:cNvPr id="22" name="TextBox 21"/>
          <p:cNvSpPr txBox="1"/>
          <p:nvPr/>
        </p:nvSpPr>
        <p:spPr>
          <a:xfrm>
            <a:off x="7421727" y="2075688"/>
            <a:ext cx="4038447" cy="274320"/>
          </a:xfrm>
          <a:prstGeom prst="rect">
            <a:avLst/>
          </a:prstGeom>
          <a:noFill/>
        </p:spPr>
        <p:txBody>
          <a:bodyPr wrap="square" anchor="t" lIns="0" rIns="0" tIns="0" bIns="0">
            <a:spAutoFit/>
          </a:bodyPr>
          <a:lstStyle/>
          <a:p>
            <a:pPr algn="l">
              <a:spcAft>
                <a:spcPts val="600"/>
              </a:spcAft>
            </a:pPr>
            <a:r>
              <a:rPr sz="1200" b="0" i="0">
                <a:solidFill>
                  <a:srgbClr val="A9B1BF"/>
                </a:solidFill>
                <a:latin typeface="Kaspersky Sans Display"/>
              </a:rPr>
              <a:t>GBP · order 4CC518GR7D3</a:t>
            </a:r>
          </a:p>
        </p:txBody>
      </p:sp>
      <p:sp>
        <p:nvSpPr>
          <p:cNvPr id="23" name="TextBox 22"/>
          <p:cNvSpPr txBox="1"/>
          <p:nvPr/>
        </p:nvSpPr>
        <p:spPr>
          <a:xfrm>
            <a:off x="6415887" y="2560320"/>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paid (with tax)</a:t>
            </a:r>
          </a:p>
        </p:txBody>
      </p:sp>
      <p:sp>
        <p:nvSpPr>
          <p:cNvPr id="24" name="TextBox 23"/>
          <p:cNvSpPr txBox="1"/>
          <p:nvPr/>
        </p:nvSpPr>
        <p:spPr>
          <a:xfrm>
            <a:off x="9768535" y="2560320"/>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22.20</a:t>
            </a:r>
          </a:p>
        </p:txBody>
      </p:sp>
      <p:sp>
        <p:nvSpPr>
          <p:cNvPr id="25" name="TextBox 24"/>
          <p:cNvSpPr txBox="1"/>
          <p:nvPr/>
        </p:nvSpPr>
        <p:spPr>
          <a:xfrm>
            <a:off x="6415887" y="2889503"/>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eComm · discount (no tax)</a:t>
            </a:r>
          </a:p>
        </p:txBody>
      </p:sp>
      <p:sp>
        <p:nvSpPr>
          <p:cNvPr id="26" name="TextBox 25"/>
          <p:cNvSpPr txBox="1"/>
          <p:nvPr/>
        </p:nvSpPr>
        <p:spPr>
          <a:xfrm>
            <a:off x="9768535" y="2889503"/>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43.16</a:t>
            </a:r>
          </a:p>
        </p:txBody>
      </p:sp>
      <p:sp>
        <p:nvSpPr>
          <p:cNvPr id="27" name="TextBox 26"/>
          <p:cNvSpPr txBox="1"/>
          <p:nvPr/>
        </p:nvSpPr>
        <p:spPr>
          <a:xfrm>
            <a:off x="6415887" y="3218687"/>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API · grossPrice</a:t>
            </a:r>
          </a:p>
        </p:txBody>
      </p:sp>
      <p:sp>
        <p:nvSpPr>
          <p:cNvPr id="28" name="TextBox 27"/>
          <p:cNvSpPr txBox="1"/>
          <p:nvPr/>
        </p:nvSpPr>
        <p:spPr>
          <a:xfrm>
            <a:off x="9768535" y="3218687"/>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73.99</a:t>
            </a:r>
          </a:p>
        </p:txBody>
      </p:sp>
      <p:sp>
        <p:nvSpPr>
          <p:cNvPr id="29" name="TextBox 28"/>
          <p:cNvSpPr txBox="1"/>
          <p:nvPr/>
        </p:nvSpPr>
        <p:spPr>
          <a:xfrm>
            <a:off x="6415887" y="3547872"/>
            <a:ext cx="3352647" cy="301752"/>
          </a:xfrm>
          <a:prstGeom prst="rect">
            <a:avLst/>
          </a:prstGeom>
          <a:noFill/>
        </p:spPr>
        <p:txBody>
          <a:bodyPr wrap="square" anchor="ctr" lIns="0" rIns="0" tIns="0" bIns="0">
            <a:spAutoFit/>
          </a:bodyPr>
          <a:lstStyle/>
          <a:p>
            <a:pPr algn="l">
              <a:spcAft>
                <a:spcPts val="600"/>
              </a:spcAft>
            </a:pPr>
            <a:r>
              <a:rPr sz="1300" b="0" i="0">
                <a:solidFill>
                  <a:srgbClr val="A9B1BF"/>
                </a:solidFill>
                <a:latin typeface="Kaspersky Sans Display"/>
              </a:rPr>
              <a:t>WebPriceList · MSRP</a:t>
            </a:r>
          </a:p>
        </p:txBody>
      </p:sp>
      <p:sp>
        <p:nvSpPr>
          <p:cNvPr id="30" name="TextBox 29"/>
          <p:cNvSpPr txBox="1"/>
          <p:nvPr/>
        </p:nvSpPr>
        <p:spPr>
          <a:xfrm>
            <a:off x="9768535" y="3547872"/>
            <a:ext cx="1645920" cy="301752"/>
          </a:xfrm>
          <a:prstGeom prst="rect">
            <a:avLst/>
          </a:prstGeom>
          <a:noFill/>
        </p:spPr>
        <p:txBody>
          <a:bodyPr wrap="square" anchor="ctr" lIns="0" rIns="0" tIns="0" bIns="0">
            <a:spAutoFit/>
          </a:bodyPr>
          <a:lstStyle/>
          <a:p>
            <a:pPr algn="r">
              <a:spcAft>
                <a:spcPts val="600"/>
              </a:spcAft>
            </a:pPr>
            <a:r>
              <a:rPr sz="1400" b="1" i="0">
                <a:solidFill>
                  <a:srgbClr val="ECEEF2"/>
                </a:solidFill>
                <a:latin typeface="Kaspersky Sans Display"/>
              </a:rPr>
              <a:t>72.99</a:t>
            </a:r>
          </a:p>
        </p:txBody>
      </p:sp>
      <p:sp>
        <p:nvSpPr>
          <p:cNvPr id="31" name="Rounded Rectangle 30"/>
          <p:cNvSpPr/>
          <p:nvPr/>
        </p:nvSpPr>
        <p:spPr>
          <a:xfrm>
            <a:off x="6370167" y="4014216"/>
            <a:ext cx="5090007" cy="932688"/>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3047" y="4151376"/>
            <a:ext cx="4724247" cy="658368"/>
          </a:xfrm>
          <a:prstGeom prst="rect">
            <a:avLst/>
          </a:prstGeom>
          <a:noFill/>
        </p:spPr>
        <p:txBody>
          <a:bodyPr wrap="square" anchor="ctr" lIns="0" rIns="0" tIns="0" bIns="0">
            <a:spAutoFit/>
          </a:bodyPr>
          <a:lstStyle/>
          <a:p>
            <a:pPr algn="l">
              <a:spcAft>
                <a:spcPts val="300"/>
              </a:spcAft>
            </a:pPr>
            <a:r>
              <a:rPr sz="1500" b="1" i="0">
                <a:solidFill>
                  <a:srgbClr val="F2667F"/>
                </a:solidFill>
                <a:latin typeface="Kaspersky Sans Display"/>
              </a:rPr>
              <a:t>eComm: 22.20 + 43.16 = 65.36  ✗</a:t>
            </a:r>
          </a:p>
          <a:p>
            <a:pPr algn="l">
              <a:spcAft>
                <a:spcPts val="300"/>
              </a:spcAft>
            </a:pPr>
            <a:r>
              <a:rPr sz="1500" b="1" i="0">
                <a:solidFill>
                  <a:srgbClr val="F2667F"/>
                </a:solidFill>
                <a:latin typeface="Kaspersky Sans Display"/>
              </a:rPr>
              <a:t>API: 22.20 + 51.79 = 73.99 ≠ 72.99  ✗</a:t>
            </a:r>
          </a:p>
        </p:txBody>
      </p:sp>
      <p:sp>
        <p:nvSpPr>
          <p:cNvPr id="33" name="TextBox 32"/>
          <p:cNvSpPr txBox="1"/>
          <p:nvPr/>
        </p:nvSpPr>
        <p:spPr>
          <a:xfrm>
            <a:off x="6415887" y="5129784"/>
            <a:ext cx="4998567" cy="886968"/>
          </a:xfrm>
          <a:prstGeom prst="rect">
            <a:avLst/>
          </a:prstGeom>
          <a:noFill/>
        </p:spPr>
        <p:txBody>
          <a:bodyPr wrap="square" anchor="t" lIns="0" rIns="0" tIns="0" bIns="0">
            <a:spAutoFit/>
          </a:bodyPr>
          <a:lstStyle/>
          <a:p>
            <a:pPr algn="l">
              <a:spcAft>
                <a:spcPts val="600"/>
              </a:spcAft>
            </a:pPr>
            <a:r>
              <a:rPr sz="1400" b="0" i="0">
                <a:solidFill>
                  <a:srgbClr val="ECEEF2"/>
                </a:solidFill>
                <a:latin typeface="Kaspersky Sans Display"/>
              </a:rPr>
              <a:t>73.99 does not exist in </a:t>
            </a:r>
            <a:r>
              <a:rPr sz="1400" b="1" i="0">
                <a:solidFill>
                  <a:srgbClr val="ECEEF2"/>
                </a:solidFill>
                <a:latin typeface="Kaspersky Sans Display"/>
              </a:rPr>
              <a:t>WebPriceList</a:t>
            </a:r>
            <a:r>
              <a:rPr sz="1400" b="0" i="0">
                <a:solidFill>
                  <a:srgbClr val="ECEEF2"/>
                </a:solidFill>
                <a:latin typeface="Kaspersky Sans Display"/>
              </a:rPr>
              <a:t> for this SKU and currency, neither as MSRP nor as price after demand level. We cannot explain the source.</a:t>
            </a:r>
          </a:p>
        </p:txBody>
      </p:sp>
      <p:sp>
        <p:nvSpPr>
          <p:cNvPr id="34" name="Rounded Rectangle 33"/>
          <p:cNvSpPr/>
          <p:nvPr/>
        </p:nvSpPr>
        <p:spPr>
          <a:xfrm>
            <a:off x="548640" y="6291072"/>
            <a:ext cx="11094415" cy="429768"/>
          </a:xfrm>
          <a:prstGeom prst="roundRect">
            <a:avLst>
              <a:gd name="adj" fmla="val 12000"/>
            </a:avLst>
          </a:prstGeom>
          <a:solidFill>
            <a:srgbClr val="2A2E37"/>
          </a:solidFill>
          <a:ln w="19050">
            <a:solidFill>
              <a:srgbClr val="3DC4A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3DC4A2"/>
                </a:solidFill>
                <a:latin typeface="Kaspersky Sans Display"/>
              </a:rPr>
              <a:t>→  Agreement 5:  </a:t>
            </a:r>
            <a:r>
              <a:rPr sz="1500" b="1" i="0">
                <a:solidFill>
                  <a:srgbClr val="ECEEF2"/>
                </a:solidFill>
                <a:latin typeface="Kaspersky Sans Display"/>
              </a:rPr>
              <a:t>Review the values we cannot explain with the owners of the API.</a:t>
            </a:r>
          </a:p>
        </p:txBody>
      </p:sp>
      <p:sp>
        <p:nvSpPr>
          <p:cNvPr id="35" name="TextBox 34"/>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23</a:t>
            </a:r>
          </a:p>
        </p:txBody>
      </p:sp>
      <p:sp>
        <p:nvSpPr>
          <p:cNvPr id="36" name="Rounded Rectangle 35"/>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E2128"/>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ECEEF2"/>
                </a:solidFill>
                <a:latin typeface="Kaspersky Sans Display"/>
              </a:rPr>
              <a:t>9 real transactions: the check closes only once</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A9B1BF"/>
                </a:solidFill>
                <a:latin typeface="Kaspersky Sans Display"/>
              </a:rPr>
              <a:t>Check C1 (paid + discount = valid MSRP, with tax) with the fields we have today</a:t>
            </a:r>
          </a:p>
        </p:txBody>
      </p:sp>
      <p:sp>
        <p:nvSpPr>
          <p:cNvPr id="4" name="TextBox 3"/>
          <p:cNvSpPr txBox="1"/>
          <p:nvPr/>
        </p:nvSpPr>
        <p:spPr>
          <a:xfrm>
            <a:off x="4160520"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1</a:t>
            </a:r>
          </a:p>
          <a:p>
            <a:pPr algn="ctr">
              <a:spcAft>
                <a:spcPts val="0"/>
              </a:spcAft>
            </a:pPr>
            <a:r>
              <a:rPr sz="1100" b="0" i="0">
                <a:solidFill>
                  <a:srgbClr val="A9B1BF"/>
                </a:solidFill>
                <a:latin typeface="Kaspersky Sans Display"/>
              </a:rPr>
              <a:t>EUR</a:t>
            </a:r>
          </a:p>
        </p:txBody>
      </p:sp>
      <p:sp>
        <p:nvSpPr>
          <p:cNvPr id="5" name="TextBox 4"/>
          <p:cNvSpPr txBox="1"/>
          <p:nvPr/>
        </p:nvSpPr>
        <p:spPr>
          <a:xfrm>
            <a:off x="4991912"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2</a:t>
            </a:r>
          </a:p>
          <a:p>
            <a:pPr algn="ctr">
              <a:spcAft>
                <a:spcPts val="0"/>
              </a:spcAft>
            </a:pPr>
            <a:r>
              <a:rPr sz="1100" b="0" i="0">
                <a:solidFill>
                  <a:srgbClr val="A9B1BF"/>
                </a:solidFill>
                <a:latin typeface="Kaspersky Sans Display"/>
              </a:rPr>
              <a:t>USD</a:t>
            </a:r>
          </a:p>
        </p:txBody>
      </p:sp>
      <p:sp>
        <p:nvSpPr>
          <p:cNvPr id="6" name="TextBox 5"/>
          <p:cNvSpPr txBox="1"/>
          <p:nvPr/>
        </p:nvSpPr>
        <p:spPr>
          <a:xfrm>
            <a:off x="5823305"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3</a:t>
            </a:r>
          </a:p>
          <a:p>
            <a:pPr algn="ctr">
              <a:spcAft>
                <a:spcPts val="0"/>
              </a:spcAft>
            </a:pPr>
            <a:r>
              <a:rPr sz="1100" b="0" i="0">
                <a:solidFill>
                  <a:srgbClr val="A9B1BF"/>
                </a:solidFill>
                <a:latin typeface="Kaspersky Sans Display"/>
              </a:rPr>
              <a:t>EUR</a:t>
            </a:r>
          </a:p>
        </p:txBody>
      </p:sp>
      <p:sp>
        <p:nvSpPr>
          <p:cNvPr id="7" name="TextBox 6"/>
          <p:cNvSpPr txBox="1"/>
          <p:nvPr/>
        </p:nvSpPr>
        <p:spPr>
          <a:xfrm>
            <a:off x="6654698"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4</a:t>
            </a:r>
          </a:p>
          <a:p>
            <a:pPr algn="ctr">
              <a:spcAft>
                <a:spcPts val="0"/>
              </a:spcAft>
            </a:pPr>
            <a:r>
              <a:rPr sz="1100" b="0" i="0">
                <a:solidFill>
                  <a:srgbClr val="A9B1BF"/>
                </a:solidFill>
                <a:latin typeface="Kaspersky Sans Display"/>
              </a:rPr>
              <a:t>INR</a:t>
            </a:r>
          </a:p>
        </p:txBody>
      </p:sp>
      <p:sp>
        <p:nvSpPr>
          <p:cNvPr id="8" name="TextBox 7"/>
          <p:cNvSpPr txBox="1"/>
          <p:nvPr/>
        </p:nvSpPr>
        <p:spPr>
          <a:xfrm>
            <a:off x="7486091"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5</a:t>
            </a:r>
          </a:p>
          <a:p>
            <a:pPr algn="ctr">
              <a:spcAft>
                <a:spcPts val="0"/>
              </a:spcAft>
            </a:pPr>
            <a:r>
              <a:rPr sz="1100" b="0" i="0">
                <a:solidFill>
                  <a:srgbClr val="A9B1BF"/>
                </a:solidFill>
                <a:latin typeface="Kaspersky Sans Display"/>
              </a:rPr>
              <a:t>USD</a:t>
            </a:r>
          </a:p>
        </p:txBody>
      </p:sp>
      <p:sp>
        <p:nvSpPr>
          <p:cNvPr id="9" name="TextBox 8"/>
          <p:cNvSpPr txBox="1"/>
          <p:nvPr/>
        </p:nvSpPr>
        <p:spPr>
          <a:xfrm>
            <a:off x="8317483"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6</a:t>
            </a:r>
          </a:p>
          <a:p>
            <a:pPr algn="ctr">
              <a:spcAft>
                <a:spcPts val="0"/>
              </a:spcAft>
            </a:pPr>
            <a:r>
              <a:rPr sz="1100" b="0" i="0">
                <a:solidFill>
                  <a:srgbClr val="A9B1BF"/>
                </a:solidFill>
                <a:latin typeface="Kaspersky Sans Display"/>
              </a:rPr>
              <a:t>TRY</a:t>
            </a:r>
          </a:p>
        </p:txBody>
      </p:sp>
      <p:sp>
        <p:nvSpPr>
          <p:cNvPr id="10" name="TextBox 9"/>
          <p:cNvSpPr txBox="1"/>
          <p:nvPr/>
        </p:nvSpPr>
        <p:spPr>
          <a:xfrm>
            <a:off x="9148876"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7</a:t>
            </a:r>
          </a:p>
          <a:p>
            <a:pPr algn="ctr">
              <a:spcAft>
                <a:spcPts val="0"/>
              </a:spcAft>
            </a:pPr>
            <a:r>
              <a:rPr sz="1100" b="0" i="0">
                <a:solidFill>
                  <a:srgbClr val="A9B1BF"/>
                </a:solidFill>
                <a:latin typeface="Kaspersky Sans Display"/>
              </a:rPr>
              <a:t>ARS</a:t>
            </a:r>
          </a:p>
        </p:txBody>
      </p:sp>
      <p:sp>
        <p:nvSpPr>
          <p:cNvPr id="11" name="TextBox 10"/>
          <p:cNvSpPr txBox="1"/>
          <p:nvPr/>
        </p:nvSpPr>
        <p:spPr>
          <a:xfrm>
            <a:off x="9980269"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8a</a:t>
            </a:r>
          </a:p>
          <a:p>
            <a:pPr algn="ctr">
              <a:spcAft>
                <a:spcPts val="0"/>
              </a:spcAft>
            </a:pPr>
            <a:r>
              <a:rPr sz="1100" b="0" i="0">
                <a:solidFill>
                  <a:srgbClr val="A9B1BF"/>
                </a:solidFill>
                <a:latin typeface="Kaspersky Sans Display"/>
              </a:rPr>
              <a:t>EUR</a:t>
            </a:r>
          </a:p>
        </p:txBody>
      </p:sp>
      <p:sp>
        <p:nvSpPr>
          <p:cNvPr id="12" name="TextBox 11"/>
          <p:cNvSpPr txBox="1"/>
          <p:nvPr/>
        </p:nvSpPr>
        <p:spPr>
          <a:xfrm>
            <a:off x="10811662" y="1600200"/>
            <a:ext cx="831392" cy="502920"/>
          </a:xfrm>
          <a:prstGeom prst="rect">
            <a:avLst/>
          </a:prstGeom>
          <a:noFill/>
        </p:spPr>
        <p:txBody>
          <a:bodyPr wrap="square" anchor="t" lIns="0" rIns="0" tIns="0" bIns="0">
            <a:spAutoFit/>
          </a:bodyPr>
          <a:lstStyle/>
          <a:p>
            <a:pPr algn="ctr">
              <a:spcAft>
                <a:spcPts val="0"/>
              </a:spcAft>
            </a:pPr>
            <a:r>
              <a:rPr sz="1400" b="1" i="0">
                <a:solidFill>
                  <a:srgbClr val="ECEEF2"/>
                </a:solidFill>
                <a:latin typeface="Kaspersky Sans Display"/>
              </a:rPr>
              <a:t>Ex 8b</a:t>
            </a:r>
          </a:p>
          <a:p>
            <a:pPr algn="ctr">
              <a:spcAft>
                <a:spcPts val="0"/>
              </a:spcAft>
            </a:pPr>
            <a:r>
              <a:rPr sz="1100" b="0" i="0">
                <a:solidFill>
                  <a:srgbClr val="A9B1BF"/>
                </a:solidFill>
                <a:latin typeface="Kaspersky Sans Display"/>
              </a:rPr>
              <a:t>GBP</a:t>
            </a:r>
          </a:p>
        </p:txBody>
      </p:sp>
      <p:sp>
        <p:nvSpPr>
          <p:cNvPr id="13" name="Rounded Rectangle 12"/>
          <p:cNvSpPr/>
          <p:nvPr/>
        </p:nvSpPr>
        <p:spPr>
          <a:xfrm>
            <a:off x="548640" y="2240280"/>
            <a:ext cx="11094415" cy="548640"/>
          </a:xfrm>
          <a:prstGeom prst="roundRect">
            <a:avLst>
              <a:gd name="adj" fmla="val 12000"/>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240280"/>
            <a:ext cx="3337560" cy="548640"/>
          </a:xfrm>
          <a:prstGeom prst="rect">
            <a:avLst/>
          </a:prstGeom>
          <a:noFill/>
        </p:spPr>
        <p:txBody>
          <a:bodyPr wrap="square" anchor="ctr" lIns="0" rIns="0" tIns="0" bIns="0">
            <a:spAutoFit/>
          </a:bodyPr>
          <a:lstStyle/>
          <a:p>
            <a:pPr algn="l">
              <a:spcAft>
                <a:spcPts val="600"/>
              </a:spcAft>
            </a:pPr>
            <a:r>
              <a:rPr sz="1500" b="1" i="0">
                <a:solidFill>
                  <a:srgbClr val="ECEEF2"/>
                </a:solidFill>
                <a:latin typeface="Kaspersky Sans Display"/>
              </a:rPr>
              <a:t>Check C1 result</a:t>
            </a:r>
          </a:p>
        </p:txBody>
      </p:sp>
      <p:sp>
        <p:nvSpPr>
          <p:cNvPr id="15" name="Rounded Rectangle 14"/>
          <p:cNvSpPr/>
          <p:nvPr/>
        </p:nvSpPr>
        <p:spPr>
          <a:xfrm>
            <a:off x="4247032" y="2350008"/>
            <a:ext cx="658368" cy="329184"/>
          </a:xfrm>
          <a:prstGeom prst="roundRect">
            <a:avLst>
              <a:gd name="adj" fmla="val 12000"/>
            </a:avLst>
          </a:prstGeom>
          <a:solidFill>
            <a:srgbClr val="3DC4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171C"/>
                </a:solidFill>
                <a:latin typeface="Kaspersky Sans Display"/>
              </a:rPr>
              <a:t>✓</a:t>
            </a:r>
          </a:p>
        </p:txBody>
      </p:sp>
      <p:sp>
        <p:nvSpPr>
          <p:cNvPr id="16" name="Rounded Rectangle 15"/>
          <p:cNvSpPr/>
          <p:nvPr/>
        </p:nvSpPr>
        <p:spPr>
          <a:xfrm>
            <a:off x="5078425" y="2350008"/>
            <a:ext cx="658368" cy="329184"/>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a:t>
            </a:r>
          </a:p>
        </p:txBody>
      </p:sp>
      <p:sp>
        <p:nvSpPr>
          <p:cNvPr id="17" name="Rounded Rectangle 16"/>
          <p:cNvSpPr/>
          <p:nvPr/>
        </p:nvSpPr>
        <p:spPr>
          <a:xfrm>
            <a:off x="5909818" y="2350008"/>
            <a:ext cx="658368" cy="329184"/>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a:t>
            </a:r>
          </a:p>
        </p:txBody>
      </p:sp>
      <p:sp>
        <p:nvSpPr>
          <p:cNvPr id="18" name="Rounded Rectangle 17"/>
          <p:cNvSpPr/>
          <p:nvPr/>
        </p:nvSpPr>
        <p:spPr>
          <a:xfrm>
            <a:off x="6741210" y="2350008"/>
            <a:ext cx="658368" cy="329184"/>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a:t>
            </a:r>
          </a:p>
        </p:txBody>
      </p:sp>
      <p:sp>
        <p:nvSpPr>
          <p:cNvPr id="19" name="Rounded Rectangle 18"/>
          <p:cNvSpPr/>
          <p:nvPr/>
        </p:nvSpPr>
        <p:spPr>
          <a:xfrm>
            <a:off x="7572603" y="2350008"/>
            <a:ext cx="658368" cy="329184"/>
          </a:xfrm>
          <a:prstGeom prst="roundRect">
            <a:avLst>
              <a:gd name="adj" fmla="val 12000"/>
            </a:avLst>
          </a:prstGeom>
          <a:solidFill>
            <a:srgbClr val="EEDB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no tax</a:t>
            </a:r>
          </a:p>
        </p:txBody>
      </p:sp>
      <p:sp>
        <p:nvSpPr>
          <p:cNvPr id="20" name="Rounded Rectangle 19"/>
          <p:cNvSpPr/>
          <p:nvPr/>
        </p:nvSpPr>
        <p:spPr>
          <a:xfrm>
            <a:off x="8403996" y="2350008"/>
            <a:ext cx="658368" cy="329184"/>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a:t>
            </a:r>
          </a:p>
        </p:txBody>
      </p:sp>
      <p:sp>
        <p:nvSpPr>
          <p:cNvPr id="21" name="Rounded Rectangle 20"/>
          <p:cNvSpPr/>
          <p:nvPr/>
        </p:nvSpPr>
        <p:spPr>
          <a:xfrm>
            <a:off x="9235389" y="2350008"/>
            <a:ext cx="658368" cy="329184"/>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a:t>
            </a:r>
          </a:p>
        </p:txBody>
      </p:sp>
      <p:sp>
        <p:nvSpPr>
          <p:cNvPr id="22" name="Rounded Rectangle 21"/>
          <p:cNvSpPr/>
          <p:nvPr/>
        </p:nvSpPr>
        <p:spPr>
          <a:xfrm>
            <a:off x="10066782" y="2350008"/>
            <a:ext cx="658368" cy="329184"/>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a:t>
            </a:r>
          </a:p>
        </p:txBody>
      </p:sp>
      <p:sp>
        <p:nvSpPr>
          <p:cNvPr id="23" name="Rounded Rectangle 22"/>
          <p:cNvSpPr/>
          <p:nvPr/>
        </p:nvSpPr>
        <p:spPr>
          <a:xfrm>
            <a:off x="10898174" y="2350008"/>
            <a:ext cx="658368" cy="329184"/>
          </a:xfrm>
          <a:prstGeom prst="roundRect">
            <a:avLst>
              <a:gd name="adj" fmla="val 12000"/>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FFFFFF"/>
                </a:solidFill>
                <a:latin typeface="Kaspersky Sans Display"/>
              </a:rPr>
              <a:t>✗</a:t>
            </a:r>
          </a:p>
        </p:txBody>
      </p:sp>
      <p:sp>
        <p:nvSpPr>
          <p:cNvPr id="24" name="Rectangle 23"/>
          <p:cNvSpPr/>
          <p:nvPr/>
        </p:nvSpPr>
        <p:spPr>
          <a:xfrm>
            <a:off x="548640" y="3017520"/>
            <a:ext cx="11094415" cy="548640"/>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017520"/>
            <a:ext cx="3337560" cy="548640"/>
          </a:xfrm>
          <a:prstGeom prst="rect">
            <a:avLst/>
          </a:prstGeom>
          <a:noFill/>
        </p:spPr>
        <p:txBody>
          <a:bodyPr wrap="square" anchor="ctr" lIns="0" rIns="0" tIns="0" bIns="0">
            <a:spAutoFit/>
          </a:bodyPr>
          <a:lstStyle/>
          <a:p>
            <a:pPr algn="l">
              <a:spcAft>
                <a:spcPts val="600"/>
              </a:spcAft>
            </a:pPr>
            <a:r>
              <a:rPr sz="1400" b="0" i="0">
                <a:solidFill>
                  <a:srgbClr val="ECEEF2"/>
                </a:solidFill>
                <a:latin typeface="Kaspersky Sans Display"/>
              </a:rPr>
              <a:t>Discount stored without tax</a:t>
            </a:r>
          </a:p>
        </p:txBody>
      </p:sp>
      <p:sp>
        <p:nvSpPr>
          <p:cNvPr id="26" name="Oval 25"/>
          <p:cNvSpPr/>
          <p:nvPr/>
        </p:nvSpPr>
        <p:spPr>
          <a:xfrm>
            <a:off x="5270449" y="3154680"/>
            <a:ext cx="274320" cy="27432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933234" y="3154680"/>
            <a:ext cx="274320" cy="27432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764627" y="3154680"/>
            <a:ext cx="274320" cy="27432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1090198" y="3154680"/>
            <a:ext cx="274320" cy="27432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566160"/>
            <a:ext cx="3337560" cy="548640"/>
          </a:xfrm>
          <a:prstGeom prst="rect">
            <a:avLst/>
          </a:prstGeom>
          <a:noFill/>
        </p:spPr>
        <p:txBody>
          <a:bodyPr wrap="square" anchor="ctr" lIns="0" rIns="0" tIns="0" bIns="0">
            <a:spAutoFit/>
          </a:bodyPr>
          <a:lstStyle/>
          <a:p>
            <a:pPr algn="l">
              <a:spcAft>
                <a:spcPts val="600"/>
              </a:spcAft>
            </a:pPr>
            <a:r>
              <a:rPr sz="1400" b="0" i="0">
                <a:solidFill>
                  <a:srgbClr val="ECEEF2"/>
                </a:solidFill>
                <a:latin typeface="Kaspersky Sans Display"/>
              </a:rPr>
              <a:t>Demand level not stored: MSRP lost</a:t>
            </a:r>
          </a:p>
        </p:txBody>
      </p:sp>
      <p:sp>
        <p:nvSpPr>
          <p:cNvPr id="31" name="Oval 30"/>
          <p:cNvSpPr/>
          <p:nvPr/>
        </p:nvSpPr>
        <p:spPr>
          <a:xfrm>
            <a:off x="6101842" y="3703320"/>
            <a:ext cx="274320" cy="274320"/>
          </a:xfrm>
          <a:prstGeom prst="ellipse">
            <a:avLst/>
          </a:prstGeom>
          <a:solidFill>
            <a:srgbClr val="EED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933234" y="3703320"/>
            <a:ext cx="274320" cy="274320"/>
          </a:xfrm>
          <a:prstGeom prst="ellipse">
            <a:avLst/>
          </a:prstGeom>
          <a:solidFill>
            <a:srgbClr val="EED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258806" y="3703320"/>
            <a:ext cx="274320" cy="274320"/>
          </a:xfrm>
          <a:prstGeom prst="ellipse">
            <a:avLst/>
          </a:prstGeom>
          <a:solidFill>
            <a:srgbClr val="EED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4114800"/>
            <a:ext cx="11094415" cy="548640"/>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114800"/>
            <a:ext cx="3337560" cy="548640"/>
          </a:xfrm>
          <a:prstGeom prst="rect">
            <a:avLst/>
          </a:prstGeom>
          <a:noFill/>
        </p:spPr>
        <p:txBody>
          <a:bodyPr wrap="square" anchor="ctr" lIns="0" rIns="0" tIns="0" bIns="0">
            <a:spAutoFit/>
          </a:bodyPr>
          <a:lstStyle/>
          <a:p>
            <a:pPr algn="l">
              <a:spcAft>
                <a:spcPts val="600"/>
              </a:spcAft>
            </a:pPr>
            <a:r>
              <a:rPr sz="1400" b="0" i="0">
                <a:solidFill>
                  <a:srgbClr val="ECEEF2"/>
                </a:solidFill>
                <a:latin typeface="Kaspersky Sans Display"/>
              </a:rPr>
              <a:t>WebPriceList gives the wrong price</a:t>
            </a:r>
          </a:p>
        </p:txBody>
      </p:sp>
      <p:sp>
        <p:nvSpPr>
          <p:cNvPr id="36" name="Oval 35"/>
          <p:cNvSpPr/>
          <p:nvPr/>
        </p:nvSpPr>
        <p:spPr>
          <a:xfrm>
            <a:off x="8596020" y="4251960"/>
            <a:ext cx="274320" cy="274320"/>
          </a:xfrm>
          <a:prstGeom prst="ellipse">
            <a:avLst/>
          </a:prstGeom>
          <a:solidFill>
            <a:srgbClr val="6F8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9427413" y="4251960"/>
            <a:ext cx="274320" cy="274320"/>
          </a:xfrm>
          <a:prstGeom prst="ellipse">
            <a:avLst/>
          </a:prstGeom>
          <a:solidFill>
            <a:srgbClr val="6F8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58806" y="4251960"/>
            <a:ext cx="274320" cy="274320"/>
          </a:xfrm>
          <a:prstGeom prst="ellipse">
            <a:avLst/>
          </a:prstGeom>
          <a:solidFill>
            <a:srgbClr val="6F8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4663440"/>
            <a:ext cx="3337560" cy="548640"/>
          </a:xfrm>
          <a:prstGeom prst="rect">
            <a:avLst/>
          </a:prstGeom>
          <a:noFill/>
        </p:spPr>
        <p:txBody>
          <a:bodyPr wrap="square" anchor="ctr" lIns="0" rIns="0" tIns="0" bIns="0">
            <a:spAutoFit/>
          </a:bodyPr>
          <a:lstStyle/>
          <a:p>
            <a:pPr algn="l">
              <a:spcAft>
                <a:spcPts val="600"/>
              </a:spcAft>
            </a:pPr>
            <a:r>
              <a:rPr sz="1400" b="0" i="0">
                <a:solidFill>
                  <a:srgbClr val="ECEEF2"/>
                </a:solidFill>
                <a:latin typeface="Kaspersky Sans Display"/>
              </a:rPr>
              <a:t>MSRP without tax, API grossMsrp = 0</a:t>
            </a:r>
          </a:p>
        </p:txBody>
      </p:sp>
      <p:sp>
        <p:nvSpPr>
          <p:cNvPr id="40" name="Oval 39"/>
          <p:cNvSpPr/>
          <p:nvPr/>
        </p:nvSpPr>
        <p:spPr>
          <a:xfrm>
            <a:off x="7764627" y="4800600"/>
            <a:ext cx="274320" cy="274320"/>
          </a:xfrm>
          <a:prstGeom prst="ellipse">
            <a:avLst/>
          </a:prstGeom>
          <a:solidFill>
            <a:srgbClr val="A37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212080"/>
            <a:ext cx="11094415" cy="548640"/>
          </a:xfrm>
          <a:prstGeom prst="rect">
            <a:avLst/>
          </a:prstGeom>
          <a:solidFill>
            <a:srgbClr val="2A2E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5212080"/>
            <a:ext cx="3337560" cy="548640"/>
          </a:xfrm>
          <a:prstGeom prst="rect">
            <a:avLst/>
          </a:prstGeom>
          <a:noFill/>
        </p:spPr>
        <p:txBody>
          <a:bodyPr wrap="square" anchor="ctr" lIns="0" rIns="0" tIns="0" bIns="0">
            <a:spAutoFit/>
          </a:bodyPr>
          <a:lstStyle/>
          <a:p>
            <a:pPr algn="l">
              <a:spcAft>
                <a:spcPts val="600"/>
              </a:spcAft>
            </a:pPr>
            <a:r>
              <a:rPr sz="1400" b="0" i="0">
                <a:solidFill>
                  <a:srgbClr val="ECEEF2"/>
                </a:solidFill>
                <a:latin typeface="Kaspersky Sans Display"/>
              </a:rPr>
              <a:t>No source matches the amount</a:t>
            </a:r>
          </a:p>
        </p:txBody>
      </p:sp>
      <p:sp>
        <p:nvSpPr>
          <p:cNvPr id="43" name="Oval 42"/>
          <p:cNvSpPr/>
          <p:nvPr/>
        </p:nvSpPr>
        <p:spPr>
          <a:xfrm>
            <a:off x="11090198" y="5349240"/>
            <a:ext cx="274320" cy="274320"/>
          </a:xfrm>
          <a:prstGeom prst="ellipse">
            <a:avLst/>
          </a:prstGeom>
          <a:solidFill>
            <a:srgbClr val="F266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897880"/>
            <a:ext cx="11094415" cy="548640"/>
          </a:xfrm>
          <a:prstGeom prst="rect">
            <a:avLst/>
          </a:prstGeom>
          <a:noFill/>
        </p:spPr>
        <p:txBody>
          <a:bodyPr wrap="square" anchor="t" lIns="0" rIns="0" tIns="0" bIns="0">
            <a:spAutoFit/>
          </a:bodyPr>
          <a:lstStyle/>
          <a:p>
            <a:pPr algn="l">
              <a:spcAft>
                <a:spcPts val="600"/>
              </a:spcAft>
            </a:pPr>
            <a:r>
              <a:rPr sz="1400" b="1" i="0">
                <a:solidFill>
                  <a:srgbClr val="A9B1BF"/>
                </a:solidFill>
                <a:latin typeface="Kaspersky Sans Display"/>
              </a:rPr>
              <a:t>Examples chosen to cover each case, not a random sample. </a:t>
            </a:r>
            <a:r>
              <a:rPr sz="1400" b="0" i="0">
                <a:solidFill>
                  <a:srgbClr val="A9B1BF"/>
                </a:solidFill>
                <a:latin typeface="Kaspersky Sans Display"/>
              </a:rPr>
              <a:t>How often each cause happens is still to be measured.</a:t>
            </a:r>
          </a:p>
        </p:txBody>
      </p:sp>
      <p:sp>
        <p:nvSpPr>
          <p:cNvPr id="45" name="TextBox 44"/>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24</a:t>
            </a:r>
          </a:p>
        </p:txBody>
      </p:sp>
      <p:sp>
        <p:nvSpPr>
          <p:cNvPr id="46" name="Rounded Rectangle 45"/>
          <p:cNvSpPr/>
          <p:nvPr/>
        </p:nvSpPr>
        <p:spPr>
          <a:xfrm>
            <a:off x="9357055" y="274320"/>
            <a:ext cx="1737360" cy="292608"/>
          </a:xfrm>
          <a:prstGeom prst="roundRect">
            <a:avLst>
              <a:gd name="adj" fmla="val 12000"/>
            </a:avLst>
          </a:prstGeom>
          <a:solidFill>
            <a:srgbClr val="1E2128"/>
          </a:solidFill>
          <a:ln w="19050">
            <a:solidFill>
              <a:srgbClr val="F2667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2667F"/>
                </a:solidFill>
                <a:latin typeface="Kaspersky Sans Display"/>
              </a:rPr>
              <a:t>2 · THE GAPS</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The projection needs the MSRP at another moment</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The model gives the price at the transaction. To project, we need the MSRP at expiration, or today</a:t>
            </a:r>
          </a:p>
        </p:txBody>
      </p:sp>
      <p:sp>
        <p:nvSpPr>
          <p:cNvPr id="4" name="Rounded Rectangle 3"/>
          <p:cNvSpPr/>
          <p:nvPr/>
        </p:nvSpPr>
        <p:spPr>
          <a:xfrm>
            <a:off x="548640" y="1600200"/>
            <a:ext cx="11094415" cy="1874519"/>
          </a:xfrm>
          <a:prstGeom prst="roundRect">
            <a:avLst>
              <a:gd name="adj" fmla="val 12000"/>
            </a:avLst>
          </a:prstGeom>
          <a:solidFill>
            <a:srgbClr val="F1F3F6"/>
          </a:solidFill>
          <a:ln w="19050">
            <a:solidFill>
              <a:srgbClr val="7B47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828800"/>
            <a:ext cx="2377440" cy="1371600"/>
          </a:xfrm>
          <a:prstGeom prst="rect">
            <a:avLst/>
          </a:prstGeom>
          <a:noFill/>
        </p:spPr>
        <p:txBody>
          <a:bodyPr wrap="square" anchor="t" lIns="0" rIns="0" tIns="0" bIns="0">
            <a:spAutoFit/>
          </a:bodyPr>
          <a:lstStyle/>
          <a:p>
            <a:pPr algn="l">
              <a:spcAft>
                <a:spcPts val="300"/>
              </a:spcAft>
            </a:pPr>
            <a:r>
              <a:rPr sz="1700" b="1" i="0">
                <a:solidFill>
                  <a:srgbClr val="1F2937"/>
                </a:solidFill>
                <a:latin typeface="Kaspersky Sans Display"/>
              </a:rPr>
              <a:t>Past expirations</a:t>
            </a:r>
          </a:p>
          <a:p>
            <a:pPr algn="l">
              <a:spcAft>
                <a:spcPts val="300"/>
              </a:spcAft>
            </a:pPr>
            <a:r>
              <a:rPr sz="1300" b="1" i="0">
                <a:solidFill>
                  <a:srgbClr val="7B47D1"/>
                </a:solidFill>
                <a:latin typeface="Kaspersky Sans Display"/>
              </a:rPr>
              <a:t>analysis</a:t>
            </a:r>
          </a:p>
          <a:p>
            <a:pPr algn="l">
              <a:spcAft>
                <a:spcPts val="300"/>
              </a:spcAft>
            </a:pPr>
            <a:r>
              <a:rPr sz="1300" b="0" i="0">
                <a:solidFill>
                  <a:srgbClr val="5B6472"/>
                </a:solidFill>
                <a:latin typeface="Kaspersky Sans Display"/>
              </a:rPr>
              <a:t>MSRP valid at expiration</a:t>
            </a:r>
          </a:p>
        </p:txBody>
      </p:sp>
      <p:sp>
        <p:nvSpPr>
          <p:cNvPr id="6" name="Rounded Rectangle 5"/>
          <p:cNvSpPr/>
          <p:nvPr/>
        </p:nvSpPr>
        <p:spPr>
          <a:xfrm>
            <a:off x="3017520" y="2148840"/>
            <a:ext cx="2011680" cy="77724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Last transaction</a:t>
            </a:r>
          </a:p>
          <a:p>
            <a:pPr algn="ctr">
              <a:spcAft>
                <a:spcPts val="0"/>
              </a:spcAft>
            </a:pPr>
            <a:r>
              <a:rPr sz="1200" b="1" i="0">
                <a:solidFill>
                  <a:srgbClr val="FFFFFF"/>
                </a:solidFill>
                <a:latin typeface="Kaspersky Sans Display"/>
              </a:rPr>
              <a:t>(transaction model)</a:t>
            </a:r>
          </a:p>
        </p:txBody>
      </p:sp>
      <p:sp>
        <p:nvSpPr>
          <p:cNvPr id="7" name="Right Arrow 6"/>
          <p:cNvSpPr/>
          <p:nvPr/>
        </p:nvSpPr>
        <p:spPr>
          <a:xfrm>
            <a:off x="5166360" y="2377440"/>
            <a:ext cx="548640" cy="347472"/>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852160" y="2148840"/>
            <a:ext cx="2011680" cy="777240"/>
          </a:xfrm>
          <a:prstGeom prst="roundRect">
            <a:avLst>
              <a:gd name="adj" fmla="val 12000"/>
            </a:avLst>
          </a:prstGeom>
          <a:solidFill>
            <a:srgbClr val="7B47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Expiration</a:t>
            </a:r>
          </a:p>
          <a:p>
            <a:pPr algn="ctr">
              <a:spcAft>
                <a:spcPts val="0"/>
              </a:spcAft>
            </a:pPr>
            <a:r>
              <a:rPr sz="1200" b="1" i="0">
                <a:solidFill>
                  <a:srgbClr val="FFFFFF"/>
                </a:solidFill>
                <a:latin typeface="Kaspersky Sans Display"/>
              </a:rPr>
              <a:t>MSRP valid at expiration</a:t>
            </a:r>
          </a:p>
        </p:txBody>
      </p:sp>
      <p:sp>
        <p:nvSpPr>
          <p:cNvPr id="9" name="Right Arrow 8"/>
          <p:cNvSpPr/>
          <p:nvPr/>
        </p:nvSpPr>
        <p:spPr>
          <a:xfrm>
            <a:off x="8001000" y="2377440"/>
            <a:ext cx="548640" cy="347472"/>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0" y="1874519"/>
            <a:ext cx="2743200" cy="566928"/>
          </a:xfrm>
          <a:prstGeom prst="roundRect">
            <a:avLst>
              <a:gd name="adj" fmla="val 12000"/>
            </a:avLst>
          </a:prstGeom>
          <a:solidFill>
            <a:srgbClr val="DDF3EC"/>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9A7A"/>
                </a:solidFill>
                <a:latin typeface="Kaspersky Sans Display"/>
              </a:rPr>
              <a:t>Renewed: we know what they paid</a:t>
            </a:r>
          </a:p>
        </p:txBody>
      </p:sp>
      <p:sp>
        <p:nvSpPr>
          <p:cNvPr id="11" name="Rounded Rectangle 10"/>
          <p:cNvSpPr/>
          <p:nvPr/>
        </p:nvSpPr>
        <p:spPr>
          <a:xfrm>
            <a:off x="8686800" y="2587752"/>
            <a:ext cx="2743200" cy="566928"/>
          </a:xfrm>
          <a:prstGeom prst="roundRect">
            <a:avLst>
              <a:gd name="adj" fmla="val 12000"/>
            </a:avLst>
          </a:prstGeom>
          <a:solidFill>
            <a:srgbClr val="FBE3E7"/>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D42A4F"/>
                </a:solidFill>
                <a:latin typeface="Kaspersky Sans Display"/>
              </a:rPr>
              <a:t>Churned: no transaction, no price</a:t>
            </a:r>
          </a:p>
        </p:txBody>
      </p:sp>
      <p:sp>
        <p:nvSpPr>
          <p:cNvPr id="12" name="Rounded Rectangle 11"/>
          <p:cNvSpPr/>
          <p:nvPr/>
        </p:nvSpPr>
        <p:spPr>
          <a:xfrm>
            <a:off x="548640" y="3657600"/>
            <a:ext cx="11094415" cy="1874519"/>
          </a:xfrm>
          <a:prstGeom prst="roundRect">
            <a:avLst>
              <a:gd name="adj" fmla="val 12000"/>
            </a:avLst>
          </a:prstGeom>
          <a:solidFill>
            <a:srgbClr val="F1F3F6"/>
          </a:solidFill>
          <a:ln w="19050">
            <a:solidFill>
              <a:srgbClr val="7B47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3886200"/>
            <a:ext cx="2377440" cy="1371600"/>
          </a:xfrm>
          <a:prstGeom prst="rect">
            <a:avLst/>
          </a:prstGeom>
          <a:noFill/>
        </p:spPr>
        <p:txBody>
          <a:bodyPr wrap="square" anchor="t" lIns="0" rIns="0" tIns="0" bIns="0">
            <a:spAutoFit/>
          </a:bodyPr>
          <a:lstStyle/>
          <a:p>
            <a:pPr algn="l">
              <a:spcAft>
                <a:spcPts val="300"/>
              </a:spcAft>
            </a:pPr>
            <a:r>
              <a:rPr sz="1700" b="1" i="0">
                <a:solidFill>
                  <a:srgbClr val="1F2937"/>
                </a:solidFill>
                <a:latin typeface="Kaspersky Sans Display"/>
              </a:rPr>
              <a:t>Future expirations</a:t>
            </a:r>
          </a:p>
          <a:p>
            <a:pPr algn="l">
              <a:spcAft>
                <a:spcPts val="300"/>
              </a:spcAft>
            </a:pPr>
            <a:r>
              <a:rPr sz="1300" b="1" i="0">
                <a:solidFill>
                  <a:srgbClr val="7B47D1"/>
                </a:solidFill>
                <a:latin typeface="Kaspersky Sans Display"/>
              </a:rPr>
              <a:t>projection</a:t>
            </a:r>
          </a:p>
          <a:p>
            <a:pPr algn="l">
              <a:spcAft>
                <a:spcPts val="300"/>
              </a:spcAft>
            </a:pPr>
            <a:r>
              <a:rPr sz="1300" b="0" i="0">
                <a:solidFill>
                  <a:srgbClr val="5B6472"/>
                </a:solidFill>
                <a:latin typeface="Kaspersky Sans Display"/>
              </a:rPr>
              <a:t>MSRP valid today</a:t>
            </a:r>
          </a:p>
        </p:txBody>
      </p:sp>
      <p:sp>
        <p:nvSpPr>
          <p:cNvPr id="14" name="Rounded Rectangle 13"/>
          <p:cNvSpPr/>
          <p:nvPr/>
        </p:nvSpPr>
        <p:spPr>
          <a:xfrm>
            <a:off x="3017520" y="4206240"/>
            <a:ext cx="2011680" cy="77724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Last transaction</a:t>
            </a:r>
          </a:p>
          <a:p>
            <a:pPr algn="ctr">
              <a:spcAft>
                <a:spcPts val="0"/>
              </a:spcAft>
            </a:pPr>
            <a:r>
              <a:rPr sz="1200" b="1" i="0">
                <a:solidFill>
                  <a:srgbClr val="FFFFFF"/>
                </a:solidFill>
                <a:latin typeface="Kaspersky Sans Display"/>
              </a:rPr>
              <a:t>(transaction model)</a:t>
            </a:r>
          </a:p>
        </p:txBody>
      </p:sp>
      <p:sp>
        <p:nvSpPr>
          <p:cNvPr id="15" name="Right Arrow 14"/>
          <p:cNvSpPr/>
          <p:nvPr/>
        </p:nvSpPr>
        <p:spPr>
          <a:xfrm>
            <a:off x="5166360" y="4434840"/>
            <a:ext cx="548640" cy="347472"/>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52160" y="4206240"/>
            <a:ext cx="2011680" cy="777240"/>
          </a:xfrm>
          <a:prstGeom prst="roundRect">
            <a:avLst>
              <a:gd name="adj" fmla="val 12000"/>
            </a:avLst>
          </a:prstGeom>
          <a:solidFill>
            <a:srgbClr val="7B47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FFFFFF"/>
                </a:solidFill>
                <a:latin typeface="Kaspersky Sans Display"/>
              </a:rPr>
              <a:t>Today</a:t>
            </a:r>
          </a:p>
          <a:p>
            <a:pPr algn="ctr">
              <a:spcAft>
                <a:spcPts val="0"/>
              </a:spcAft>
            </a:pPr>
            <a:r>
              <a:rPr sz="1200" b="1" i="0">
                <a:solidFill>
                  <a:srgbClr val="FFFFFF"/>
                </a:solidFill>
                <a:latin typeface="Kaspersky Sans Display"/>
              </a:rPr>
              <a:t>MSRP valid today</a:t>
            </a:r>
          </a:p>
        </p:txBody>
      </p:sp>
      <p:sp>
        <p:nvSpPr>
          <p:cNvPr id="17" name="Right Arrow 16"/>
          <p:cNvSpPr/>
          <p:nvPr/>
        </p:nvSpPr>
        <p:spPr>
          <a:xfrm>
            <a:off x="8001000" y="4434840"/>
            <a:ext cx="548640" cy="347472"/>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0" y="3931920"/>
            <a:ext cx="2743200" cy="566928"/>
          </a:xfrm>
          <a:prstGeom prst="roundRect">
            <a:avLst>
              <a:gd name="adj" fmla="val 12000"/>
            </a:avLst>
          </a:prstGeom>
          <a:solidFill>
            <a:srgbClr val="F1F3F6"/>
          </a:solidFill>
          <a:ln w="19050">
            <a:solidFill>
              <a:srgbClr val="7B47D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7B47D1"/>
                </a:solidFill>
                <a:latin typeface="Kaspersky Sans Display"/>
              </a:rPr>
              <a:t>Projected amount at next renewal</a:t>
            </a:r>
          </a:p>
        </p:txBody>
      </p:sp>
      <p:sp>
        <p:nvSpPr>
          <p:cNvPr id="19" name="Rounded Rectangle 18"/>
          <p:cNvSpPr/>
          <p:nvPr/>
        </p:nvSpPr>
        <p:spPr>
          <a:xfrm>
            <a:off x="8686800" y="4645152"/>
            <a:ext cx="2743200" cy="566928"/>
          </a:xfrm>
          <a:prstGeom prst="roundRect">
            <a:avLst>
              <a:gd name="adj" fmla="val 12000"/>
            </a:avLst>
          </a:prstGeom>
          <a:solidFill>
            <a:srgbClr val="F1F3F6"/>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5B6472"/>
                </a:solidFill>
                <a:latin typeface="Kaspersky Sans Display"/>
              </a:rPr>
              <a:t>Future price increases may not be planned yet</a:t>
            </a:r>
          </a:p>
        </p:txBody>
      </p:sp>
      <p:sp>
        <p:nvSpPr>
          <p:cNvPr id="20" name="Rounded Rectangle 19"/>
          <p:cNvSpPr/>
          <p:nvPr/>
        </p:nvSpPr>
        <p:spPr>
          <a:xfrm>
            <a:off x="548640" y="5760720"/>
            <a:ext cx="11094415" cy="73152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700" b="1" i="0">
                <a:solidFill>
                  <a:srgbClr val="E5B400"/>
                </a:solidFill>
                <a:latin typeface="Kaspersky Sans Display"/>
              </a:rPr>
              <a:t>Amount at next renewal = MSRP at that moment × (1 − discount set by the plan)</a:t>
            </a:r>
          </a:p>
          <a:p>
            <a:pPr algn="ctr">
              <a:spcAft>
                <a:spcPts val="200"/>
              </a:spcAft>
            </a:pPr>
            <a:r>
              <a:rPr sz="1300" b="0" i="0">
                <a:solidFill>
                  <a:srgbClr val="B8C2D0"/>
                </a:solidFill>
                <a:latin typeface="Kaspersky Sans Display"/>
              </a:rPr>
              <a:t>No discount plan: the discount is 0 and the customer pays the full MSRP.</a:t>
            </a:r>
          </a:p>
        </p:txBody>
      </p:sp>
      <p:sp>
        <p:nvSpPr>
          <p:cNvPr id="21" name="TextBox 20"/>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25</a:t>
            </a:r>
          </a:p>
        </p:txBody>
      </p:sp>
      <p:sp>
        <p:nvSpPr>
          <p:cNvPr id="22" name="Rounded Rectangle 21"/>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Same contract, different amount</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The ladder keeps the agreed 30%. The price increase changes what the customer pays</a:t>
            </a:r>
          </a:p>
        </p:txBody>
      </p:sp>
      <p:sp>
        <p:nvSpPr>
          <p:cNvPr id="4" name="TextBox 3"/>
          <p:cNvSpPr txBox="1"/>
          <p:nvPr/>
        </p:nvSpPr>
        <p:spPr>
          <a:xfrm>
            <a:off x="548640" y="1645920"/>
            <a:ext cx="6400800" cy="320040"/>
          </a:xfrm>
          <a:prstGeom prst="rect">
            <a:avLst/>
          </a:prstGeom>
          <a:noFill/>
        </p:spPr>
        <p:txBody>
          <a:bodyPr wrap="square" anchor="t" lIns="0" rIns="0" tIns="0" bIns="0">
            <a:spAutoFit/>
          </a:bodyPr>
          <a:lstStyle/>
          <a:p>
            <a:pPr algn="l">
              <a:spcAft>
                <a:spcPts val="600"/>
              </a:spcAft>
            </a:pPr>
            <a:r>
              <a:rPr sz="1500" b="1" i="0">
                <a:solidFill>
                  <a:srgbClr val="1F2937"/>
                </a:solidFill>
                <a:latin typeface="Kaspersky Sans Display"/>
              </a:rPr>
              <a:t>Acquisition · 2025 · valid MSRP €100</a:t>
            </a:r>
          </a:p>
        </p:txBody>
      </p:sp>
      <p:sp>
        <p:nvSpPr>
          <p:cNvPr id="5" name="Rectangle 4"/>
          <p:cNvSpPr/>
          <p:nvPr/>
        </p:nvSpPr>
        <p:spPr>
          <a:xfrm>
            <a:off x="548640" y="2011680"/>
            <a:ext cx="2743200" cy="64008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Paid</a:t>
            </a:r>
          </a:p>
          <a:p>
            <a:pPr algn="ctr">
              <a:spcAft>
                <a:spcPts val="0"/>
              </a:spcAft>
            </a:pPr>
            <a:r>
              <a:rPr sz="1200" b="1" i="0">
                <a:solidFill>
                  <a:srgbClr val="14171C"/>
                </a:solidFill>
                <a:latin typeface="Kaspersky Sans Display"/>
              </a:rPr>
              <a:t>€50</a:t>
            </a:r>
          </a:p>
        </p:txBody>
      </p:sp>
      <p:sp>
        <p:nvSpPr>
          <p:cNvPr id="6" name="Rectangle 5"/>
          <p:cNvSpPr/>
          <p:nvPr/>
        </p:nvSpPr>
        <p:spPr>
          <a:xfrm>
            <a:off x="3291840" y="2011680"/>
            <a:ext cx="2743200" cy="64008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Demand level</a:t>
            </a:r>
          </a:p>
          <a:p>
            <a:pPr algn="ctr">
              <a:spcAft>
                <a:spcPts val="0"/>
              </a:spcAft>
            </a:pPr>
            <a:r>
              <a:rPr sz="1200" b="1" i="0">
                <a:solidFill>
                  <a:srgbClr val="14171C"/>
                </a:solidFill>
                <a:latin typeface="Kaspersky Sans Display"/>
              </a:rPr>
              <a:t>€50</a:t>
            </a:r>
          </a:p>
        </p:txBody>
      </p:sp>
      <p:sp>
        <p:nvSpPr>
          <p:cNvPr id="7" name="TextBox 6"/>
          <p:cNvSpPr txBox="1"/>
          <p:nvPr/>
        </p:nvSpPr>
        <p:spPr>
          <a:xfrm>
            <a:off x="548640" y="2971800"/>
            <a:ext cx="6400800" cy="320040"/>
          </a:xfrm>
          <a:prstGeom prst="rect">
            <a:avLst/>
          </a:prstGeom>
          <a:noFill/>
        </p:spPr>
        <p:txBody>
          <a:bodyPr wrap="square" anchor="t" lIns="0" rIns="0" tIns="0" bIns="0">
            <a:spAutoFit/>
          </a:bodyPr>
          <a:lstStyle/>
          <a:p>
            <a:pPr algn="l">
              <a:spcAft>
                <a:spcPts val="600"/>
              </a:spcAft>
            </a:pPr>
            <a:r>
              <a:rPr sz="1500" b="1" i="0">
                <a:solidFill>
                  <a:srgbClr val="1F2937"/>
                </a:solidFill>
                <a:latin typeface="Kaspersky Sans Display"/>
              </a:rPr>
              <a:t>Renewal · 2026 · valid MSRP €110 (price increase)</a:t>
            </a:r>
          </a:p>
        </p:txBody>
      </p:sp>
      <p:sp>
        <p:nvSpPr>
          <p:cNvPr id="8" name="Rectangle 7"/>
          <p:cNvSpPr/>
          <p:nvPr/>
        </p:nvSpPr>
        <p:spPr>
          <a:xfrm>
            <a:off x="548640" y="3337560"/>
            <a:ext cx="4224528" cy="640080"/>
          </a:xfrm>
          <a:prstGeom prst="rect">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Paid</a:t>
            </a:r>
          </a:p>
          <a:p>
            <a:pPr algn="ctr">
              <a:spcAft>
                <a:spcPts val="0"/>
              </a:spcAft>
            </a:pPr>
            <a:r>
              <a:rPr sz="1200" b="1" i="0">
                <a:solidFill>
                  <a:srgbClr val="14171C"/>
                </a:solidFill>
                <a:latin typeface="Kaspersky Sans Display"/>
              </a:rPr>
              <a:t>€77</a:t>
            </a:r>
          </a:p>
        </p:txBody>
      </p:sp>
      <p:sp>
        <p:nvSpPr>
          <p:cNvPr id="9" name="Rectangle 8"/>
          <p:cNvSpPr/>
          <p:nvPr/>
        </p:nvSpPr>
        <p:spPr>
          <a:xfrm>
            <a:off x="4773168" y="3337560"/>
            <a:ext cx="1810512" cy="640080"/>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Ladder</a:t>
            </a:r>
          </a:p>
          <a:p>
            <a:pPr algn="ctr">
              <a:spcAft>
                <a:spcPts val="0"/>
              </a:spcAft>
            </a:pPr>
            <a:r>
              <a:rPr sz="1200" b="1" i="0">
                <a:solidFill>
                  <a:srgbClr val="14171C"/>
                </a:solidFill>
                <a:latin typeface="Kaspersky Sans Display"/>
              </a:rPr>
              <a:t>€33</a:t>
            </a:r>
          </a:p>
        </p:txBody>
      </p:sp>
      <p:sp>
        <p:nvSpPr>
          <p:cNvPr id="10" name="TextBox 9"/>
          <p:cNvSpPr txBox="1"/>
          <p:nvPr/>
        </p:nvSpPr>
        <p:spPr>
          <a:xfrm>
            <a:off x="548640" y="4251960"/>
            <a:ext cx="6400800" cy="1188720"/>
          </a:xfrm>
          <a:prstGeom prst="rect">
            <a:avLst/>
          </a:prstGeom>
          <a:noFill/>
        </p:spPr>
        <p:txBody>
          <a:bodyPr wrap="square" anchor="t" lIns="0" rIns="0" tIns="0" bIns="0">
            <a:spAutoFit/>
          </a:bodyPr>
          <a:lstStyle/>
          <a:p>
            <a:pPr algn="l">
              <a:spcAft>
                <a:spcPts val="400"/>
              </a:spcAft>
            </a:pPr>
            <a:r>
              <a:rPr sz="2000" b="1" i="0">
                <a:solidFill>
                  <a:srgbClr val="149A7A"/>
                </a:solidFill>
                <a:latin typeface="Kaspersky Sans Display"/>
              </a:rPr>
              <a:t>33 + 77 = 110   ✓</a:t>
            </a:r>
          </a:p>
          <a:p>
            <a:pPr algn="l">
              <a:spcAft>
                <a:spcPts val="400"/>
              </a:spcAft>
            </a:pPr>
            <a:r>
              <a:rPr sz="1600" b="0" i="0">
                <a:solidFill>
                  <a:srgbClr val="1F2937"/>
                </a:solidFill>
                <a:latin typeface="Kaspersky Sans Display"/>
              </a:rPr>
              <a:t>33 / 110 = 30%  →  matches the agreed ladder</a:t>
            </a:r>
          </a:p>
        </p:txBody>
      </p:sp>
      <p:sp>
        <p:nvSpPr>
          <p:cNvPr id="11" name="Rounded Rectangle 10"/>
          <p:cNvSpPr/>
          <p:nvPr/>
        </p:nvSpPr>
        <p:spPr>
          <a:xfrm>
            <a:off x="7223760" y="1645920"/>
            <a:ext cx="4389120" cy="3291840"/>
          </a:xfrm>
          <a:prstGeom prst="roundRect">
            <a:avLst>
              <a:gd name="adj" fmla="val 12000"/>
            </a:avLst>
          </a:prstGeom>
          <a:solidFill>
            <a:srgbClr val="FB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1874519"/>
            <a:ext cx="3840480" cy="2926080"/>
          </a:xfrm>
          <a:prstGeom prst="rect">
            <a:avLst/>
          </a:prstGeom>
          <a:noFill/>
        </p:spPr>
        <p:txBody>
          <a:bodyPr wrap="square" anchor="t" lIns="0" rIns="0" tIns="0" bIns="0">
            <a:spAutoFit/>
          </a:bodyPr>
          <a:lstStyle/>
          <a:p>
            <a:pPr algn="l">
              <a:spcAft>
                <a:spcPts val="1000"/>
              </a:spcAft>
            </a:pPr>
            <a:r>
              <a:rPr sz="1800" b="1" i="0">
                <a:solidFill>
                  <a:srgbClr val="D42A4F"/>
                </a:solidFill>
                <a:latin typeface="Kaspersky Sans Display"/>
              </a:rPr>
              <a:t>What if we use the acquisition MSRP?</a:t>
            </a:r>
          </a:p>
          <a:p>
            <a:pPr algn="l">
              <a:spcAft>
                <a:spcPts val="1000"/>
              </a:spcAft>
            </a:pPr>
            <a:r>
              <a:rPr sz="1500" b="0" i="0">
                <a:solidFill>
                  <a:srgbClr val="1F2937"/>
                </a:solidFill>
                <a:latin typeface="Kaspersky Sans Display"/>
              </a:rPr>
              <a:t>100 − 77 = 23  →  23% discount</a:t>
            </a:r>
          </a:p>
          <a:p>
            <a:pPr algn="l">
              <a:spcAft>
                <a:spcPts val="1000"/>
              </a:spcAft>
            </a:pPr>
            <a:r>
              <a:rPr sz="1500" b="0" i="0">
                <a:solidFill>
                  <a:srgbClr val="1F2937"/>
                </a:solidFill>
                <a:latin typeface="Kaspersky Sans Display"/>
              </a:rPr>
              <a:t>23 + 77 = 100: the sum also reconciles</a:t>
            </a:r>
          </a:p>
          <a:p>
            <a:pPr algn="l">
              <a:spcAft>
                <a:spcPts val="1000"/>
              </a:spcAft>
            </a:pPr>
            <a:r>
              <a:rPr sz="1500" b="1" i="0">
                <a:solidFill>
                  <a:srgbClr val="1F2937"/>
                </a:solidFill>
                <a:latin typeface="Kaspersky Sans Display"/>
              </a:rPr>
              <a:t>But the agreed ladder was 30%, not 23%.</a:t>
            </a:r>
          </a:p>
          <a:p>
            <a:pPr algn="l">
              <a:spcAft>
                <a:spcPts val="1000"/>
              </a:spcAft>
            </a:pPr>
            <a:r>
              <a:rPr sz="1500" b="0" i="0">
                <a:solidFill>
                  <a:srgbClr val="1F2937"/>
                </a:solidFill>
                <a:latin typeface="Kaspersky Sans Display"/>
              </a:rPr>
              <a:t>The check is only valid if the MSRP is the one valid for product × region × currency on the transaction date.</a:t>
            </a:r>
          </a:p>
        </p:txBody>
      </p:sp>
      <p:sp>
        <p:nvSpPr>
          <p:cNvPr id="13" name="TextBox 12"/>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26</a:t>
            </a:r>
          </a:p>
        </p:txBody>
      </p:sp>
      <p:sp>
        <p:nvSpPr>
          <p:cNvPr id="14" name="Rounded Rectangle 13"/>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Renewed or churned: only one leaves a transaction</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Our example customer (order 4K7019VAUH4) at expiration, with no discount plan</a:t>
            </a:r>
          </a:p>
        </p:txBody>
      </p:sp>
      <p:sp>
        <p:nvSpPr>
          <p:cNvPr id="4" name="Rounded Rectangle 3"/>
          <p:cNvSpPr/>
          <p:nvPr/>
        </p:nvSpPr>
        <p:spPr>
          <a:xfrm>
            <a:off x="548640" y="1600200"/>
            <a:ext cx="5394960" cy="4023360"/>
          </a:xfrm>
          <a:prstGeom prst="roundRect">
            <a:avLst>
              <a:gd name="adj" fmla="val 12000"/>
            </a:avLst>
          </a:prstGeom>
          <a:solidFill>
            <a:srgbClr val="F1F3F6"/>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59" y="1783080"/>
            <a:ext cx="1828800" cy="457200"/>
          </a:xfrm>
          <a:prstGeom prst="roundRect">
            <a:avLst>
              <a:gd name="adj" fmla="val 12000"/>
            </a:avLst>
          </a:prstGeom>
          <a:solidFill>
            <a:srgbClr val="DDF3EC"/>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9A7A"/>
                </a:solidFill>
                <a:latin typeface="Kaspersky Sans Display"/>
              </a:rPr>
              <a:t>Renewed</a:t>
            </a:r>
          </a:p>
        </p:txBody>
      </p:sp>
      <p:sp>
        <p:nvSpPr>
          <p:cNvPr id="6" name="TextBox 5"/>
          <p:cNvSpPr txBox="1"/>
          <p:nvPr/>
        </p:nvSpPr>
        <p:spPr>
          <a:xfrm>
            <a:off x="822959" y="2468880"/>
            <a:ext cx="4846320" cy="3017520"/>
          </a:xfrm>
          <a:prstGeom prst="rect">
            <a:avLst/>
          </a:prstGeom>
          <a:noFill/>
        </p:spPr>
        <p:txBody>
          <a:bodyPr wrap="square" anchor="t" lIns="0" rIns="0" tIns="0" bIns="0">
            <a:spAutoFit/>
          </a:bodyPr>
          <a:lstStyle/>
          <a:p>
            <a:pPr algn="l">
              <a:spcAft>
                <a:spcPts val="800"/>
              </a:spcAft>
            </a:pPr>
            <a:r>
              <a:rPr sz="1500" b="1" i="0">
                <a:solidFill>
                  <a:srgbClr val="1F2937"/>
                </a:solidFill>
                <a:latin typeface="Kaspersky Sans Display"/>
              </a:rPr>
              <a:t>A new transaction exists.</a:t>
            </a:r>
          </a:p>
          <a:p>
            <a:pPr algn="l">
              <a:spcAft>
                <a:spcPts val="800"/>
              </a:spcAft>
            </a:pPr>
            <a:r>
              <a:rPr sz="1400" b="0" i="0">
                <a:solidFill>
                  <a:srgbClr val="1F2937"/>
                </a:solidFill>
                <a:latin typeface="Kaspersky Sans Display"/>
              </a:rPr>
              <a:t>We know what the customer paid and, once the MSRP is in the transaction, the MSRP of that moment.</a:t>
            </a:r>
          </a:p>
          <a:p>
            <a:pPr algn="l">
              <a:spcAft>
                <a:spcPts val="800"/>
              </a:spcAft>
            </a:pPr>
            <a:r>
              <a:rPr sz="1400" b="1" i="0">
                <a:solidFill>
                  <a:srgbClr val="149A7A"/>
                </a:solidFill>
                <a:latin typeface="Kaspersky Sans Display"/>
              </a:rPr>
              <a:t>Price sensitivity: a positive case, with its price.</a:t>
            </a:r>
          </a:p>
        </p:txBody>
      </p:sp>
      <p:sp>
        <p:nvSpPr>
          <p:cNvPr id="7" name="Rounded Rectangle 6"/>
          <p:cNvSpPr/>
          <p:nvPr/>
        </p:nvSpPr>
        <p:spPr>
          <a:xfrm>
            <a:off x="6245352" y="1600200"/>
            <a:ext cx="5394960" cy="4023360"/>
          </a:xfrm>
          <a:prstGeom prst="roundRect">
            <a:avLst>
              <a:gd name="adj" fmla="val 12000"/>
            </a:avLst>
          </a:prstGeom>
          <a:solidFill>
            <a:srgbClr val="F1F3F6"/>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19672" y="1783080"/>
            <a:ext cx="1828800" cy="457200"/>
          </a:xfrm>
          <a:prstGeom prst="roundRect">
            <a:avLst>
              <a:gd name="adj" fmla="val 12000"/>
            </a:avLst>
          </a:prstGeom>
          <a:solidFill>
            <a:srgbClr val="FBE3E7"/>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D42A4F"/>
                </a:solidFill>
                <a:latin typeface="Kaspersky Sans Display"/>
              </a:rPr>
              <a:t>Churned</a:t>
            </a:r>
          </a:p>
        </p:txBody>
      </p:sp>
      <p:sp>
        <p:nvSpPr>
          <p:cNvPr id="9" name="TextBox 8"/>
          <p:cNvSpPr txBox="1"/>
          <p:nvPr/>
        </p:nvSpPr>
        <p:spPr>
          <a:xfrm>
            <a:off x="6519672" y="2468880"/>
            <a:ext cx="4846320" cy="3017520"/>
          </a:xfrm>
          <a:prstGeom prst="rect">
            <a:avLst/>
          </a:prstGeom>
          <a:noFill/>
        </p:spPr>
        <p:txBody>
          <a:bodyPr wrap="square" anchor="t" lIns="0" rIns="0" tIns="0" bIns="0">
            <a:spAutoFit/>
          </a:bodyPr>
          <a:lstStyle/>
          <a:p>
            <a:pPr algn="l">
              <a:spcAft>
                <a:spcPts val="800"/>
              </a:spcAft>
            </a:pPr>
            <a:r>
              <a:rPr sz="1500" b="1" i="0">
                <a:solidFill>
                  <a:srgbClr val="1F2937"/>
                </a:solidFill>
                <a:latin typeface="Kaspersky Sans Display"/>
              </a:rPr>
              <a:t>No transaction.</a:t>
            </a:r>
          </a:p>
          <a:p>
            <a:pPr algn="l">
              <a:spcAft>
                <a:spcPts val="800"/>
              </a:spcAft>
            </a:pPr>
            <a:r>
              <a:rPr sz="1400" b="0" i="0">
                <a:solidFill>
                  <a:srgbClr val="1F2937"/>
                </a:solidFill>
                <a:latin typeface="Kaspersky Sans Display"/>
              </a:rPr>
              <a:t>What price did we try to charge? We must rebuild it:</a:t>
            </a:r>
          </a:p>
          <a:p>
            <a:pPr algn="l">
              <a:spcAft>
                <a:spcPts val="800"/>
              </a:spcAft>
            </a:pPr>
            <a:r>
              <a:rPr sz="1400" b="1" i="0">
                <a:solidFill>
                  <a:srgbClr val="D42A4F"/>
                </a:solidFill>
                <a:latin typeface="Kaspersky Sans Display"/>
              </a:rPr>
              <a:t>MSRP at expiration × (1 − plan discount)</a:t>
            </a:r>
          </a:p>
          <a:p>
            <a:pPr algn="l">
              <a:spcAft>
                <a:spcPts val="800"/>
              </a:spcAft>
            </a:pPr>
            <a:r>
              <a:rPr sz="1400" b="1" i="0">
                <a:solidFill>
                  <a:srgbClr val="1F2937"/>
                </a:solidFill>
                <a:latin typeface="Kaspersky Sans Display"/>
              </a:rPr>
              <a:t>59.99 × (1 − 0) = €59.99</a:t>
            </a:r>
          </a:p>
          <a:p>
            <a:pPr algn="l">
              <a:spcAft>
                <a:spcPts val="800"/>
              </a:spcAft>
            </a:pPr>
            <a:r>
              <a:rPr sz="1400" b="1" i="0">
                <a:solidFill>
                  <a:srgbClr val="EC7A3C"/>
                </a:solidFill>
                <a:latin typeface="Kaspersky Sans Display"/>
              </a:rPr>
              <a:t>Last paid €23.99 → price delta €36.00 (+150.1%)</a:t>
            </a:r>
          </a:p>
          <a:p>
            <a:pPr algn="l">
              <a:spcAft>
                <a:spcPts val="800"/>
              </a:spcAft>
            </a:pPr>
            <a:r>
              <a:rPr sz="1400" b="1" i="0">
                <a:solidFill>
                  <a:srgbClr val="D42A4F"/>
                </a:solidFill>
                <a:latin typeface="Kaspersky Sans Display"/>
              </a:rPr>
              <a:t>Price sensitivity: a negative case, only if we can rebuild its price.</a:t>
            </a:r>
          </a:p>
        </p:txBody>
      </p:sp>
      <p:sp>
        <p:nvSpPr>
          <p:cNvPr id="10" name="TextBox 9"/>
          <p:cNvSpPr txBox="1"/>
          <p:nvPr/>
        </p:nvSpPr>
        <p:spPr>
          <a:xfrm>
            <a:off x="548640" y="5852160"/>
            <a:ext cx="11094415" cy="548640"/>
          </a:xfrm>
          <a:prstGeom prst="rect">
            <a:avLst/>
          </a:prstGeom>
          <a:noFill/>
        </p:spPr>
        <p:txBody>
          <a:bodyPr wrap="square" anchor="t" lIns="0" rIns="0" tIns="0" bIns="0">
            <a:spAutoFit/>
          </a:bodyPr>
          <a:lstStyle/>
          <a:p>
            <a:pPr algn="l">
              <a:spcAft>
                <a:spcPts val="600"/>
              </a:spcAft>
            </a:pPr>
            <a:r>
              <a:rPr sz="1600" b="1" i="0">
                <a:solidFill>
                  <a:srgbClr val="1F2937"/>
                </a:solidFill>
                <a:latin typeface="Kaspersky Sans Display"/>
              </a:rPr>
              <a:t>Price sensitivity needs both cases. Without the MSRP at expiration, churned customers have no price.</a:t>
            </a:r>
          </a:p>
        </p:txBody>
      </p:sp>
      <p:sp>
        <p:nvSpPr>
          <p:cNvPr id="11" name="TextBox 10"/>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27</a:t>
            </a:r>
          </a:p>
        </p:txBody>
      </p:sp>
      <p:sp>
        <p:nvSpPr>
          <p:cNvPr id="12" name="Rounded Rectangle 11"/>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Price cap: who has room to grow, and who got it back</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Illustrative price increase: MSRP €59.99 → €64.99. No discount plan at the next renewal</a:t>
            </a:r>
          </a:p>
        </p:txBody>
      </p:sp>
      <p:sp>
        <p:nvSpPr>
          <p:cNvPr id="4" name="Rounded Rectangle 3"/>
          <p:cNvSpPr/>
          <p:nvPr/>
        </p:nvSpPr>
        <p:spPr>
          <a:xfrm>
            <a:off x="548640" y="1645920"/>
            <a:ext cx="11094415" cy="45720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45920"/>
            <a:ext cx="1554480"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Customer</a:t>
            </a:r>
          </a:p>
        </p:txBody>
      </p:sp>
      <p:sp>
        <p:nvSpPr>
          <p:cNvPr id="6" name="TextBox 5"/>
          <p:cNvSpPr txBox="1"/>
          <p:nvPr/>
        </p:nvSpPr>
        <p:spPr>
          <a:xfrm>
            <a:off x="2423160" y="1645920"/>
            <a:ext cx="1051560"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Last paid</a:t>
            </a:r>
          </a:p>
        </p:txBody>
      </p:sp>
      <p:sp>
        <p:nvSpPr>
          <p:cNvPr id="7" name="TextBox 6"/>
          <p:cNvSpPr txBox="1"/>
          <p:nvPr/>
        </p:nvSpPr>
        <p:spPr>
          <a:xfrm>
            <a:off x="3657600" y="1645920"/>
            <a:ext cx="914400"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Discount</a:t>
            </a:r>
          </a:p>
        </p:txBody>
      </p:sp>
      <p:sp>
        <p:nvSpPr>
          <p:cNvPr id="8" name="TextBox 7"/>
          <p:cNvSpPr txBox="1"/>
          <p:nvPr/>
        </p:nvSpPr>
        <p:spPr>
          <a:xfrm>
            <a:off x="4754880" y="1645920"/>
            <a:ext cx="1051560"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MSRP then</a:t>
            </a:r>
          </a:p>
        </p:txBody>
      </p:sp>
      <p:sp>
        <p:nvSpPr>
          <p:cNvPr id="9" name="TextBox 8"/>
          <p:cNvSpPr txBox="1"/>
          <p:nvPr/>
        </p:nvSpPr>
        <p:spPr>
          <a:xfrm>
            <a:off x="5989320" y="1645920"/>
            <a:ext cx="1051560"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MSRP now</a:t>
            </a:r>
          </a:p>
        </p:txBody>
      </p:sp>
      <p:sp>
        <p:nvSpPr>
          <p:cNvPr id="10" name="TextBox 9"/>
          <p:cNvSpPr txBox="1"/>
          <p:nvPr/>
        </p:nvSpPr>
        <p:spPr>
          <a:xfrm>
            <a:off x="7223760" y="1645920"/>
            <a:ext cx="1828800"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Room to grow</a:t>
            </a:r>
          </a:p>
        </p:txBody>
      </p:sp>
      <p:sp>
        <p:nvSpPr>
          <p:cNvPr id="11" name="TextBox 10"/>
          <p:cNvSpPr txBox="1"/>
          <p:nvPr/>
        </p:nvSpPr>
        <p:spPr>
          <a:xfrm>
            <a:off x="9235440" y="1645920"/>
            <a:ext cx="2359151"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Status</a:t>
            </a:r>
          </a:p>
        </p:txBody>
      </p:sp>
      <p:sp>
        <p:nvSpPr>
          <p:cNvPr id="12" name="Rounded Rectangle 11"/>
          <p:cNvSpPr/>
          <p:nvPr/>
        </p:nvSpPr>
        <p:spPr>
          <a:xfrm>
            <a:off x="548640" y="2240280"/>
            <a:ext cx="11094415" cy="658368"/>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240280"/>
            <a:ext cx="1554480" cy="658368"/>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A</a:t>
            </a:r>
          </a:p>
        </p:txBody>
      </p:sp>
      <p:sp>
        <p:nvSpPr>
          <p:cNvPr id="14" name="TextBox 13"/>
          <p:cNvSpPr txBox="1"/>
          <p:nvPr/>
        </p:nvSpPr>
        <p:spPr>
          <a:xfrm>
            <a:off x="2423160" y="224028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€59.99</a:t>
            </a:r>
          </a:p>
        </p:txBody>
      </p:sp>
      <p:sp>
        <p:nvSpPr>
          <p:cNvPr id="15" name="TextBox 14"/>
          <p:cNvSpPr txBox="1"/>
          <p:nvPr/>
        </p:nvSpPr>
        <p:spPr>
          <a:xfrm>
            <a:off x="3657600" y="2240280"/>
            <a:ext cx="91440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0%</a:t>
            </a:r>
          </a:p>
        </p:txBody>
      </p:sp>
      <p:sp>
        <p:nvSpPr>
          <p:cNvPr id="16" name="TextBox 15"/>
          <p:cNvSpPr txBox="1"/>
          <p:nvPr/>
        </p:nvSpPr>
        <p:spPr>
          <a:xfrm>
            <a:off x="4754880" y="224028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€59.99</a:t>
            </a:r>
          </a:p>
        </p:txBody>
      </p:sp>
      <p:sp>
        <p:nvSpPr>
          <p:cNvPr id="17" name="TextBox 16"/>
          <p:cNvSpPr txBox="1"/>
          <p:nvPr/>
        </p:nvSpPr>
        <p:spPr>
          <a:xfrm>
            <a:off x="5989320" y="224028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€59.99</a:t>
            </a:r>
          </a:p>
        </p:txBody>
      </p:sp>
      <p:sp>
        <p:nvSpPr>
          <p:cNvPr id="18" name="TextBox 17"/>
          <p:cNvSpPr txBox="1"/>
          <p:nvPr/>
        </p:nvSpPr>
        <p:spPr>
          <a:xfrm>
            <a:off x="7223760" y="2240280"/>
            <a:ext cx="1828800" cy="658368"/>
          </a:xfrm>
          <a:prstGeom prst="rect">
            <a:avLst/>
          </a:prstGeom>
          <a:noFill/>
        </p:spPr>
        <p:txBody>
          <a:bodyPr wrap="square" anchor="ctr" lIns="0" rIns="0" tIns="0" bIns="0">
            <a:spAutoFit/>
          </a:bodyPr>
          <a:lstStyle/>
          <a:p>
            <a:pPr algn="l">
              <a:spcAft>
                <a:spcPts val="600"/>
              </a:spcAft>
            </a:pPr>
            <a:r>
              <a:rPr sz="1400" b="1" i="0">
                <a:solidFill>
                  <a:srgbClr val="D42A4F"/>
                </a:solidFill>
                <a:latin typeface="Kaspersky Sans Display"/>
              </a:rPr>
              <a:t>€0.00</a:t>
            </a:r>
          </a:p>
        </p:txBody>
      </p:sp>
      <p:sp>
        <p:nvSpPr>
          <p:cNvPr id="19" name="Rounded Rectangle 18"/>
          <p:cNvSpPr/>
          <p:nvPr/>
        </p:nvSpPr>
        <p:spPr>
          <a:xfrm>
            <a:off x="9189719" y="2359152"/>
            <a:ext cx="2267712" cy="420624"/>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D42A4F"/>
                </a:solidFill>
                <a:latin typeface="Kaspersky Sans Display"/>
              </a:rPr>
              <a:t>Price capped</a:t>
            </a:r>
          </a:p>
        </p:txBody>
      </p:sp>
      <p:sp>
        <p:nvSpPr>
          <p:cNvPr id="20" name="Rounded Rectangle 19"/>
          <p:cNvSpPr/>
          <p:nvPr/>
        </p:nvSpPr>
        <p:spPr>
          <a:xfrm>
            <a:off x="548640" y="3017520"/>
            <a:ext cx="11094415" cy="658368"/>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017520"/>
            <a:ext cx="1554480" cy="658368"/>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B</a:t>
            </a:r>
          </a:p>
        </p:txBody>
      </p:sp>
      <p:sp>
        <p:nvSpPr>
          <p:cNvPr id="22" name="TextBox 21"/>
          <p:cNvSpPr txBox="1"/>
          <p:nvPr/>
        </p:nvSpPr>
        <p:spPr>
          <a:xfrm>
            <a:off x="2423160" y="301752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€59.99</a:t>
            </a:r>
          </a:p>
        </p:txBody>
      </p:sp>
      <p:sp>
        <p:nvSpPr>
          <p:cNvPr id="23" name="TextBox 22"/>
          <p:cNvSpPr txBox="1"/>
          <p:nvPr/>
        </p:nvSpPr>
        <p:spPr>
          <a:xfrm>
            <a:off x="3657600" y="3017520"/>
            <a:ext cx="91440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0%</a:t>
            </a:r>
          </a:p>
        </p:txBody>
      </p:sp>
      <p:sp>
        <p:nvSpPr>
          <p:cNvPr id="24" name="TextBox 23"/>
          <p:cNvSpPr txBox="1"/>
          <p:nvPr/>
        </p:nvSpPr>
        <p:spPr>
          <a:xfrm>
            <a:off x="4754880" y="301752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€59.99</a:t>
            </a:r>
          </a:p>
        </p:txBody>
      </p:sp>
      <p:sp>
        <p:nvSpPr>
          <p:cNvPr id="25" name="TextBox 24"/>
          <p:cNvSpPr txBox="1"/>
          <p:nvPr/>
        </p:nvSpPr>
        <p:spPr>
          <a:xfrm>
            <a:off x="5989320" y="301752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€64.99</a:t>
            </a:r>
          </a:p>
        </p:txBody>
      </p:sp>
      <p:sp>
        <p:nvSpPr>
          <p:cNvPr id="26" name="TextBox 25"/>
          <p:cNvSpPr txBox="1"/>
          <p:nvPr/>
        </p:nvSpPr>
        <p:spPr>
          <a:xfrm>
            <a:off x="7223760" y="3017520"/>
            <a:ext cx="1828800" cy="658368"/>
          </a:xfrm>
          <a:prstGeom prst="rect">
            <a:avLst/>
          </a:prstGeom>
          <a:noFill/>
        </p:spPr>
        <p:txBody>
          <a:bodyPr wrap="square" anchor="ctr" lIns="0" rIns="0" tIns="0" bIns="0">
            <a:spAutoFit/>
          </a:bodyPr>
          <a:lstStyle/>
          <a:p>
            <a:pPr algn="l">
              <a:spcAft>
                <a:spcPts val="600"/>
              </a:spcAft>
            </a:pPr>
            <a:r>
              <a:rPr sz="1400" b="1" i="0">
                <a:solidFill>
                  <a:srgbClr val="149A7A"/>
                </a:solidFill>
                <a:latin typeface="Kaspersky Sans Display"/>
              </a:rPr>
              <a:t>+€5.00 (+8.3%)</a:t>
            </a:r>
          </a:p>
        </p:txBody>
      </p:sp>
      <p:sp>
        <p:nvSpPr>
          <p:cNvPr id="27" name="Rounded Rectangle 26"/>
          <p:cNvSpPr/>
          <p:nvPr/>
        </p:nvSpPr>
        <p:spPr>
          <a:xfrm>
            <a:off x="9189719" y="3136392"/>
            <a:ext cx="2267712" cy="420624"/>
          </a:xfrm>
          <a:prstGeom prst="roundRect">
            <a:avLst>
              <a:gd name="adj" fmla="val 12000"/>
            </a:avLst>
          </a:prstGeom>
          <a:solidFill>
            <a:srgbClr val="FFFFFF"/>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9A7A"/>
                </a:solidFill>
                <a:latin typeface="Kaspersky Sans Display"/>
              </a:rPr>
              <a:t>Uncapped by the increase</a:t>
            </a:r>
          </a:p>
        </p:txBody>
      </p:sp>
      <p:sp>
        <p:nvSpPr>
          <p:cNvPr id="28" name="Rounded Rectangle 27"/>
          <p:cNvSpPr/>
          <p:nvPr/>
        </p:nvSpPr>
        <p:spPr>
          <a:xfrm>
            <a:off x="548640" y="3794760"/>
            <a:ext cx="11094415" cy="658368"/>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794760"/>
            <a:ext cx="1554480" cy="658368"/>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C · our example</a:t>
            </a:r>
          </a:p>
        </p:txBody>
      </p:sp>
      <p:sp>
        <p:nvSpPr>
          <p:cNvPr id="30" name="TextBox 29"/>
          <p:cNvSpPr txBox="1"/>
          <p:nvPr/>
        </p:nvSpPr>
        <p:spPr>
          <a:xfrm>
            <a:off x="2423160" y="379476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€23.99</a:t>
            </a:r>
          </a:p>
        </p:txBody>
      </p:sp>
      <p:sp>
        <p:nvSpPr>
          <p:cNvPr id="31" name="TextBox 30"/>
          <p:cNvSpPr txBox="1"/>
          <p:nvPr/>
        </p:nvSpPr>
        <p:spPr>
          <a:xfrm>
            <a:off x="3657600" y="3794760"/>
            <a:ext cx="91440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60%</a:t>
            </a:r>
          </a:p>
        </p:txBody>
      </p:sp>
      <p:sp>
        <p:nvSpPr>
          <p:cNvPr id="32" name="TextBox 31"/>
          <p:cNvSpPr txBox="1"/>
          <p:nvPr/>
        </p:nvSpPr>
        <p:spPr>
          <a:xfrm>
            <a:off x="4754880" y="379476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€59.99</a:t>
            </a:r>
          </a:p>
        </p:txBody>
      </p:sp>
      <p:sp>
        <p:nvSpPr>
          <p:cNvPr id="33" name="TextBox 32"/>
          <p:cNvSpPr txBox="1"/>
          <p:nvPr/>
        </p:nvSpPr>
        <p:spPr>
          <a:xfrm>
            <a:off x="5989320" y="3794760"/>
            <a:ext cx="1051560" cy="658368"/>
          </a:xfrm>
          <a:prstGeom prst="rect">
            <a:avLst/>
          </a:prstGeom>
          <a:noFill/>
        </p:spPr>
        <p:txBody>
          <a:bodyPr wrap="square" anchor="ctr" lIns="0" rIns="0" tIns="0" bIns="0">
            <a:spAutoFit/>
          </a:bodyPr>
          <a:lstStyle/>
          <a:p>
            <a:pPr algn="l">
              <a:spcAft>
                <a:spcPts val="600"/>
              </a:spcAft>
            </a:pPr>
            <a:r>
              <a:rPr sz="1400" b="0" i="0">
                <a:solidFill>
                  <a:srgbClr val="1F2937"/>
                </a:solidFill>
                <a:latin typeface="Kaspersky Sans Display"/>
              </a:rPr>
              <a:t>€64.99</a:t>
            </a:r>
          </a:p>
        </p:txBody>
      </p:sp>
      <p:sp>
        <p:nvSpPr>
          <p:cNvPr id="34" name="TextBox 33"/>
          <p:cNvSpPr txBox="1"/>
          <p:nvPr/>
        </p:nvSpPr>
        <p:spPr>
          <a:xfrm>
            <a:off x="7223760" y="3794760"/>
            <a:ext cx="1828800" cy="658368"/>
          </a:xfrm>
          <a:prstGeom prst="rect">
            <a:avLst/>
          </a:prstGeom>
          <a:noFill/>
        </p:spPr>
        <p:txBody>
          <a:bodyPr wrap="square" anchor="ctr" lIns="0" rIns="0" tIns="0" bIns="0">
            <a:spAutoFit/>
          </a:bodyPr>
          <a:lstStyle/>
          <a:p>
            <a:pPr algn="l">
              <a:spcAft>
                <a:spcPts val="600"/>
              </a:spcAft>
            </a:pPr>
            <a:r>
              <a:rPr sz="1400" b="1" i="0">
                <a:solidFill>
                  <a:srgbClr val="EC7A3C"/>
                </a:solidFill>
                <a:latin typeface="Kaspersky Sans Display"/>
              </a:rPr>
              <a:t>+€41.00 (+170.9%)</a:t>
            </a:r>
          </a:p>
        </p:txBody>
      </p:sp>
      <p:sp>
        <p:nvSpPr>
          <p:cNvPr id="35" name="Rounded Rectangle 34"/>
          <p:cNvSpPr/>
          <p:nvPr/>
        </p:nvSpPr>
        <p:spPr>
          <a:xfrm>
            <a:off x="9189719" y="3913632"/>
            <a:ext cx="2267712" cy="420624"/>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EC7A3C"/>
                </a:solidFill>
                <a:latin typeface="Kaspersky Sans Display"/>
              </a:rPr>
              <a:t>Room to grow: discount ends</a:t>
            </a:r>
          </a:p>
        </p:txBody>
      </p:sp>
      <p:sp>
        <p:nvSpPr>
          <p:cNvPr id="36" name="TextBox 35"/>
          <p:cNvSpPr txBox="1"/>
          <p:nvPr/>
        </p:nvSpPr>
        <p:spPr>
          <a:xfrm>
            <a:off x="548640" y="4709160"/>
            <a:ext cx="11094415" cy="1005840"/>
          </a:xfrm>
          <a:prstGeom prst="rect">
            <a:avLst/>
          </a:prstGeom>
          <a:noFill/>
        </p:spPr>
        <p:txBody>
          <a:bodyPr wrap="square" anchor="t" lIns="0" rIns="0" tIns="0" bIns="0">
            <a:spAutoFit/>
          </a:bodyPr>
          <a:lstStyle/>
          <a:p>
            <a:pPr algn="l">
              <a:spcAft>
                <a:spcPts val="800"/>
              </a:spcAft>
            </a:pPr>
            <a:r>
              <a:rPr sz="1600" b="1" i="0">
                <a:solidFill>
                  <a:srgbClr val="1F2937"/>
                </a:solidFill>
                <a:latin typeface="Kaspersky Sans Display"/>
              </a:rPr>
              <a:t>Room to grow = MSRP now − last paid. </a:t>
            </a:r>
            <a:r>
              <a:rPr sz="1600" b="0" i="0">
                <a:solidFill>
                  <a:srgbClr val="5B6472"/>
                </a:solidFill>
                <a:latin typeface="Kaspersky Sans Display"/>
              </a:rPr>
              <a:t>A capped customer gets room back only with a price increase.</a:t>
            </a:r>
          </a:p>
          <a:p>
            <a:pPr algn="l">
              <a:spcAft>
                <a:spcPts val="800"/>
              </a:spcAft>
            </a:pPr>
            <a:r>
              <a:rPr sz="1600" b="1" i="0">
                <a:solidFill>
                  <a:srgbClr val="1F2937"/>
                </a:solidFill>
                <a:latin typeface="Kaspersky Sans Display"/>
              </a:rPr>
              <a:t>Questions for the whole pipeline: </a:t>
            </a:r>
            <a:r>
              <a:rPr sz="1600" b="0" i="0">
                <a:solidFill>
                  <a:srgbClr val="5B6472"/>
                </a:solidFill>
                <a:latin typeface="Kaspersky Sans Display"/>
              </a:rPr>
              <a:t>how many customers were capped and are now uncapped? How much incremental revenue?</a:t>
            </a:r>
          </a:p>
        </p:txBody>
      </p:sp>
      <p:sp>
        <p:nvSpPr>
          <p:cNvPr id="37" name="TextBox 36"/>
          <p:cNvSpPr txBox="1"/>
          <p:nvPr/>
        </p:nvSpPr>
        <p:spPr>
          <a:xfrm>
            <a:off x="548640" y="5989320"/>
            <a:ext cx="11094415" cy="457200"/>
          </a:xfrm>
          <a:prstGeom prst="rect">
            <a:avLst/>
          </a:prstGeom>
          <a:noFill/>
        </p:spPr>
        <p:txBody>
          <a:bodyPr wrap="square" anchor="t" lIns="0" rIns="0" tIns="0" bIns="0">
            <a:spAutoFit/>
          </a:bodyPr>
          <a:lstStyle/>
          <a:p>
            <a:pPr algn="l">
              <a:spcAft>
                <a:spcPts val="600"/>
              </a:spcAft>
            </a:pPr>
            <a:r>
              <a:rPr sz="1500" b="1" i="0">
                <a:solidFill>
                  <a:srgbClr val="7B47D1"/>
                </a:solidFill>
                <a:latin typeface="Kaspersky Sans Display"/>
              </a:rPr>
              <a:t>To answer them for every customer we need the MSRP now, and the last paid amount on the same basis.</a:t>
            </a:r>
          </a:p>
        </p:txBody>
      </p:sp>
      <p:sp>
        <p:nvSpPr>
          <p:cNvPr id="38" name="TextBox 37"/>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28</a:t>
            </a:r>
          </a:p>
        </p:txBody>
      </p:sp>
      <p:sp>
        <p:nvSpPr>
          <p:cNvPr id="39" name="Rounded Rectangle 38"/>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Requirement: the MSRP at any date</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On top of the transaction model, with correct and validated values</a:t>
            </a:r>
          </a:p>
        </p:txBody>
      </p:sp>
      <p:sp>
        <p:nvSpPr>
          <p:cNvPr id="4" name="Rounded Rectangle 3"/>
          <p:cNvSpPr/>
          <p:nvPr/>
        </p:nvSpPr>
        <p:spPr>
          <a:xfrm>
            <a:off x="548640" y="1600200"/>
            <a:ext cx="5394960" cy="2011680"/>
          </a:xfrm>
          <a:prstGeom prst="roundRect">
            <a:avLst>
              <a:gd name="adj" fmla="val 12000"/>
            </a:avLst>
          </a:prstGeom>
          <a:solidFill>
            <a:srgbClr val="F1F3F6"/>
          </a:solidFill>
          <a:ln w="19050">
            <a:solidFill>
              <a:srgbClr val="7B47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83080"/>
            <a:ext cx="4846320" cy="411480"/>
          </a:xfrm>
          <a:prstGeom prst="rect">
            <a:avLst/>
          </a:prstGeom>
          <a:noFill/>
        </p:spPr>
        <p:txBody>
          <a:bodyPr wrap="square" anchor="t" lIns="0" rIns="0" tIns="0" bIns="0">
            <a:spAutoFit/>
          </a:bodyPr>
          <a:lstStyle/>
          <a:p>
            <a:pPr algn="l">
              <a:spcAft>
                <a:spcPts val="600"/>
              </a:spcAft>
            </a:pPr>
            <a:r>
              <a:rPr sz="1800" b="1" i="0">
                <a:solidFill>
                  <a:srgbClr val="7B47D1"/>
                </a:solidFill>
                <a:latin typeface="Kaspersky Sans Display"/>
              </a:rPr>
              <a:t>Minimum</a:t>
            </a:r>
          </a:p>
        </p:txBody>
      </p:sp>
      <p:sp>
        <p:nvSpPr>
          <p:cNvPr id="6" name="TextBox 5"/>
          <p:cNvSpPr txBox="1"/>
          <p:nvPr/>
        </p:nvSpPr>
        <p:spPr>
          <a:xfrm>
            <a:off x="822959" y="2286000"/>
            <a:ext cx="4846320" cy="123444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Query the price list at a given moment and stamp the value (snapshot), by product × region × currency. Enough to project with the MSRP of today.</a:t>
            </a:r>
          </a:p>
        </p:txBody>
      </p:sp>
      <p:sp>
        <p:nvSpPr>
          <p:cNvPr id="7" name="Rounded Rectangle 6"/>
          <p:cNvSpPr/>
          <p:nvPr/>
        </p:nvSpPr>
        <p:spPr>
          <a:xfrm>
            <a:off x="6245352" y="1600200"/>
            <a:ext cx="5394960" cy="2011680"/>
          </a:xfrm>
          <a:prstGeom prst="roundRect">
            <a:avLst>
              <a:gd name="adj" fmla="val 12000"/>
            </a:avLst>
          </a:prstGeom>
          <a:solidFill>
            <a:srgbClr val="F1F3F6"/>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83080"/>
            <a:ext cx="4846320" cy="411480"/>
          </a:xfrm>
          <a:prstGeom prst="rect">
            <a:avLst/>
          </a:prstGeom>
          <a:noFill/>
        </p:spPr>
        <p:txBody>
          <a:bodyPr wrap="square" anchor="t" lIns="0" rIns="0" tIns="0" bIns="0">
            <a:spAutoFit/>
          </a:bodyPr>
          <a:lstStyle/>
          <a:p>
            <a:pPr algn="l">
              <a:spcAft>
                <a:spcPts val="600"/>
              </a:spcAft>
            </a:pPr>
            <a:r>
              <a:rPr sz="1800" b="1" i="0">
                <a:solidFill>
                  <a:srgbClr val="149A7A"/>
                </a:solidFill>
                <a:latin typeface="Kaspersky Sans Display"/>
              </a:rPr>
              <a:t>Ideal</a:t>
            </a:r>
          </a:p>
        </p:txBody>
      </p:sp>
      <p:sp>
        <p:nvSpPr>
          <p:cNvPr id="9" name="TextBox 8"/>
          <p:cNvSpPr txBox="1"/>
          <p:nvPr/>
        </p:nvSpPr>
        <p:spPr>
          <a:xfrm>
            <a:off x="6519672" y="2286000"/>
            <a:ext cx="4846320" cy="123444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A price history with validity from and to, with time. Then we rebuild the MSRP at each expiration date, also for the past.</a:t>
            </a:r>
          </a:p>
        </p:txBody>
      </p:sp>
      <p:sp>
        <p:nvSpPr>
          <p:cNvPr id="10" name="TextBox 9"/>
          <p:cNvSpPr txBox="1"/>
          <p:nvPr/>
        </p:nvSpPr>
        <p:spPr>
          <a:xfrm>
            <a:off x="548640" y="3840480"/>
            <a:ext cx="11094415" cy="365760"/>
          </a:xfrm>
          <a:prstGeom prst="rect">
            <a:avLst/>
          </a:prstGeom>
          <a:noFill/>
        </p:spPr>
        <p:txBody>
          <a:bodyPr wrap="square" anchor="t" lIns="0" rIns="0" tIns="0" bIns="0">
            <a:spAutoFit/>
          </a:bodyPr>
          <a:lstStyle/>
          <a:p>
            <a:pPr algn="l">
              <a:spcAft>
                <a:spcPts val="600"/>
              </a:spcAft>
            </a:pPr>
            <a:r>
              <a:rPr sz="1500" b="1" i="0">
                <a:solidFill>
                  <a:srgbClr val="5B6472"/>
                </a:solidFill>
                <a:latin typeface="Kaspersky Sans Display"/>
              </a:rPr>
              <a:t>It depends on, in this order</a:t>
            </a:r>
          </a:p>
        </p:txBody>
      </p:sp>
      <p:sp>
        <p:nvSpPr>
          <p:cNvPr id="11" name="Rounded Rectangle 10"/>
          <p:cNvSpPr/>
          <p:nvPr/>
        </p:nvSpPr>
        <p:spPr>
          <a:xfrm>
            <a:off x="548640" y="4251960"/>
            <a:ext cx="3291840" cy="914400"/>
          </a:xfrm>
          <a:prstGeom prst="roundRect">
            <a:avLst>
              <a:gd name="adj" fmla="val 12000"/>
            </a:avLst>
          </a:prstGeom>
          <a:solidFill>
            <a:srgbClr val="F1F3F6"/>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4453128"/>
            <a:ext cx="502920" cy="502920"/>
          </a:xfrm>
          <a:prstGeom prst="ellipse">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171C"/>
                </a:solidFill>
                <a:latin typeface="Kaspersky Sans Display"/>
              </a:rPr>
              <a:t>1</a:t>
            </a:r>
          </a:p>
        </p:txBody>
      </p:sp>
      <p:sp>
        <p:nvSpPr>
          <p:cNvPr id="13" name="TextBox 12"/>
          <p:cNvSpPr txBox="1"/>
          <p:nvPr/>
        </p:nvSpPr>
        <p:spPr>
          <a:xfrm>
            <a:off x="1371600" y="4251960"/>
            <a:ext cx="2377440" cy="914400"/>
          </a:xfrm>
          <a:prstGeom prst="rect">
            <a:avLst/>
          </a:prstGeom>
          <a:noFill/>
        </p:spPr>
        <p:txBody>
          <a:bodyPr wrap="square" anchor="ctr" lIns="0" rIns="0" tIns="0" bIns="0">
            <a:spAutoFit/>
          </a:bodyPr>
          <a:lstStyle/>
          <a:p>
            <a:pPr algn="l">
              <a:spcAft>
                <a:spcPts val="200"/>
              </a:spcAft>
            </a:pPr>
            <a:r>
              <a:rPr sz="1400" b="1" i="0">
                <a:solidFill>
                  <a:srgbClr val="1F2937"/>
                </a:solidFill>
                <a:latin typeface="Kaspersky Sans Display"/>
              </a:rPr>
              <a:t>Transaction model clear</a:t>
            </a:r>
          </a:p>
          <a:p>
            <a:pPr algn="l">
              <a:spcAft>
                <a:spcPts val="200"/>
              </a:spcAft>
            </a:pPr>
            <a:r>
              <a:rPr sz="1200" b="0" i="0">
                <a:solidFill>
                  <a:srgbClr val="3BA8DE"/>
                </a:solidFill>
                <a:latin typeface="Kaspersky Sans Display"/>
              </a:rPr>
              <a:t>The need</a:t>
            </a:r>
          </a:p>
        </p:txBody>
      </p:sp>
      <p:sp>
        <p:nvSpPr>
          <p:cNvPr id="14" name="Right Arrow 13"/>
          <p:cNvSpPr/>
          <p:nvPr/>
        </p:nvSpPr>
        <p:spPr>
          <a:xfrm>
            <a:off x="3959352" y="4526280"/>
            <a:ext cx="365760" cy="36576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43983" y="4251960"/>
            <a:ext cx="3291840" cy="914400"/>
          </a:xfrm>
          <a:prstGeom prst="roundRect">
            <a:avLst>
              <a:gd name="adj" fmla="val 12000"/>
            </a:avLst>
          </a:prstGeom>
          <a:solidFill>
            <a:srgbClr val="F1F3F6"/>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26864" y="4453128"/>
            <a:ext cx="502920" cy="502920"/>
          </a:xfrm>
          <a:prstGeom prst="ellipse">
            <a:avLst/>
          </a:prstGeom>
          <a:solidFill>
            <a:srgbClr val="D42A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Kaspersky Sans Display"/>
              </a:rPr>
              <a:t>2</a:t>
            </a:r>
          </a:p>
        </p:txBody>
      </p:sp>
      <p:sp>
        <p:nvSpPr>
          <p:cNvPr id="17" name="TextBox 16"/>
          <p:cNvSpPr txBox="1"/>
          <p:nvPr/>
        </p:nvSpPr>
        <p:spPr>
          <a:xfrm>
            <a:off x="5266944" y="4251960"/>
            <a:ext cx="2377440" cy="914400"/>
          </a:xfrm>
          <a:prstGeom prst="rect">
            <a:avLst/>
          </a:prstGeom>
          <a:noFill/>
        </p:spPr>
        <p:txBody>
          <a:bodyPr wrap="square" anchor="ctr" lIns="0" rIns="0" tIns="0" bIns="0">
            <a:spAutoFit/>
          </a:bodyPr>
          <a:lstStyle/>
          <a:p>
            <a:pPr algn="l">
              <a:spcAft>
                <a:spcPts val="200"/>
              </a:spcAft>
            </a:pPr>
            <a:r>
              <a:rPr sz="1400" b="1" i="0">
                <a:solidFill>
                  <a:srgbClr val="1F2937"/>
                </a:solidFill>
                <a:latin typeface="Kaspersky Sans Display"/>
              </a:rPr>
              <a:t>Values correct, checks C0 to C6 pass</a:t>
            </a:r>
          </a:p>
          <a:p>
            <a:pPr algn="l">
              <a:spcAft>
                <a:spcPts val="200"/>
              </a:spcAft>
            </a:pPr>
            <a:r>
              <a:rPr sz="1200" b="0" i="0">
                <a:solidFill>
                  <a:srgbClr val="D42A4F"/>
                </a:solidFill>
                <a:latin typeface="Kaspersky Sans Display"/>
              </a:rPr>
              <a:t>The gaps: cases 1 to 5</a:t>
            </a:r>
          </a:p>
        </p:txBody>
      </p:sp>
      <p:sp>
        <p:nvSpPr>
          <p:cNvPr id="18" name="Right Arrow 17"/>
          <p:cNvSpPr/>
          <p:nvPr/>
        </p:nvSpPr>
        <p:spPr>
          <a:xfrm>
            <a:off x="7854696" y="4526280"/>
            <a:ext cx="365760" cy="36576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39327" y="4251960"/>
            <a:ext cx="3291840" cy="914400"/>
          </a:xfrm>
          <a:prstGeom prst="roundRect">
            <a:avLst>
              <a:gd name="adj" fmla="val 12000"/>
            </a:avLst>
          </a:prstGeom>
          <a:solidFill>
            <a:srgbClr val="F1F3F6"/>
          </a:solidFill>
          <a:ln w="19050">
            <a:solidFill>
              <a:srgbClr val="7B47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522207" y="4453128"/>
            <a:ext cx="502920" cy="502920"/>
          </a:xfrm>
          <a:prstGeom prst="ellipse">
            <a:avLst/>
          </a:prstGeom>
          <a:solidFill>
            <a:srgbClr val="7B47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Kaspersky Sans Display"/>
              </a:rPr>
              <a:t>3</a:t>
            </a:r>
          </a:p>
        </p:txBody>
      </p:sp>
      <p:sp>
        <p:nvSpPr>
          <p:cNvPr id="21" name="TextBox 20"/>
          <p:cNvSpPr txBox="1"/>
          <p:nvPr/>
        </p:nvSpPr>
        <p:spPr>
          <a:xfrm>
            <a:off x="9162288" y="4251960"/>
            <a:ext cx="2377440" cy="914400"/>
          </a:xfrm>
          <a:prstGeom prst="rect">
            <a:avLst/>
          </a:prstGeom>
          <a:noFill/>
        </p:spPr>
        <p:txBody>
          <a:bodyPr wrap="square" anchor="ctr" lIns="0" rIns="0" tIns="0" bIns="0">
            <a:spAutoFit/>
          </a:bodyPr>
          <a:lstStyle/>
          <a:p>
            <a:pPr algn="l">
              <a:spcAft>
                <a:spcPts val="200"/>
              </a:spcAft>
            </a:pPr>
            <a:r>
              <a:rPr sz="1400" b="1" i="0">
                <a:solidFill>
                  <a:srgbClr val="1F2937"/>
                </a:solidFill>
                <a:latin typeface="Kaspersky Sans Display"/>
              </a:rPr>
              <a:t>MSRP at any date</a:t>
            </a:r>
          </a:p>
          <a:p>
            <a:pPr algn="l">
              <a:spcAft>
                <a:spcPts val="200"/>
              </a:spcAft>
            </a:pPr>
            <a:r>
              <a:rPr sz="1200" b="0" i="0">
                <a:solidFill>
                  <a:srgbClr val="7B47D1"/>
                </a:solidFill>
                <a:latin typeface="Kaspersky Sans Display"/>
              </a:rPr>
              <a:t>The gaps: projection</a:t>
            </a:r>
          </a:p>
        </p:txBody>
      </p:sp>
      <p:sp>
        <p:nvSpPr>
          <p:cNvPr id="22" name="TextBox 21"/>
          <p:cNvSpPr txBox="1"/>
          <p:nvPr/>
        </p:nvSpPr>
        <p:spPr>
          <a:xfrm>
            <a:off x="548640" y="5440680"/>
            <a:ext cx="11094415" cy="457200"/>
          </a:xfrm>
          <a:prstGeom prst="rect">
            <a:avLst/>
          </a:prstGeom>
          <a:noFill/>
        </p:spPr>
        <p:txBody>
          <a:bodyPr wrap="square" anchor="t" lIns="0" rIns="0" tIns="0" bIns="0">
            <a:spAutoFit/>
          </a:bodyPr>
          <a:lstStyle/>
          <a:p>
            <a:pPr algn="l">
              <a:spcAft>
                <a:spcPts val="600"/>
              </a:spcAft>
            </a:pPr>
            <a:r>
              <a:rPr sz="1500" b="0" i="0">
                <a:solidFill>
                  <a:srgbClr val="5B6472"/>
                </a:solidFill>
                <a:latin typeface="Kaspersky Sans Display"/>
              </a:rPr>
              <a:t>With it: price cap, uncapped customers, incremental revenue and price sensitivity of churned customers.</a:t>
            </a:r>
          </a:p>
        </p:txBody>
      </p:sp>
      <p:sp>
        <p:nvSpPr>
          <p:cNvPr id="23" name="Rounded Rectangle 22"/>
          <p:cNvSpPr/>
          <p:nvPr/>
        </p:nvSpPr>
        <p:spPr>
          <a:xfrm>
            <a:off x="548640" y="6291072"/>
            <a:ext cx="11094415" cy="429768"/>
          </a:xfrm>
          <a:prstGeom prst="roundRect">
            <a:avLst>
              <a:gd name="adj" fmla="val 12000"/>
            </a:avLst>
          </a:prstGeom>
          <a:solidFill>
            <a:srgbClr val="F1F3F6"/>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9A7A"/>
                </a:solidFill>
                <a:latin typeface="Kaspersky Sans Display"/>
              </a:rPr>
              <a:t>→  Agreement 6:  </a:t>
            </a:r>
            <a:r>
              <a:rPr sz="1500" b="1" i="0">
                <a:solidFill>
                  <a:srgbClr val="1F2937"/>
                </a:solidFill>
                <a:latin typeface="Kaspersky Sans Display"/>
              </a:rPr>
              <a:t>A price list we can query at any date: at least a snapshot, ideally the full history.</a:t>
            </a:r>
          </a:p>
        </p:txBody>
      </p:sp>
      <p:sp>
        <p:nvSpPr>
          <p:cNvPr id="24" name="TextBox 23"/>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29</a:t>
            </a:r>
          </a:p>
        </p:txBody>
      </p:sp>
      <p:sp>
        <p:nvSpPr>
          <p:cNvPr id="25" name="Rounded Rectangle 24"/>
          <p:cNvSpPr/>
          <p:nvPr/>
        </p:nvSpPr>
        <p:spPr>
          <a:xfrm>
            <a:off x="9357055" y="274320"/>
            <a:ext cx="1737360" cy="292608"/>
          </a:xfrm>
          <a:prstGeom prst="roundRect">
            <a:avLst>
              <a:gd name="adj" fmla="val 12000"/>
            </a:avLst>
          </a:prstGeom>
          <a:solidFill>
            <a:srgbClr val="FFFFFF"/>
          </a:solidFill>
          <a:ln w="19050">
            <a:solidFill>
              <a:srgbClr val="D42A4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D42A4F"/>
                </a:solidFill>
                <a:latin typeface="Kaspersky Sans Display"/>
              </a:rPr>
              <a:t>2 · THE GAPS</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Three challenges to solve</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We must understand them, agree that they are well defined, and plan the fix</a:t>
            </a:r>
          </a:p>
        </p:txBody>
      </p:sp>
      <p:sp>
        <p:nvSpPr>
          <p:cNvPr id="4" name="Rounded Rectangle 3"/>
          <p:cNvSpPr/>
          <p:nvPr/>
        </p:nvSpPr>
        <p:spPr>
          <a:xfrm>
            <a:off x="548640" y="1600200"/>
            <a:ext cx="3545738" cy="40690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810512"/>
            <a:ext cx="548640" cy="5486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171C"/>
                </a:solidFill>
                <a:latin typeface="Kaspersky Sans Display"/>
              </a:rPr>
              <a:t>1</a:t>
            </a:r>
          </a:p>
        </p:txBody>
      </p:sp>
      <p:sp>
        <p:nvSpPr>
          <p:cNvPr id="6" name="TextBox 5"/>
          <p:cNvSpPr txBox="1"/>
          <p:nvPr/>
        </p:nvSpPr>
        <p:spPr>
          <a:xfrm>
            <a:off x="1463040" y="1764792"/>
            <a:ext cx="2448458" cy="640080"/>
          </a:xfrm>
          <a:prstGeom prst="rect">
            <a:avLst/>
          </a:prstGeom>
          <a:noFill/>
        </p:spPr>
        <p:txBody>
          <a:bodyPr wrap="square" anchor="ctr" lIns="0" rIns="0" tIns="0" bIns="0">
            <a:spAutoFit/>
          </a:bodyPr>
          <a:lstStyle/>
          <a:p>
            <a:pPr algn="l">
              <a:spcAft>
                <a:spcPts val="600"/>
              </a:spcAft>
            </a:pPr>
            <a:r>
              <a:rPr sz="1700" b="1" i="0">
                <a:solidFill>
                  <a:srgbClr val="1F2937"/>
                </a:solidFill>
                <a:latin typeface="Kaspersky Sans Display"/>
              </a:rPr>
              <a:t>The MSRP in the transaction</a:t>
            </a:r>
          </a:p>
        </p:txBody>
      </p:sp>
      <p:sp>
        <p:nvSpPr>
          <p:cNvPr id="7" name="TextBox 6"/>
          <p:cNvSpPr txBox="1"/>
          <p:nvPr/>
        </p:nvSpPr>
        <p:spPr>
          <a:xfrm>
            <a:off x="777240" y="2560320"/>
            <a:ext cx="3088538" cy="82296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Every transaction carries the full MSRP valid at that moment.</a:t>
            </a:r>
          </a:p>
        </p:txBody>
      </p:sp>
      <p:sp>
        <p:nvSpPr>
          <p:cNvPr id="8" name="TextBox 7"/>
          <p:cNvSpPr txBox="1"/>
          <p:nvPr/>
        </p:nvSpPr>
        <p:spPr>
          <a:xfrm>
            <a:off x="777240" y="3429000"/>
            <a:ext cx="3088538" cy="320040"/>
          </a:xfrm>
          <a:prstGeom prst="rect">
            <a:avLst/>
          </a:prstGeom>
          <a:noFill/>
        </p:spPr>
        <p:txBody>
          <a:bodyPr wrap="square" anchor="t" lIns="0" rIns="0" tIns="0" bIns="0">
            <a:spAutoFit/>
          </a:bodyPr>
          <a:lstStyle/>
          <a:p>
            <a:pPr algn="l">
              <a:spcAft>
                <a:spcPts val="600"/>
              </a:spcAft>
            </a:pPr>
            <a:r>
              <a:rPr sz="1200" b="1" i="0">
                <a:solidFill>
                  <a:srgbClr val="5B6472"/>
                </a:solidFill>
                <a:latin typeface="Kaspersky Sans Display"/>
              </a:rPr>
              <a:t>The current technique has three limits</a:t>
            </a:r>
          </a:p>
        </p:txBody>
      </p:sp>
      <p:sp>
        <p:nvSpPr>
          <p:cNvPr id="9" name="TextBox 8"/>
          <p:cNvSpPr txBox="1"/>
          <p:nvPr/>
        </p:nvSpPr>
        <p:spPr>
          <a:xfrm>
            <a:off x="777240" y="37947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a  </a:t>
            </a:r>
            <a:r>
              <a:rPr sz="1400" b="0" i="0">
                <a:solidFill>
                  <a:srgbClr val="1F2937"/>
                </a:solidFill>
                <a:latin typeface="Kaspersky Sans Display"/>
              </a:rPr>
              <a:t>Acquisition prices used for Retention</a:t>
            </a:r>
          </a:p>
        </p:txBody>
      </p:sp>
      <p:sp>
        <p:nvSpPr>
          <p:cNvPr id="10" name="TextBox 9"/>
          <p:cNvSpPr txBox="1"/>
          <p:nvPr/>
        </p:nvSpPr>
        <p:spPr>
          <a:xfrm>
            <a:off x="777240" y="42519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b  </a:t>
            </a:r>
            <a:r>
              <a:rPr sz="1400" b="0" i="0">
                <a:solidFill>
                  <a:srgbClr val="1F2937"/>
                </a:solidFill>
                <a:latin typeface="Kaspersky Sans Display"/>
              </a:rPr>
              <a:t>A link with limits</a:t>
            </a:r>
          </a:p>
        </p:txBody>
      </p:sp>
      <p:sp>
        <p:nvSpPr>
          <p:cNvPr id="11" name="TextBox 10"/>
          <p:cNvSpPr txBox="1"/>
          <p:nvPr/>
        </p:nvSpPr>
        <p:spPr>
          <a:xfrm>
            <a:off x="777240" y="47091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c  </a:t>
            </a:r>
            <a:r>
              <a:rPr sz="1400" b="0" i="0">
                <a:solidFill>
                  <a:srgbClr val="1F2937"/>
                </a:solidFill>
                <a:latin typeface="Kaspersky Sans Display"/>
              </a:rPr>
              <a:t>Not every MSRP is available</a:t>
            </a:r>
          </a:p>
        </p:txBody>
      </p:sp>
      <p:sp>
        <p:nvSpPr>
          <p:cNvPr id="12" name="TextBox 11"/>
          <p:cNvSpPr txBox="1"/>
          <p:nvPr/>
        </p:nvSpPr>
        <p:spPr>
          <a:xfrm>
            <a:off x="777240" y="5257800"/>
            <a:ext cx="3088538" cy="32004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Closes agreements 1, 3, 4 and 5 of the gap</a:t>
            </a:r>
          </a:p>
        </p:txBody>
      </p:sp>
      <p:sp>
        <p:nvSpPr>
          <p:cNvPr id="13" name="Rounded Rectangle 12"/>
          <p:cNvSpPr/>
          <p:nvPr/>
        </p:nvSpPr>
        <p:spPr>
          <a:xfrm>
            <a:off x="4322978" y="1600200"/>
            <a:ext cx="3545738" cy="40690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51578" y="1810512"/>
            <a:ext cx="548640" cy="5486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171C"/>
                </a:solidFill>
                <a:latin typeface="Kaspersky Sans Display"/>
              </a:rPr>
              <a:t>2</a:t>
            </a:r>
          </a:p>
        </p:txBody>
      </p:sp>
      <p:sp>
        <p:nvSpPr>
          <p:cNvPr id="15" name="TextBox 14"/>
          <p:cNvSpPr txBox="1"/>
          <p:nvPr/>
        </p:nvSpPr>
        <p:spPr>
          <a:xfrm>
            <a:off x="5237378" y="1764792"/>
            <a:ext cx="2448458" cy="640080"/>
          </a:xfrm>
          <a:prstGeom prst="rect">
            <a:avLst/>
          </a:prstGeom>
          <a:noFill/>
        </p:spPr>
        <p:txBody>
          <a:bodyPr wrap="square" anchor="ctr" lIns="0" rIns="0" tIns="0" bIns="0">
            <a:spAutoFit/>
          </a:bodyPr>
          <a:lstStyle/>
          <a:p>
            <a:pPr algn="l">
              <a:spcAft>
                <a:spcPts val="600"/>
              </a:spcAft>
            </a:pPr>
            <a:r>
              <a:rPr sz="1700" b="1" i="0">
                <a:solidFill>
                  <a:srgbClr val="1F2937"/>
                </a:solidFill>
                <a:latin typeface="Kaspersky Sans Display"/>
              </a:rPr>
              <a:t>Coverage close to 100%, at least for Nexway</a:t>
            </a:r>
          </a:p>
        </p:txBody>
      </p:sp>
      <p:sp>
        <p:nvSpPr>
          <p:cNvPr id="16" name="TextBox 15"/>
          <p:cNvSpPr txBox="1"/>
          <p:nvPr/>
        </p:nvSpPr>
        <p:spPr>
          <a:xfrm>
            <a:off x="4551578" y="2560320"/>
            <a:ext cx="3088538" cy="82296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We know how many transactions have a correct MSRP, and we close the gap.</a:t>
            </a:r>
          </a:p>
        </p:txBody>
      </p:sp>
      <p:sp>
        <p:nvSpPr>
          <p:cNvPr id="17" name="TextBox 16"/>
          <p:cNvSpPr txBox="1"/>
          <p:nvPr/>
        </p:nvSpPr>
        <p:spPr>
          <a:xfrm>
            <a:off x="4551578" y="3429000"/>
            <a:ext cx="3088538" cy="320040"/>
          </a:xfrm>
          <a:prstGeom prst="rect">
            <a:avLst/>
          </a:prstGeom>
          <a:noFill/>
        </p:spPr>
        <p:txBody>
          <a:bodyPr wrap="square" anchor="t" lIns="0" rIns="0" tIns="0" bIns="0">
            <a:spAutoFit/>
          </a:bodyPr>
          <a:lstStyle/>
          <a:p>
            <a:pPr algn="l">
              <a:spcAft>
                <a:spcPts val="600"/>
              </a:spcAft>
            </a:pPr>
            <a:r>
              <a:rPr sz="1200" b="1" i="0">
                <a:solidFill>
                  <a:srgbClr val="5B6472"/>
                </a:solidFill>
                <a:latin typeface="Kaspersky Sans Display"/>
              </a:rPr>
              <a:t>What we need</a:t>
            </a:r>
          </a:p>
        </p:txBody>
      </p:sp>
      <p:sp>
        <p:nvSpPr>
          <p:cNvPr id="18" name="TextBox 17"/>
          <p:cNvSpPr txBox="1"/>
          <p:nvPr/>
        </p:nvSpPr>
        <p:spPr>
          <a:xfrm>
            <a:off x="4551578" y="37947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a  </a:t>
            </a:r>
            <a:r>
              <a:rPr sz="1400" b="0" i="0">
                <a:solidFill>
                  <a:srgbClr val="1F2937"/>
                </a:solidFill>
                <a:latin typeface="Kaspersky Sans Display"/>
              </a:rPr>
              <a:t>Measure the coverage</a:t>
            </a:r>
          </a:p>
        </p:txBody>
      </p:sp>
      <p:sp>
        <p:nvSpPr>
          <p:cNvPr id="19" name="TextBox 18"/>
          <p:cNvSpPr txBox="1"/>
          <p:nvPr/>
        </p:nvSpPr>
        <p:spPr>
          <a:xfrm>
            <a:off x="4551578" y="42519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b  </a:t>
            </a:r>
            <a:r>
              <a:rPr sz="1400" b="0" i="0">
                <a:solidFill>
                  <a:srgbClr val="1F2937"/>
                </a:solidFill>
                <a:latin typeface="Kaspersky Sans Display"/>
              </a:rPr>
              <a:t>Nexway first</a:t>
            </a:r>
          </a:p>
        </p:txBody>
      </p:sp>
      <p:sp>
        <p:nvSpPr>
          <p:cNvPr id="20" name="TextBox 19"/>
          <p:cNvSpPr txBox="1"/>
          <p:nvPr/>
        </p:nvSpPr>
        <p:spPr>
          <a:xfrm>
            <a:off x="4551578" y="47091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c  </a:t>
            </a:r>
            <a:r>
              <a:rPr sz="1400" b="0" i="0">
                <a:solidFill>
                  <a:srgbClr val="1F2937"/>
                </a:solidFill>
                <a:latin typeface="Kaspersky Sans Display"/>
              </a:rPr>
              <a:t>Every gap has a reason</a:t>
            </a:r>
          </a:p>
        </p:txBody>
      </p:sp>
      <p:sp>
        <p:nvSpPr>
          <p:cNvPr id="21" name="TextBox 20"/>
          <p:cNvSpPr txBox="1"/>
          <p:nvPr/>
        </p:nvSpPr>
        <p:spPr>
          <a:xfrm>
            <a:off x="4551578" y="5257800"/>
            <a:ext cx="3088538" cy="32004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Closes agreement 2 of the gap</a:t>
            </a:r>
          </a:p>
        </p:txBody>
      </p:sp>
      <p:sp>
        <p:nvSpPr>
          <p:cNvPr id="22" name="Rounded Rectangle 21"/>
          <p:cNvSpPr/>
          <p:nvPr/>
        </p:nvSpPr>
        <p:spPr>
          <a:xfrm>
            <a:off x="8097316" y="1600200"/>
            <a:ext cx="3545738" cy="40690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5916" y="1810512"/>
            <a:ext cx="548640" cy="5486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800" b="1" i="0">
                <a:solidFill>
                  <a:srgbClr val="14171C"/>
                </a:solidFill>
                <a:latin typeface="Kaspersky Sans Display"/>
              </a:rPr>
              <a:t>3</a:t>
            </a:r>
          </a:p>
        </p:txBody>
      </p:sp>
      <p:sp>
        <p:nvSpPr>
          <p:cNvPr id="24" name="TextBox 23"/>
          <p:cNvSpPr txBox="1"/>
          <p:nvPr/>
        </p:nvSpPr>
        <p:spPr>
          <a:xfrm>
            <a:off x="9011716" y="1764792"/>
            <a:ext cx="2448458" cy="640080"/>
          </a:xfrm>
          <a:prstGeom prst="rect">
            <a:avLst/>
          </a:prstGeom>
          <a:noFill/>
        </p:spPr>
        <p:txBody>
          <a:bodyPr wrap="square" anchor="ctr" lIns="0" rIns="0" tIns="0" bIns="0">
            <a:spAutoFit/>
          </a:bodyPr>
          <a:lstStyle/>
          <a:p>
            <a:pPr algn="l">
              <a:spcAft>
                <a:spcPts val="600"/>
              </a:spcAft>
            </a:pPr>
            <a:r>
              <a:rPr sz="1700" b="1" i="0">
                <a:solidFill>
                  <a:srgbClr val="1F2937"/>
                </a:solidFill>
                <a:latin typeface="Kaspersky Sans Display"/>
              </a:rPr>
              <a:t>A reference price source</a:t>
            </a:r>
          </a:p>
        </p:txBody>
      </p:sp>
      <p:sp>
        <p:nvSpPr>
          <p:cNvPr id="25" name="TextBox 24"/>
          <p:cNvSpPr txBox="1"/>
          <p:nvPr/>
        </p:nvSpPr>
        <p:spPr>
          <a:xfrm>
            <a:off x="8325916" y="2560320"/>
            <a:ext cx="3088538" cy="82296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One agreed source for the MSRP at any date: room to grow, price cap, projections.</a:t>
            </a:r>
          </a:p>
        </p:txBody>
      </p:sp>
      <p:sp>
        <p:nvSpPr>
          <p:cNvPr id="26" name="TextBox 25"/>
          <p:cNvSpPr txBox="1"/>
          <p:nvPr/>
        </p:nvSpPr>
        <p:spPr>
          <a:xfrm>
            <a:off x="8325916" y="3429000"/>
            <a:ext cx="3088538" cy="320040"/>
          </a:xfrm>
          <a:prstGeom prst="rect">
            <a:avLst/>
          </a:prstGeom>
          <a:noFill/>
        </p:spPr>
        <p:txBody>
          <a:bodyPr wrap="square" anchor="t" lIns="0" rIns="0" tIns="0" bIns="0">
            <a:spAutoFit/>
          </a:bodyPr>
          <a:lstStyle/>
          <a:p>
            <a:pPr algn="l">
              <a:spcAft>
                <a:spcPts val="600"/>
              </a:spcAft>
            </a:pPr>
            <a:r>
              <a:rPr sz="1200" b="1" i="0">
                <a:solidFill>
                  <a:srgbClr val="5B6472"/>
                </a:solidFill>
                <a:latin typeface="Kaspersky Sans Display"/>
              </a:rPr>
              <a:t>What the source must give</a:t>
            </a:r>
          </a:p>
        </p:txBody>
      </p:sp>
      <p:sp>
        <p:nvSpPr>
          <p:cNvPr id="27" name="TextBox 26"/>
          <p:cNvSpPr txBox="1"/>
          <p:nvPr/>
        </p:nvSpPr>
        <p:spPr>
          <a:xfrm>
            <a:off x="8325916" y="37947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a  </a:t>
            </a:r>
            <a:r>
              <a:rPr sz="1400" b="0" i="0">
                <a:solidFill>
                  <a:srgbClr val="1F2937"/>
                </a:solidFill>
                <a:latin typeface="Kaspersky Sans Display"/>
              </a:rPr>
              <a:t>One reference</a:t>
            </a:r>
          </a:p>
        </p:txBody>
      </p:sp>
      <p:sp>
        <p:nvSpPr>
          <p:cNvPr id="28" name="TextBox 27"/>
          <p:cNvSpPr txBox="1"/>
          <p:nvPr/>
        </p:nvSpPr>
        <p:spPr>
          <a:xfrm>
            <a:off x="8325916" y="42519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b  </a:t>
            </a:r>
            <a:r>
              <a:rPr sz="1400" b="0" i="0">
                <a:solidFill>
                  <a:srgbClr val="1F2937"/>
                </a:solidFill>
                <a:latin typeface="Kaspersky Sans Display"/>
              </a:rPr>
              <a:t>The price at any date</a:t>
            </a:r>
          </a:p>
        </p:txBody>
      </p:sp>
      <p:sp>
        <p:nvSpPr>
          <p:cNvPr id="29" name="TextBox 28"/>
          <p:cNvSpPr txBox="1"/>
          <p:nvPr/>
        </p:nvSpPr>
        <p:spPr>
          <a:xfrm>
            <a:off x="8325916" y="4709160"/>
            <a:ext cx="3088538" cy="411480"/>
          </a:xfrm>
          <a:prstGeom prst="rect">
            <a:avLst/>
          </a:prstGeom>
          <a:noFill/>
        </p:spPr>
        <p:txBody>
          <a:bodyPr wrap="square" anchor="t" lIns="0" rIns="0" tIns="0" bIns="0">
            <a:spAutoFit/>
          </a:bodyPr>
          <a:lstStyle/>
          <a:p>
            <a:pPr algn="l">
              <a:spcAft>
                <a:spcPts val="600"/>
              </a:spcAft>
            </a:pPr>
            <a:r>
              <a:rPr sz="1400" b="1" i="0">
                <a:solidFill>
                  <a:srgbClr val="EC7A3C"/>
                </a:solidFill>
                <a:latin typeface="Kaspersky Sans Display"/>
              </a:rPr>
              <a:t>c  </a:t>
            </a:r>
            <a:r>
              <a:rPr sz="1400" b="0" i="0">
                <a:solidFill>
                  <a:srgbClr val="1F2937"/>
                </a:solidFill>
                <a:latin typeface="Kaspersky Sans Display"/>
              </a:rPr>
              <a:t>Same basis as the transaction</a:t>
            </a:r>
          </a:p>
        </p:txBody>
      </p:sp>
      <p:sp>
        <p:nvSpPr>
          <p:cNvPr id="30" name="TextBox 29"/>
          <p:cNvSpPr txBox="1"/>
          <p:nvPr/>
        </p:nvSpPr>
        <p:spPr>
          <a:xfrm>
            <a:off x="8325916" y="5257800"/>
            <a:ext cx="3088538" cy="32004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Closes agreement 6 of the gap</a:t>
            </a:r>
          </a:p>
        </p:txBody>
      </p:sp>
      <p:sp>
        <p:nvSpPr>
          <p:cNvPr id="31" name="TextBox 30"/>
          <p:cNvSpPr txBox="1"/>
          <p:nvPr/>
        </p:nvSpPr>
        <p:spPr>
          <a:xfrm>
            <a:off x="548640" y="5897880"/>
            <a:ext cx="11094415" cy="457200"/>
          </a:xfrm>
          <a:prstGeom prst="rect">
            <a:avLst/>
          </a:prstGeom>
          <a:noFill/>
        </p:spPr>
        <p:txBody>
          <a:bodyPr wrap="square" anchor="t" lIns="0" rIns="0" tIns="0" bIns="0">
            <a:spAutoFit/>
          </a:bodyPr>
          <a:lstStyle/>
          <a:p>
            <a:pPr algn="l">
              <a:spcAft>
                <a:spcPts val="600"/>
              </a:spcAft>
            </a:pPr>
            <a:r>
              <a:rPr sz="1600" b="1" i="0">
                <a:solidFill>
                  <a:srgbClr val="1F2937"/>
                </a:solidFill>
                <a:latin typeface="Kaspersky Sans Display"/>
              </a:rPr>
              <a:t>None of them can be fixed by Analytics or by Dmitry's team alone. They need the owners of the sources.</a:t>
            </a:r>
          </a:p>
        </p:txBody>
      </p:sp>
      <p:sp>
        <p:nvSpPr>
          <p:cNvPr id="32" name="TextBox 31"/>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30</a:t>
            </a:r>
          </a:p>
        </p:txBody>
      </p:sp>
      <p:sp>
        <p:nvSpPr>
          <p:cNvPr id="33" name="Rounded Rectangle 32"/>
          <p:cNvSpPr/>
          <p:nvPr/>
        </p:nvSpPr>
        <p:spPr>
          <a:xfrm>
            <a:off x="9357055" y="274320"/>
            <a:ext cx="1737360" cy="292608"/>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3 · THE PLAN</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How each challenge is solved</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The same five steps for the three challenges</a:t>
            </a:r>
          </a:p>
        </p:txBody>
      </p:sp>
      <p:sp>
        <p:nvSpPr>
          <p:cNvPr id="4" name="Rounded Rectangle 3"/>
          <p:cNvSpPr/>
          <p:nvPr/>
        </p:nvSpPr>
        <p:spPr>
          <a:xfrm>
            <a:off x="548640" y="1600200"/>
            <a:ext cx="1999427" cy="214884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783080"/>
            <a:ext cx="457200" cy="45720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171C"/>
                </a:solidFill>
                <a:latin typeface="Kaspersky Sans Display"/>
              </a:rPr>
              <a:t>1</a:t>
            </a:r>
          </a:p>
        </p:txBody>
      </p:sp>
      <p:sp>
        <p:nvSpPr>
          <p:cNvPr id="6" name="TextBox 5"/>
          <p:cNvSpPr txBox="1"/>
          <p:nvPr/>
        </p:nvSpPr>
        <p:spPr>
          <a:xfrm>
            <a:off x="1280160" y="1783080"/>
            <a:ext cx="1176467" cy="457200"/>
          </a:xfrm>
          <a:prstGeom prst="rect">
            <a:avLst/>
          </a:prstGeom>
          <a:noFill/>
        </p:spPr>
        <p:txBody>
          <a:bodyPr wrap="square" anchor="ctr" lIns="0" rIns="0" tIns="0" bIns="0">
            <a:spAutoFit/>
          </a:bodyPr>
          <a:lstStyle/>
          <a:p>
            <a:pPr algn="l">
              <a:spcAft>
                <a:spcPts val="600"/>
              </a:spcAft>
            </a:pPr>
            <a:r>
              <a:rPr sz="1600" b="1" i="0">
                <a:solidFill>
                  <a:srgbClr val="1F2937"/>
                </a:solidFill>
                <a:latin typeface="Kaspersky Sans Display"/>
              </a:rPr>
              <a:t>Explain</a:t>
            </a:r>
          </a:p>
        </p:txBody>
      </p:sp>
      <p:sp>
        <p:nvSpPr>
          <p:cNvPr id="7" name="Rounded Rectangle 6"/>
          <p:cNvSpPr/>
          <p:nvPr/>
        </p:nvSpPr>
        <p:spPr>
          <a:xfrm>
            <a:off x="731520" y="2377440"/>
            <a:ext cx="1633667" cy="36576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FFFFF"/>
                </a:solidFill>
                <a:latin typeface="Kaspersky Sans Display"/>
              </a:rPr>
              <a:t>Retention</a:t>
            </a:r>
          </a:p>
        </p:txBody>
      </p:sp>
      <p:sp>
        <p:nvSpPr>
          <p:cNvPr id="8" name="TextBox 7"/>
          <p:cNvSpPr txBox="1"/>
          <p:nvPr/>
        </p:nvSpPr>
        <p:spPr>
          <a:xfrm>
            <a:off x="731520" y="2834640"/>
            <a:ext cx="1633667" cy="86868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What the challenge is, why it matters, and the evidence.</a:t>
            </a:r>
          </a:p>
        </p:txBody>
      </p:sp>
      <p:sp>
        <p:nvSpPr>
          <p:cNvPr id="9" name="Right Arrow 8"/>
          <p:cNvSpPr/>
          <p:nvPr/>
        </p:nvSpPr>
        <p:spPr>
          <a:xfrm>
            <a:off x="2584643" y="2468880"/>
            <a:ext cx="201168" cy="27432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22387" y="1600200"/>
            <a:ext cx="1999427" cy="214884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005267" y="1783080"/>
            <a:ext cx="457200" cy="45720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171C"/>
                </a:solidFill>
                <a:latin typeface="Kaspersky Sans Display"/>
              </a:rPr>
              <a:t>2</a:t>
            </a:r>
          </a:p>
        </p:txBody>
      </p:sp>
      <p:sp>
        <p:nvSpPr>
          <p:cNvPr id="12" name="TextBox 11"/>
          <p:cNvSpPr txBox="1"/>
          <p:nvPr/>
        </p:nvSpPr>
        <p:spPr>
          <a:xfrm>
            <a:off x="3553907" y="1783080"/>
            <a:ext cx="1176467" cy="457200"/>
          </a:xfrm>
          <a:prstGeom prst="rect">
            <a:avLst/>
          </a:prstGeom>
          <a:noFill/>
        </p:spPr>
        <p:txBody>
          <a:bodyPr wrap="square" anchor="ctr" lIns="0" rIns="0" tIns="0" bIns="0">
            <a:spAutoFit/>
          </a:bodyPr>
          <a:lstStyle/>
          <a:p>
            <a:pPr algn="l">
              <a:spcAft>
                <a:spcPts val="600"/>
              </a:spcAft>
            </a:pPr>
            <a:r>
              <a:rPr sz="1600" b="1" i="0">
                <a:solidFill>
                  <a:srgbClr val="1F2937"/>
                </a:solidFill>
                <a:latin typeface="Kaspersky Sans Display"/>
              </a:rPr>
              <a:t>Agree</a:t>
            </a:r>
          </a:p>
        </p:txBody>
      </p:sp>
      <p:sp>
        <p:nvSpPr>
          <p:cNvPr id="13" name="Rounded Rectangle 12"/>
          <p:cNvSpPr/>
          <p:nvPr/>
        </p:nvSpPr>
        <p:spPr>
          <a:xfrm>
            <a:off x="3005267" y="2377440"/>
            <a:ext cx="1633667" cy="36576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FFFFF"/>
                </a:solidFill>
                <a:latin typeface="Kaspersky Sans Display"/>
              </a:rPr>
              <a:t>Retention + Dmitry</a:t>
            </a:r>
          </a:p>
        </p:txBody>
      </p:sp>
      <p:sp>
        <p:nvSpPr>
          <p:cNvPr id="14" name="TextBox 13"/>
          <p:cNvSpPr txBox="1"/>
          <p:nvPr/>
        </p:nvSpPr>
        <p:spPr>
          <a:xfrm>
            <a:off x="3005267" y="2834640"/>
            <a:ext cx="1633667" cy="86868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We both understand the challenge and share it.</a:t>
            </a:r>
          </a:p>
        </p:txBody>
      </p:sp>
      <p:sp>
        <p:nvSpPr>
          <p:cNvPr id="15" name="Right Arrow 14"/>
          <p:cNvSpPr/>
          <p:nvPr/>
        </p:nvSpPr>
        <p:spPr>
          <a:xfrm>
            <a:off x="4858390" y="2468880"/>
            <a:ext cx="201168" cy="27432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96134" y="1600200"/>
            <a:ext cx="1999427" cy="214884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79014" y="1783080"/>
            <a:ext cx="457200" cy="45720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171C"/>
                </a:solidFill>
                <a:latin typeface="Kaspersky Sans Display"/>
              </a:rPr>
              <a:t>3</a:t>
            </a:r>
          </a:p>
        </p:txBody>
      </p:sp>
      <p:sp>
        <p:nvSpPr>
          <p:cNvPr id="18" name="TextBox 17"/>
          <p:cNvSpPr txBox="1"/>
          <p:nvPr/>
        </p:nvSpPr>
        <p:spPr>
          <a:xfrm>
            <a:off x="5827654" y="1783080"/>
            <a:ext cx="1176467" cy="457200"/>
          </a:xfrm>
          <a:prstGeom prst="rect">
            <a:avLst/>
          </a:prstGeom>
          <a:noFill/>
        </p:spPr>
        <p:txBody>
          <a:bodyPr wrap="square" anchor="ctr" lIns="0" rIns="0" tIns="0" bIns="0">
            <a:spAutoFit/>
          </a:bodyPr>
          <a:lstStyle/>
          <a:p>
            <a:pPr algn="l">
              <a:spcAft>
                <a:spcPts val="600"/>
              </a:spcAft>
            </a:pPr>
            <a:r>
              <a:rPr sz="1600" b="1" i="0">
                <a:solidFill>
                  <a:srgbClr val="1F2937"/>
                </a:solidFill>
                <a:latin typeface="Kaspersky Sans Display"/>
              </a:rPr>
              <a:t>Redirect</a:t>
            </a:r>
          </a:p>
        </p:txBody>
      </p:sp>
      <p:sp>
        <p:nvSpPr>
          <p:cNvPr id="19" name="Rounded Rectangle 18"/>
          <p:cNvSpPr/>
          <p:nvPr/>
        </p:nvSpPr>
        <p:spPr>
          <a:xfrm>
            <a:off x="5279014" y="2377440"/>
            <a:ext cx="1633667" cy="36576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FFFFF"/>
                </a:solidFill>
                <a:latin typeface="Kaspersky Sans Display"/>
              </a:rPr>
              <a:t>Retention + Dmitry</a:t>
            </a:r>
          </a:p>
        </p:txBody>
      </p:sp>
      <p:sp>
        <p:nvSpPr>
          <p:cNvPr id="20" name="TextBox 19"/>
          <p:cNvSpPr txBox="1"/>
          <p:nvPr/>
        </p:nvSpPr>
        <p:spPr>
          <a:xfrm>
            <a:off x="5279014" y="2834640"/>
            <a:ext cx="1633667" cy="86868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Take it to the experts who own the source.</a:t>
            </a:r>
          </a:p>
        </p:txBody>
      </p:sp>
      <p:sp>
        <p:nvSpPr>
          <p:cNvPr id="21" name="Right Arrow 20"/>
          <p:cNvSpPr/>
          <p:nvPr/>
        </p:nvSpPr>
        <p:spPr>
          <a:xfrm>
            <a:off x="7132137" y="2468880"/>
            <a:ext cx="201168" cy="27432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69881" y="1600200"/>
            <a:ext cx="1999427" cy="214884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552761" y="1783080"/>
            <a:ext cx="457200" cy="45720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171C"/>
                </a:solidFill>
                <a:latin typeface="Kaspersky Sans Display"/>
              </a:rPr>
              <a:t>4</a:t>
            </a:r>
          </a:p>
        </p:txBody>
      </p:sp>
      <p:sp>
        <p:nvSpPr>
          <p:cNvPr id="24" name="TextBox 23"/>
          <p:cNvSpPr txBox="1"/>
          <p:nvPr/>
        </p:nvSpPr>
        <p:spPr>
          <a:xfrm>
            <a:off x="8101401" y="1783080"/>
            <a:ext cx="1176467" cy="457200"/>
          </a:xfrm>
          <a:prstGeom prst="rect">
            <a:avLst/>
          </a:prstGeom>
          <a:noFill/>
        </p:spPr>
        <p:txBody>
          <a:bodyPr wrap="square" anchor="ctr" lIns="0" rIns="0" tIns="0" bIns="0">
            <a:spAutoFit/>
          </a:bodyPr>
          <a:lstStyle/>
          <a:p>
            <a:pPr algn="l">
              <a:spcAft>
                <a:spcPts val="600"/>
              </a:spcAft>
            </a:pPr>
            <a:r>
              <a:rPr sz="1600" b="1" i="0">
                <a:solidFill>
                  <a:srgbClr val="1F2937"/>
                </a:solidFill>
                <a:latin typeface="Kaspersky Sans Display"/>
              </a:rPr>
              <a:t>Expert plan</a:t>
            </a:r>
          </a:p>
        </p:txBody>
      </p:sp>
      <p:sp>
        <p:nvSpPr>
          <p:cNvPr id="25" name="Rounded Rectangle 24"/>
          <p:cNvSpPr/>
          <p:nvPr/>
        </p:nvSpPr>
        <p:spPr>
          <a:xfrm>
            <a:off x="7552761" y="2377440"/>
            <a:ext cx="1633667" cy="36576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FFFFF"/>
                </a:solidFill>
                <a:latin typeface="Kaspersky Sans Display"/>
              </a:rPr>
              <a:t>Experts</a:t>
            </a:r>
          </a:p>
        </p:txBody>
      </p:sp>
      <p:sp>
        <p:nvSpPr>
          <p:cNvPr id="26" name="TextBox 25"/>
          <p:cNvSpPr txBox="1"/>
          <p:nvPr/>
        </p:nvSpPr>
        <p:spPr>
          <a:xfrm>
            <a:off x="7552761" y="2834640"/>
            <a:ext cx="1633667" cy="86868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They give a plan and dates to fix it.</a:t>
            </a:r>
          </a:p>
        </p:txBody>
      </p:sp>
      <p:sp>
        <p:nvSpPr>
          <p:cNvPr id="27" name="Right Arrow 26"/>
          <p:cNvSpPr/>
          <p:nvPr/>
        </p:nvSpPr>
        <p:spPr>
          <a:xfrm>
            <a:off x="9405884" y="2468880"/>
            <a:ext cx="201168" cy="274320"/>
          </a:xfrm>
          <a:prstGeom prst="rightArrow">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43628" y="1600200"/>
            <a:ext cx="1999427" cy="214884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26508" y="1783080"/>
            <a:ext cx="457200" cy="45720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14171C"/>
                </a:solidFill>
                <a:latin typeface="Kaspersky Sans Display"/>
              </a:rPr>
              <a:t>5</a:t>
            </a:r>
          </a:p>
        </p:txBody>
      </p:sp>
      <p:sp>
        <p:nvSpPr>
          <p:cNvPr id="30" name="TextBox 29"/>
          <p:cNvSpPr txBox="1"/>
          <p:nvPr/>
        </p:nvSpPr>
        <p:spPr>
          <a:xfrm>
            <a:off x="10375148" y="1783080"/>
            <a:ext cx="1176467" cy="457200"/>
          </a:xfrm>
          <a:prstGeom prst="rect">
            <a:avLst/>
          </a:prstGeom>
          <a:noFill/>
        </p:spPr>
        <p:txBody>
          <a:bodyPr wrap="square" anchor="ctr" lIns="0" rIns="0" tIns="0" bIns="0">
            <a:spAutoFit/>
          </a:bodyPr>
          <a:lstStyle/>
          <a:p>
            <a:pPr algn="l">
              <a:spcAft>
                <a:spcPts val="600"/>
              </a:spcAft>
            </a:pPr>
            <a:r>
              <a:rPr sz="1600" b="1" i="0">
                <a:solidFill>
                  <a:srgbClr val="1F2937"/>
                </a:solidFill>
                <a:latin typeface="Kaspersky Sans Display"/>
              </a:rPr>
              <a:t>Implement</a:t>
            </a:r>
          </a:p>
        </p:txBody>
      </p:sp>
      <p:sp>
        <p:nvSpPr>
          <p:cNvPr id="31" name="Rounded Rectangle 30"/>
          <p:cNvSpPr/>
          <p:nvPr/>
        </p:nvSpPr>
        <p:spPr>
          <a:xfrm>
            <a:off x="9826508" y="2377440"/>
            <a:ext cx="1633667" cy="365760"/>
          </a:xfrm>
          <a:prstGeom prst="roundRect">
            <a:avLst>
              <a:gd name="adj" fmla="val 12000"/>
            </a:avLst>
          </a:prstGeom>
          <a:solidFill>
            <a:srgbClr val="3D6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FFFFF"/>
                </a:solidFill>
                <a:latin typeface="Kaspersky Sans Display"/>
              </a:rPr>
              <a:t>Dmitry's team</a:t>
            </a:r>
          </a:p>
        </p:txBody>
      </p:sp>
      <p:sp>
        <p:nvSpPr>
          <p:cNvPr id="32" name="TextBox 31"/>
          <p:cNvSpPr txBox="1"/>
          <p:nvPr/>
        </p:nvSpPr>
        <p:spPr>
          <a:xfrm>
            <a:off x="9826508" y="2834640"/>
            <a:ext cx="1633667" cy="868680"/>
          </a:xfrm>
          <a:prstGeom prst="rect">
            <a:avLst/>
          </a:prstGeom>
          <a:noFill/>
        </p:spPr>
        <p:txBody>
          <a:bodyPr wrap="square" anchor="t" lIns="0" rIns="0" tIns="0" bIns="0">
            <a:spAutoFit/>
          </a:bodyPr>
          <a:lstStyle/>
          <a:p>
            <a:pPr algn="l">
              <a:spcAft>
                <a:spcPts val="600"/>
              </a:spcAft>
            </a:pPr>
            <a:r>
              <a:rPr sz="1300" b="0" i="0">
                <a:solidFill>
                  <a:srgbClr val="5B6472"/>
                </a:solidFill>
                <a:latin typeface="Kaspersky Sans Display"/>
              </a:rPr>
              <a:t>Implementation plan. Then daily data for Retention.</a:t>
            </a:r>
          </a:p>
        </p:txBody>
      </p:sp>
      <p:sp>
        <p:nvSpPr>
          <p:cNvPr id="33" name="Rounded Rectangle 32"/>
          <p:cNvSpPr/>
          <p:nvPr/>
        </p:nvSpPr>
        <p:spPr>
          <a:xfrm>
            <a:off x="548640" y="4023360"/>
            <a:ext cx="3545738" cy="1965960"/>
          </a:xfrm>
          <a:prstGeom prst="roundRect">
            <a:avLst>
              <a:gd name="adj" fmla="val 12000"/>
            </a:avLst>
          </a:prstGeom>
          <a:solidFill>
            <a:srgbClr val="F1F3F6"/>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160520"/>
            <a:ext cx="3088538" cy="411480"/>
          </a:xfrm>
          <a:prstGeom prst="rect">
            <a:avLst/>
          </a:prstGeom>
          <a:noFill/>
        </p:spPr>
        <p:txBody>
          <a:bodyPr wrap="square" anchor="t" lIns="0" rIns="0" tIns="0" bIns="0">
            <a:spAutoFit/>
          </a:bodyPr>
          <a:lstStyle/>
          <a:p>
            <a:pPr algn="l">
              <a:spcAft>
                <a:spcPts val="600"/>
              </a:spcAft>
            </a:pPr>
            <a:r>
              <a:rPr sz="1700" b="1" i="0">
                <a:solidFill>
                  <a:srgbClr val="3BA8DE"/>
                </a:solidFill>
                <a:latin typeface="Kaspersky Sans Display"/>
              </a:rPr>
              <a:t>Retention</a:t>
            </a:r>
          </a:p>
        </p:txBody>
      </p:sp>
      <p:sp>
        <p:nvSpPr>
          <p:cNvPr id="35" name="TextBox 34"/>
          <p:cNvSpPr txBox="1"/>
          <p:nvPr/>
        </p:nvSpPr>
        <p:spPr>
          <a:xfrm>
            <a:off x="777240" y="4617720"/>
            <a:ext cx="3088538" cy="132588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Explains the need. Sets the criteria and constraints of the data. Validates the result.</a:t>
            </a:r>
          </a:p>
        </p:txBody>
      </p:sp>
      <p:sp>
        <p:nvSpPr>
          <p:cNvPr id="36" name="Rounded Rectangle 35"/>
          <p:cNvSpPr/>
          <p:nvPr/>
        </p:nvSpPr>
        <p:spPr>
          <a:xfrm>
            <a:off x="4322978" y="4023360"/>
            <a:ext cx="3545738" cy="1965960"/>
          </a:xfrm>
          <a:prstGeom prst="roundRect">
            <a:avLst>
              <a:gd name="adj" fmla="val 12000"/>
            </a:avLst>
          </a:prstGeom>
          <a:solidFill>
            <a:srgbClr val="F1F3F6"/>
          </a:solidFill>
          <a:ln w="19050">
            <a:solidFill>
              <a:srgbClr val="3D6F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51578" y="4160520"/>
            <a:ext cx="3088538" cy="411480"/>
          </a:xfrm>
          <a:prstGeom prst="rect">
            <a:avLst/>
          </a:prstGeom>
          <a:noFill/>
        </p:spPr>
        <p:txBody>
          <a:bodyPr wrap="square" anchor="t" lIns="0" rIns="0" tIns="0" bIns="0">
            <a:spAutoFit/>
          </a:bodyPr>
          <a:lstStyle/>
          <a:p>
            <a:pPr algn="l">
              <a:spcAft>
                <a:spcPts val="600"/>
              </a:spcAft>
            </a:pPr>
            <a:r>
              <a:rPr sz="1700" b="1" i="0">
                <a:solidFill>
                  <a:srgbClr val="3D6FD9"/>
                </a:solidFill>
                <a:latin typeface="Kaspersky Sans Display"/>
              </a:rPr>
              <a:t>Experts</a:t>
            </a:r>
          </a:p>
        </p:txBody>
      </p:sp>
      <p:sp>
        <p:nvSpPr>
          <p:cNvPr id="38" name="TextBox 37"/>
          <p:cNvSpPr txBox="1"/>
          <p:nvPr/>
        </p:nvSpPr>
        <p:spPr>
          <a:xfrm>
            <a:off x="4551578" y="4617720"/>
            <a:ext cx="3088538" cy="132588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Own the sources. Fix them, with a plan and dates.</a:t>
            </a:r>
          </a:p>
        </p:txBody>
      </p:sp>
      <p:sp>
        <p:nvSpPr>
          <p:cNvPr id="39" name="Rounded Rectangle 38"/>
          <p:cNvSpPr/>
          <p:nvPr/>
        </p:nvSpPr>
        <p:spPr>
          <a:xfrm>
            <a:off x="8097316" y="4023360"/>
            <a:ext cx="3545738" cy="196596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5916" y="4160520"/>
            <a:ext cx="3088538" cy="411480"/>
          </a:xfrm>
          <a:prstGeom prst="rect">
            <a:avLst/>
          </a:prstGeom>
          <a:noFill/>
        </p:spPr>
        <p:txBody>
          <a:bodyPr wrap="square" anchor="t" lIns="0" rIns="0" tIns="0" bIns="0">
            <a:spAutoFit/>
          </a:bodyPr>
          <a:lstStyle/>
          <a:p>
            <a:pPr algn="l">
              <a:spcAft>
                <a:spcPts val="600"/>
              </a:spcAft>
            </a:pPr>
            <a:r>
              <a:rPr sz="1700" b="1" i="0">
                <a:solidFill>
                  <a:srgbClr val="EC7A3C"/>
                </a:solidFill>
                <a:latin typeface="Kaspersky Sans Display"/>
              </a:rPr>
              <a:t>Dmitry's team</a:t>
            </a:r>
          </a:p>
        </p:txBody>
      </p:sp>
      <p:sp>
        <p:nvSpPr>
          <p:cNvPr id="41" name="TextBox 40"/>
          <p:cNvSpPr txBox="1"/>
          <p:nvPr/>
        </p:nvSpPr>
        <p:spPr>
          <a:xfrm>
            <a:off x="8325916" y="4617720"/>
            <a:ext cx="3088538" cy="1325880"/>
          </a:xfrm>
          <a:prstGeom prst="rect">
            <a:avLst/>
          </a:prstGeom>
          <a:noFill/>
        </p:spPr>
        <p:txBody>
          <a:bodyPr wrap="square" anchor="t" lIns="0" rIns="0" tIns="0" bIns="0">
            <a:spAutoFit/>
          </a:bodyPr>
          <a:lstStyle/>
          <a:p>
            <a:pPr algn="l">
              <a:spcAft>
                <a:spcPts val="600"/>
              </a:spcAft>
            </a:pPr>
            <a:r>
              <a:rPr sz="1400" b="0" i="0">
                <a:solidFill>
                  <a:srgbClr val="1F2937"/>
                </a:solidFill>
                <a:latin typeface="Kaspersky Sans Display"/>
              </a:rPr>
              <a:t>Does not fix the sources. Once they are fixed, implements the solution and delivers the data to Retention every day, meeting Retention's criteria.</a:t>
            </a:r>
          </a:p>
        </p:txBody>
      </p:sp>
      <p:sp>
        <p:nvSpPr>
          <p:cNvPr id="42" name="TextBox 41"/>
          <p:cNvSpPr txBox="1"/>
          <p:nvPr/>
        </p:nvSpPr>
        <p:spPr>
          <a:xfrm>
            <a:off x="548640" y="6172200"/>
            <a:ext cx="11094415" cy="411480"/>
          </a:xfrm>
          <a:prstGeom prst="rect">
            <a:avLst/>
          </a:prstGeom>
          <a:noFill/>
        </p:spPr>
        <p:txBody>
          <a:bodyPr wrap="square" anchor="t" lIns="0" rIns="0" tIns="0" bIns="0">
            <a:spAutoFit/>
          </a:bodyPr>
          <a:lstStyle/>
          <a:p>
            <a:pPr algn="l">
              <a:spcAft>
                <a:spcPts val="600"/>
              </a:spcAft>
            </a:pPr>
            <a:r>
              <a:rPr sz="1600" b="1" i="0">
                <a:solidFill>
                  <a:srgbClr val="1F2937"/>
                </a:solidFill>
                <a:latin typeface="Kaspersky Sans Display"/>
              </a:rPr>
              <a:t>Each team commits only to what it owns.</a:t>
            </a:r>
          </a:p>
        </p:txBody>
      </p:sp>
      <p:sp>
        <p:nvSpPr>
          <p:cNvPr id="43" name="TextBox 42"/>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31</a:t>
            </a:r>
          </a:p>
        </p:txBody>
      </p:sp>
      <p:sp>
        <p:nvSpPr>
          <p:cNvPr id="44" name="Rounded Rectangle 43"/>
          <p:cNvSpPr/>
          <p:nvPr/>
        </p:nvSpPr>
        <p:spPr>
          <a:xfrm>
            <a:off x="9357055" y="274320"/>
            <a:ext cx="1737360" cy="292608"/>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3 · THE PLAN</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Challenge 1: The MSRP in the transaction</a:t>
            </a:r>
          </a:p>
        </p:txBody>
      </p:sp>
      <p:sp>
        <p:nvSpPr>
          <p:cNvPr id="3" name="Rounded Rectangle 2"/>
          <p:cNvSpPr/>
          <p:nvPr/>
        </p:nvSpPr>
        <p:spPr>
          <a:xfrm>
            <a:off x="548640" y="1325880"/>
            <a:ext cx="5760720" cy="10972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5303520" cy="914400"/>
          </a:xfrm>
          <a:prstGeom prst="rect">
            <a:avLst/>
          </a:prstGeom>
          <a:noFill/>
        </p:spPr>
        <p:txBody>
          <a:bodyPr wrap="square" anchor="ctr" lIns="0" rIns="0" tIns="0" bIns="0">
            <a:spAutoFit/>
          </a:bodyPr>
          <a:lstStyle/>
          <a:p>
            <a:pPr algn="l">
              <a:spcAft>
                <a:spcPts val="600"/>
              </a:spcAft>
            </a:pPr>
            <a:r>
              <a:rPr sz="1500" b="0" i="0">
                <a:solidFill>
                  <a:srgbClr val="1F2937"/>
                </a:solidFill>
                <a:latin typeface="Kaspersky Sans Display"/>
              </a:rPr>
              <a:t>The discount is always measured against the full MSRP valid at the transaction. The transaction does not carry it, so today we rebuild it with a link to </a:t>
            </a:r>
            <a:r>
              <a:rPr sz="1500" b="1" i="0">
                <a:solidFill>
                  <a:srgbClr val="1F2937"/>
                </a:solidFill>
                <a:latin typeface="Kaspersky Sans Display"/>
              </a:rPr>
              <a:t>WebPriceList</a:t>
            </a:r>
            <a:r>
              <a:rPr sz="1500" b="0" i="0">
                <a:solidFill>
                  <a:srgbClr val="1F2937"/>
                </a:solidFill>
                <a:latin typeface="Kaspersky Sans Display"/>
              </a:rPr>
              <a:t>.</a:t>
            </a:r>
          </a:p>
        </p:txBody>
      </p:sp>
      <p:sp>
        <p:nvSpPr>
          <p:cNvPr id="5" name="TextBox 4"/>
          <p:cNvSpPr txBox="1"/>
          <p:nvPr/>
        </p:nvSpPr>
        <p:spPr>
          <a:xfrm>
            <a:off x="548640" y="2606040"/>
            <a:ext cx="5760720" cy="320040"/>
          </a:xfrm>
          <a:prstGeom prst="rect">
            <a:avLst/>
          </a:prstGeom>
          <a:noFill/>
        </p:spPr>
        <p:txBody>
          <a:bodyPr wrap="square" anchor="t" lIns="0" rIns="0" tIns="0" bIns="0">
            <a:spAutoFit/>
          </a:bodyPr>
          <a:lstStyle/>
          <a:p>
            <a:pPr algn="l">
              <a:spcAft>
                <a:spcPts val="600"/>
              </a:spcAft>
            </a:pPr>
            <a:r>
              <a:rPr sz="1400" b="1" i="0">
                <a:solidFill>
                  <a:srgbClr val="5B6472"/>
                </a:solidFill>
                <a:latin typeface="Kaspersky Sans Display"/>
              </a:rPr>
              <a:t>The current technique has three limits</a:t>
            </a:r>
          </a:p>
        </p:txBody>
      </p:sp>
      <p:sp>
        <p:nvSpPr>
          <p:cNvPr id="6" name="Rounded Rectangle 5"/>
          <p:cNvSpPr/>
          <p:nvPr/>
        </p:nvSpPr>
        <p:spPr>
          <a:xfrm>
            <a:off x="548640" y="2971800"/>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13232" y="3081528"/>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a</a:t>
            </a:r>
          </a:p>
        </p:txBody>
      </p:sp>
      <p:sp>
        <p:nvSpPr>
          <p:cNvPr id="8" name="TextBox 7"/>
          <p:cNvSpPr txBox="1"/>
          <p:nvPr/>
        </p:nvSpPr>
        <p:spPr>
          <a:xfrm>
            <a:off x="1188719" y="3063240"/>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Acquisition prices used for Retention</a:t>
            </a:r>
          </a:p>
        </p:txBody>
      </p:sp>
      <p:sp>
        <p:nvSpPr>
          <p:cNvPr id="9" name="TextBox 8"/>
          <p:cNvSpPr txBox="1"/>
          <p:nvPr/>
        </p:nvSpPr>
        <p:spPr>
          <a:xfrm>
            <a:off x="4754879" y="3063240"/>
            <a:ext cx="1371600" cy="365760"/>
          </a:xfrm>
          <a:prstGeom prst="rect">
            <a:avLst/>
          </a:prstGeom>
          <a:noFill/>
        </p:spPr>
        <p:txBody>
          <a:bodyPr wrap="square" anchor="ctr" lIns="0" rIns="0" tIns="0" bIns="0">
            <a:spAutoFit/>
          </a:bodyPr>
          <a:lstStyle/>
          <a:p>
            <a:pPr algn="r">
              <a:spcAft>
                <a:spcPts val="600"/>
              </a:spcAft>
            </a:pPr>
            <a:r>
              <a:rPr sz="1100" b="0" i="1">
                <a:solidFill>
                  <a:srgbClr val="5B6472"/>
                </a:solidFill>
                <a:latin typeface="Kaspersky Sans Display"/>
              </a:rPr>
              <a:t>Seen in Ex 3</a:t>
            </a:r>
          </a:p>
        </p:txBody>
      </p:sp>
      <p:sp>
        <p:nvSpPr>
          <p:cNvPr id="10" name="TextBox 9"/>
          <p:cNvSpPr txBox="1"/>
          <p:nvPr/>
        </p:nvSpPr>
        <p:spPr>
          <a:xfrm>
            <a:off x="1188719" y="3429000"/>
            <a:ext cx="4937759" cy="502920"/>
          </a:xfrm>
          <a:prstGeom prst="rect">
            <a:avLst/>
          </a:prstGeom>
          <a:noFill/>
        </p:spPr>
        <p:txBody>
          <a:bodyPr wrap="square" anchor="t" lIns="0" rIns="0" tIns="0" bIns="0">
            <a:spAutoFit/>
          </a:bodyPr>
          <a:lstStyle/>
          <a:p>
            <a:pPr algn="l">
              <a:spcAft>
                <a:spcPts val="600"/>
              </a:spcAft>
            </a:pPr>
            <a:r>
              <a:rPr sz="1200" b="1" i="0">
                <a:solidFill>
                  <a:srgbClr val="5B6472"/>
                </a:solidFill>
                <a:latin typeface="Kaspersky Sans Display"/>
              </a:rPr>
              <a:t>WebPriceList</a:t>
            </a:r>
            <a:r>
              <a:rPr sz="1200" b="0" i="0">
                <a:solidFill>
                  <a:srgbClr val="5B6472"/>
                </a:solidFill>
                <a:latin typeface="Kaspersky Sans Display"/>
              </a:rPr>
              <a:t> is an acquisition price list. Renewal SKUs are not there: we map them to the purchase SKU and assume the same MSRP.</a:t>
            </a:r>
          </a:p>
        </p:txBody>
      </p:sp>
      <p:sp>
        <p:nvSpPr>
          <p:cNvPr id="11" name="Rounded Rectangle 10"/>
          <p:cNvSpPr/>
          <p:nvPr/>
        </p:nvSpPr>
        <p:spPr>
          <a:xfrm>
            <a:off x="548640" y="4041648"/>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13232" y="4151376"/>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b</a:t>
            </a:r>
          </a:p>
        </p:txBody>
      </p:sp>
      <p:sp>
        <p:nvSpPr>
          <p:cNvPr id="13" name="TextBox 12"/>
          <p:cNvSpPr txBox="1"/>
          <p:nvPr/>
        </p:nvSpPr>
        <p:spPr>
          <a:xfrm>
            <a:off x="1188719" y="4133087"/>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A link with limits</a:t>
            </a:r>
          </a:p>
        </p:txBody>
      </p:sp>
      <p:sp>
        <p:nvSpPr>
          <p:cNvPr id="14" name="TextBox 13"/>
          <p:cNvSpPr txBox="1"/>
          <p:nvPr/>
        </p:nvSpPr>
        <p:spPr>
          <a:xfrm>
            <a:off x="4754879" y="4133087"/>
            <a:ext cx="1371600" cy="365760"/>
          </a:xfrm>
          <a:prstGeom prst="rect">
            <a:avLst/>
          </a:prstGeom>
          <a:noFill/>
        </p:spPr>
        <p:txBody>
          <a:bodyPr wrap="square" anchor="ctr" lIns="0" rIns="0" tIns="0" bIns="0">
            <a:spAutoFit/>
          </a:bodyPr>
          <a:lstStyle/>
          <a:p>
            <a:pPr algn="r">
              <a:spcAft>
                <a:spcPts val="600"/>
              </a:spcAft>
            </a:pPr>
            <a:r>
              <a:rPr sz="1100" b="0" i="1">
                <a:solidFill>
                  <a:srgbClr val="5B6472"/>
                </a:solidFill>
                <a:latin typeface="Kaspersky Sans Display"/>
              </a:rPr>
              <a:t>Seen in Ex 6, 7, 8a</a:t>
            </a:r>
          </a:p>
        </p:txBody>
      </p:sp>
      <p:sp>
        <p:nvSpPr>
          <p:cNvPr id="15" name="TextBox 14"/>
          <p:cNvSpPr txBox="1"/>
          <p:nvPr/>
        </p:nvSpPr>
        <p:spPr>
          <a:xfrm>
            <a:off x="1188719" y="4498848"/>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We join by date, not by time. Prices change within the day, so the join can take the wrong price.</a:t>
            </a:r>
          </a:p>
        </p:txBody>
      </p:sp>
      <p:sp>
        <p:nvSpPr>
          <p:cNvPr id="16" name="Rounded Rectangle 15"/>
          <p:cNvSpPr/>
          <p:nvPr/>
        </p:nvSpPr>
        <p:spPr>
          <a:xfrm>
            <a:off x="548640" y="5111496"/>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3232" y="5221224"/>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c</a:t>
            </a:r>
          </a:p>
        </p:txBody>
      </p:sp>
      <p:sp>
        <p:nvSpPr>
          <p:cNvPr id="18" name="TextBox 17"/>
          <p:cNvSpPr txBox="1"/>
          <p:nvPr/>
        </p:nvSpPr>
        <p:spPr>
          <a:xfrm>
            <a:off x="1188719" y="5202936"/>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Not every MSRP is available</a:t>
            </a:r>
          </a:p>
        </p:txBody>
      </p:sp>
      <p:sp>
        <p:nvSpPr>
          <p:cNvPr id="19" name="TextBox 18"/>
          <p:cNvSpPr txBox="1"/>
          <p:nvPr/>
        </p:nvSpPr>
        <p:spPr>
          <a:xfrm>
            <a:off x="4754879" y="5202936"/>
            <a:ext cx="1371600" cy="365760"/>
          </a:xfrm>
          <a:prstGeom prst="rect">
            <a:avLst/>
          </a:prstGeom>
          <a:noFill/>
        </p:spPr>
        <p:txBody>
          <a:bodyPr wrap="square" anchor="ctr" lIns="0" rIns="0" tIns="0" bIns="0">
            <a:spAutoFit/>
          </a:bodyPr>
          <a:lstStyle/>
          <a:p>
            <a:pPr algn="r">
              <a:spcAft>
                <a:spcPts val="600"/>
              </a:spcAft>
            </a:pPr>
            <a:r>
              <a:rPr sz="1100" b="0" i="1">
                <a:solidFill>
                  <a:srgbClr val="5B6472"/>
                </a:solidFill>
                <a:latin typeface="Kaspersky Sans Display"/>
              </a:rPr>
              <a:t>Seen in Ex 5, 8b</a:t>
            </a:r>
          </a:p>
        </p:txBody>
      </p:sp>
      <p:sp>
        <p:nvSpPr>
          <p:cNvPr id="20" name="TextBox 19"/>
          <p:cNvSpPr txBox="1"/>
          <p:nvPr/>
        </p:nvSpPr>
        <p:spPr>
          <a:xfrm>
            <a:off x="1188719" y="5568696"/>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The </a:t>
            </a:r>
            <a:r>
              <a:rPr sz="1200" b="1" i="0">
                <a:solidFill>
                  <a:srgbClr val="5B6472"/>
                </a:solidFill>
                <a:latin typeface="Kaspersky Sans Display"/>
              </a:rPr>
              <a:t>API</a:t>
            </a:r>
            <a:r>
              <a:rPr sz="1200" b="0" i="0">
                <a:solidFill>
                  <a:srgbClr val="5B6472"/>
                </a:solidFill>
                <a:latin typeface="Kaspersky Sans Display"/>
              </a:rPr>
              <a:t> sends grossMsrp = 0, or without taxes. Some prices exist in no source.</a:t>
            </a:r>
          </a:p>
        </p:txBody>
      </p:sp>
      <p:sp>
        <p:nvSpPr>
          <p:cNvPr id="21" name="TextBox 20"/>
          <p:cNvSpPr txBox="1"/>
          <p:nvPr/>
        </p:nvSpPr>
        <p:spPr>
          <a:xfrm>
            <a:off x="548640" y="6263640"/>
            <a:ext cx="5760720" cy="32004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Closes agreements 1, 3, 4 and 5 of the gap.</a:t>
            </a:r>
          </a:p>
        </p:txBody>
      </p:sp>
      <p:sp>
        <p:nvSpPr>
          <p:cNvPr id="22" name="Rounded Rectangle 21"/>
          <p:cNvSpPr/>
          <p:nvPr/>
        </p:nvSpPr>
        <p:spPr>
          <a:xfrm>
            <a:off x="6537960" y="1325880"/>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75120" y="1435607"/>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1</a:t>
            </a:r>
          </a:p>
        </p:txBody>
      </p:sp>
      <p:sp>
        <p:nvSpPr>
          <p:cNvPr id="24" name="TextBox 23"/>
          <p:cNvSpPr txBox="1"/>
          <p:nvPr/>
        </p:nvSpPr>
        <p:spPr>
          <a:xfrm>
            <a:off x="7178040" y="1417320"/>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Explain</a:t>
            </a:r>
            <a:r>
              <a:rPr sz="1200" b="1" i="0">
                <a:solidFill>
                  <a:srgbClr val="3D6FD9"/>
                </a:solidFill>
                <a:latin typeface="Kaspersky Sans Display"/>
              </a:rPr>
              <a:t>  ·  Retention</a:t>
            </a:r>
          </a:p>
        </p:txBody>
      </p:sp>
      <p:sp>
        <p:nvSpPr>
          <p:cNvPr id="25" name="Rounded Rectangle 24"/>
          <p:cNvSpPr/>
          <p:nvPr/>
        </p:nvSpPr>
        <p:spPr>
          <a:xfrm>
            <a:off x="10728655" y="1463039"/>
            <a:ext cx="777240" cy="274320"/>
          </a:xfrm>
          <a:prstGeom prst="roundRect">
            <a:avLst>
              <a:gd name="adj" fmla="val 12000"/>
            </a:avLst>
          </a:prstGeom>
          <a:solidFill>
            <a:srgbClr val="FFFFFF"/>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9A7A"/>
                </a:solidFill>
                <a:latin typeface="Kaspersky Sans Display"/>
              </a:rPr>
              <a:t>Done</a:t>
            </a:r>
          </a:p>
        </p:txBody>
      </p:sp>
      <p:sp>
        <p:nvSpPr>
          <p:cNvPr id="26" name="TextBox 25"/>
          <p:cNvSpPr txBox="1"/>
          <p:nvPr/>
        </p:nvSpPr>
        <p:spPr>
          <a:xfrm>
            <a:off x="7178040" y="1783080"/>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The need and the gaps: the model, cases 1 to 5, the 9 examples.</a:t>
            </a:r>
          </a:p>
        </p:txBody>
      </p:sp>
      <p:sp>
        <p:nvSpPr>
          <p:cNvPr id="27" name="Rounded Rectangle 26"/>
          <p:cNvSpPr/>
          <p:nvPr/>
        </p:nvSpPr>
        <p:spPr>
          <a:xfrm>
            <a:off x="6537960" y="2304287"/>
            <a:ext cx="5105095" cy="8686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75120" y="2414015"/>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2</a:t>
            </a:r>
          </a:p>
        </p:txBody>
      </p:sp>
      <p:sp>
        <p:nvSpPr>
          <p:cNvPr id="29" name="TextBox 28"/>
          <p:cNvSpPr txBox="1"/>
          <p:nvPr/>
        </p:nvSpPr>
        <p:spPr>
          <a:xfrm>
            <a:off x="7178040" y="2395727"/>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Agree</a:t>
            </a:r>
            <a:r>
              <a:rPr sz="1200" b="1" i="0">
                <a:solidFill>
                  <a:srgbClr val="3D6FD9"/>
                </a:solidFill>
                <a:latin typeface="Kaspersky Sans Display"/>
              </a:rPr>
              <a:t>  ·  Retention + Dmitry</a:t>
            </a:r>
          </a:p>
        </p:txBody>
      </p:sp>
      <p:sp>
        <p:nvSpPr>
          <p:cNvPr id="30" name="Rounded Rectangle 29"/>
          <p:cNvSpPr/>
          <p:nvPr/>
        </p:nvSpPr>
        <p:spPr>
          <a:xfrm>
            <a:off x="10728655" y="2441447"/>
            <a:ext cx="777240" cy="274320"/>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Today</a:t>
            </a:r>
          </a:p>
        </p:txBody>
      </p:sp>
      <p:sp>
        <p:nvSpPr>
          <p:cNvPr id="31" name="TextBox 30"/>
          <p:cNvSpPr txBox="1"/>
          <p:nvPr/>
        </p:nvSpPr>
        <p:spPr>
          <a:xfrm>
            <a:off x="7178040" y="2761487"/>
            <a:ext cx="4327855" cy="411480"/>
          </a:xfrm>
          <a:prstGeom prst="rect">
            <a:avLst/>
          </a:prstGeom>
          <a:noFill/>
        </p:spPr>
        <p:txBody>
          <a:bodyPr wrap="square" anchor="t" lIns="0" rIns="0" tIns="0" bIns="0">
            <a:spAutoFit/>
          </a:bodyPr>
          <a:lstStyle/>
          <a:p>
            <a:pPr algn="l">
              <a:spcAft>
                <a:spcPts val="600"/>
              </a:spcAft>
            </a:pPr>
            <a:r>
              <a:rPr sz="1200" b="1" i="0">
                <a:solidFill>
                  <a:srgbClr val="1F2937"/>
                </a:solidFill>
                <a:latin typeface="Kaspersky Sans Display"/>
              </a:rPr>
              <a:t>We understand and share this challenge.</a:t>
            </a:r>
          </a:p>
        </p:txBody>
      </p:sp>
      <p:sp>
        <p:nvSpPr>
          <p:cNvPr id="32" name="Rounded Rectangle 31"/>
          <p:cNvSpPr/>
          <p:nvPr/>
        </p:nvSpPr>
        <p:spPr>
          <a:xfrm>
            <a:off x="6537960" y="3282696"/>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675120" y="3392424"/>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3</a:t>
            </a:r>
          </a:p>
        </p:txBody>
      </p:sp>
      <p:sp>
        <p:nvSpPr>
          <p:cNvPr id="34" name="TextBox 33"/>
          <p:cNvSpPr txBox="1"/>
          <p:nvPr/>
        </p:nvSpPr>
        <p:spPr>
          <a:xfrm>
            <a:off x="7178040" y="3374136"/>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Redirect</a:t>
            </a:r>
            <a:r>
              <a:rPr sz="1200" b="1" i="0">
                <a:solidFill>
                  <a:srgbClr val="3D6FD9"/>
                </a:solidFill>
                <a:latin typeface="Kaspersky Sans Display"/>
              </a:rPr>
              <a:t>  ·  Retention + Dmitry</a:t>
            </a:r>
          </a:p>
        </p:txBody>
      </p:sp>
      <p:sp>
        <p:nvSpPr>
          <p:cNvPr id="35" name="Rounded Rectangle 34"/>
          <p:cNvSpPr/>
          <p:nvPr/>
        </p:nvSpPr>
        <p:spPr>
          <a:xfrm>
            <a:off x="10728655" y="3419856"/>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6" name="TextBox 35"/>
          <p:cNvSpPr txBox="1"/>
          <p:nvPr/>
        </p:nvSpPr>
        <p:spPr>
          <a:xfrm>
            <a:off x="7178040" y="3739896"/>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Price list owners, </a:t>
            </a:r>
            <a:r>
              <a:rPr sz="1200" b="1" i="0">
                <a:solidFill>
                  <a:srgbClr val="5B6472"/>
                </a:solidFill>
                <a:latin typeface="Kaspersky Sans Display"/>
              </a:rPr>
              <a:t>eComm</a:t>
            </a:r>
            <a:r>
              <a:rPr sz="1200" b="0" i="0">
                <a:solidFill>
                  <a:srgbClr val="5B6472"/>
                </a:solidFill>
                <a:latin typeface="Kaspersky Sans Display"/>
              </a:rPr>
              <a:t> and Nexway </a:t>
            </a:r>
            <a:r>
              <a:rPr sz="1200" b="1" i="0">
                <a:solidFill>
                  <a:srgbClr val="5B6472"/>
                </a:solidFill>
                <a:latin typeface="Kaspersky Sans Display"/>
              </a:rPr>
              <a:t>API</a:t>
            </a:r>
            <a:r>
              <a:rPr sz="1200" b="0" i="0">
                <a:solidFill>
                  <a:srgbClr val="5B6472"/>
                </a:solidFill>
                <a:latin typeface="Kaspersky Sans Display"/>
              </a:rPr>
              <a:t> owners. Names to confirm.</a:t>
            </a:r>
          </a:p>
        </p:txBody>
      </p:sp>
      <p:sp>
        <p:nvSpPr>
          <p:cNvPr id="37" name="Rounded Rectangle 36"/>
          <p:cNvSpPr/>
          <p:nvPr/>
        </p:nvSpPr>
        <p:spPr>
          <a:xfrm>
            <a:off x="6537960" y="4261103"/>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675120" y="4370831"/>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4</a:t>
            </a:r>
          </a:p>
        </p:txBody>
      </p:sp>
      <p:sp>
        <p:nvSpPr>
          <p:cNvPr id="39" name="TextBox 38"/>
          <p:cNvSpPr txBox="1"/>
          <p:nvPr/>
        </p:nvSpPr>
        <p:spPr>
          <a:xfrm>
            <a:off x="7178040" y="4352543"/>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Expert plan</a:t>
            </a:r>
            <a:r>
              <a:rPr sz="1200" b="1" i="0">
                <a:solidFill>
                  <a:srgbClr val="3D6FD9"/>
                </a:solidFill>
                <a:latin typeface="Kaspersky Sans Display"/>
              </a:rPr>
              <a:t>  ·  Experts</a:t>
            </a:r>
          </a:p>
        </p:txBody>
      </p:sp>
      <p:sp>
        <p:nvSpPr>
          <p:cNvPr id="40" name="Rounded Rectangle 39"/>
          <p:cNvSpPr/>
          <p:nvPr/>
        </p:nvSpPr>
        <p:spPr>
          <a:xfrm>
            <a:off x="10728655" y="4398264"/>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41" name="TextBox 40"/>
          <p:cNvSpPr txBox="1"/>
          <p:nvPr/>
        </p:nvSpPr>
        <p:spPr>
          <a:xfrm>
            <a:off x="7178040" y="4718303"/>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How the MSRP valid at the transaction is sent or stored with every order, renewals included.</a:t>
            </a:r>
          </a:p>
        </p:txBody>
      </p:sp>
      <p:sp>
        <p:nvSpPr>
          <p:cNvPr id="42" name="Rounded Rectangle 41"/>
          <p:cNvSpPr/>
          <p:nvPr/>
        </p:nvSpPr>
        <p:spPr>
          <a:xfrm>
            <a:off x="6537960" y="5239512"/>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675120" y="5349240"/>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5</a:t>
            </a:r>
          </a:p>
        </p:txBody>
      </p:sp>
      <p:sp>
        <p:nvSpPr>
          <p:cNvPr id="44" name="TextBox 43"/>
          <p:cNvSpPr txBox="1"/>
          <p:nvPr/>
        </p:nvSpPr>
        <p:spPr>
          <a:xfrm>
            <a:off x="7178040" y="5330951"/>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Implement</a:t>
            </a:r>
            <a:r>
              <a:rPr sz="1200" b="1" i="0">
                <a:solidFill>
                  <a:srgbClr val="3D6FD9"/>
                </a:solidFill>
                <a:latin typeface="Kaspersky Sans Display"/>
              </a:rPr>
              <a:t>  ·  Dmitry's team</a:t>
            </a:r>
          </a:p>
        </p:txBody>
      </p:sp>
      <p:sp>
        <p:nvSpPr>
          <p:cNvPr id="45" name="Rounded Rectangle 44"/>
          <p:cNvSpPr/>
          <p:nvPr/>
        </p:nvSpPr>
        <p:spPr>
          <a:xfrm>
            <a:off x="10728655" y="5376672"/>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46" name="TextBox 45"/>
          <p:cNvSpPr txBox="1"/>
          <p:nvPr/>
        </p:nvSpPr>
        <p:spPr>
          <a:xfrm>
            <a:off x="7178040" y="5696712"/>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MSRP columns in the transaction table. Checks C0 to C6 on every row. Daily.</a:t>
            </a:r>
          </a:p>
        </p:txBody>
      </p:sp>
      <p:sp>
        <p:nvSpPr>
          <p:cNvPr id="47" name="TextBox 46"/>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32</a:t>
            </a:r>
          </a:p>
        </p:txBody>
      </p:sp>
      <p:sp>
        <p:nvSpPr>
          <p:cNvPr id="48" name="Rounded Rectangle 47"/>
          <p:cNvSpPr/>
          <p:nvPr/>
        </p:nvSpPr>
        <p:spPr>
          <a:xfrm>
            <a:off x="9357055" y="274320"/>
            <a:ext cx="1737360" cy="292608"/>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3 · THE PLAN</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Challenge 2: Coverage close to 100%, at least for Nexway</a:t>
            </a:r>
          </a:p>
        </p:txBody>
      </p:sp>
      <p:sp>
        <p:nvSpPr>
          <p:cNvPr id="3" name="Rounded Rectangle 2"/>
          <p:cNvSpPr/>
          <p:nvPr/>
        </p:nvSpPr>
        <p:spPr>
          <a:xfrm>
            <a:off x="548640" y="1325880"/>
            <a:ext cx="5760720" cy="10972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5303520" cy="914400"/>
          </a:xfrm>
          <a:prstGeom prst="rect">
            <a:avLst/>
          </a:prstGeom>
          <a:noFill/>
        </p:spPr>
        <p:txBody>
          <a:bodyPr wrap="square" anchor="ctr" lIns="0" rIns="0" tIns="0" bIns="0">
            <a:spAutoFit/>
          </a:bodyPr>
          <a:lstStyle/>
          <a:p>
            <a:pPr algn="l">
              <a:spcAft>
                <a:spcPts val="600"/>
              </a:spcAft>
            </a:pPr>
            <a:r>
              <a:rPr sz="1500" b="0" i="0">
                <a:solidFill>
                  <a:srgbClr val="1F2937"/>
                </a:solidFill>
                <a:latin typeface="Kaspersky Sans Display"/>
              </a:rPr>
              <a:t>A discount analysis on part of the transactions gives a biased view. First we measure the coverage, then we close it, starting with Nexway.</a:t>
            </a:r>
          </a:p>
        </p:txBody>
      </p:sp>
      <p:sp>
        <p:nvSpPr>
          <p:cNvPr id="5" name="TextBox 4"/>
          <p:cNvSpPr txBox="1"/>
          <p:nvPr/>
        </p:nvSpPr>
        <p:spPr>
          <a:xfrm>
            <a:off x="548640" y="2606040"/>
            <a:ext cx="5760720" cy="320040"/>
          </a:xfrm>
          <a:prstGeom prst="rect">
            <a:avLst/>
          </a:prstGeom>
          <a:noFill/>
        </p:spPr>
        <p:txBody>
          <a:bodyPr wrap="square" anchor="t" lIns="0" rIns="0" tIns="0" bIns="0">
            <a:spAutoFit/>
          </a:bodyPr>
          <a:lstStyle/>
          <a:p>
            <a:pPr algn="l">
              <a:spcAft>
                <a:spcPts val="600"/>
              </a:spcAft>
            </a:pPr>
            <a:r>
              <a:rPr sz="1400" b="1" i="0">
                <a:solidFill>
                  <a:srgbClr val="5B6472"/>
                </a:solidFill>
                <a:latin typeface="Kaspersky Sans Display"/>
              </a:rPr>
              <a:t>What we need</a:t>
            </a:r>
          </a:p>
        </p:txBody>
      </p:sp>
      <p:sp>
        <p:nvSpPr>
          <p:cNvPr id="6" name="Rounded Rectangle 5"/>
          <p:cNvSpPr/>
          <p:nvPr/>
        </p:nvSpPr>
        <p:spPr>
          <a:xfrm>
            <a:off x="548640" y="2971800"/>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13232" y="3081528"/>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a</a:t>
            </a:r>
          </a:p>
        </p:txBody>
      </p:sp>
      <p:sp>
        <p:nvSpPr>
          <p:cNvPr id="8" name="TextBox 7"/>
          <p:cNvSpPr txBox="1"/>
          <p:nvPr/>
        </p:nvSpPr>
        <p:spPr>
          <a:xfrm>
            <a:off x="1188719" y="3063240"/>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Measure the coverage</a:t>
            </a:r>
          </a:p>
        </p:txBody>
      </p:sp>
      <p:sp>
        <p:nvSpPr>
          <p:cNvPr id="9" name="TextBox 8"/>
          <p:cNvSpPr txBox="1"/>
          <p:nvPr/>
        </p:nvSpPr>
        <p:spPr>
          <a:xfrm>
            <a:off x="1188719" y="3429000"/>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How many transactions have the MSRP and pass the checks? We do not have this number today.</a:t>
            </a:r>
          </a:p>
        </p:txBody>
      </p:sp>
      <p:sp>
        <p:nvSpPr>
          <p:cNvPr id="10" name="Rounded Rectangle 9"/>
          <p:cNvSpPr/>
          <p:nvPr/>
        </p:nvSpPr>
        <p:spPr>
          <a:xfrm>
            <a:off x="548640" y="4041648"/>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3232" y="4151376"/>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b</a:t>
            </a:r>
          </a:p>
        </p:txBody>
      </p:sp>
      <p:sp>
        <p:nvSpPr>
          <p:cNvPr id="12" name="TextBox 11"/>
          <p:cNvSpPr txBox="1"/>
          <p:nvPr/>
        </p:nvSpPr>
        <p:spPr>
          <a:xfrm>
            <a:off x="1188719" y="4133087"/>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Nexway first</a:t>
            </a:r>
          </a:p>
        </p:txBody>
      </p:sp>
      <p:sp>
        <p:nvSpPr>
          <p:cNvPr id="13" name="TextBox 12"/>
          <p:cNvSpPr txBox="1"/>
          <p:nvPr/>
        </p:nvSpPr>
        <p:spPr>
          <a:xfrm>
            <a:off x="1188719" y="4498848"/>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Target: close to 100% for Nexway. Other providers after, each with its own target.</a:t>
            </a:r>
          </a:p>
        </p:txBody>
      </p:sp>
      <p:sp>
        <p:nvSpPr>
          <p:cNvPr id="14" name="Rounded Rectangle 13"/>
          <p:cNvSpPr/>
          <p:nvPr/>
        </p:nvSpPr>
        <p:spPr>
          <a:xfrm>
            <a:off x="548640" y="5111496"/>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5221224"/>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c</a:t>
            </a:r>
          </a:p>
        </p:txBody>
      </p:sp>
      <p:sp>
        <p:nvSpPr>
          <p:cNvPr id="16" name="TextBox 15"/>
          <p:cNvSpPr txBox="1"/>
          <p:nvPr/>
        </p:nvSpPr>
        <p:spPr>
          <a:xfrm>
            <a:off x="1188719" y="5202936"/>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Every gap has a reason</a:t>
            </a:r>
          </a:p>
        </p:txBody>
      </p:sp>
      <p:sp>
        <p:nvSpPr>
          <p:cNvPr id="17" name="TextBox 16"/>
          <p:cNvSpPr txBox="1"/>
          <p:nvPr/>
        </p:nvSpPr>
        <p:spPr>
          <a:xfrm>
            <a:off x="4754879" y="5202936"/>
            <a:ext cx="1371600" cy="365760"/>
          </a:xfrm>
          <a:prstGeom prst="rect">
            <a:avLst/>
          </a:prstGeom>
          <a:noFill/>
        </p:spPr>
        <p:txBody>
          <a:bodyPr wrap="square" anchor="ctr" lIns="0" rIns="0" tIns="0" bIns="0">
            <a:spAutoFit/>
          </a:bodyPr>
          <a:lstStyle/>
          <a:p>
            <a:pPr algn="r">
              <a:spcAft>
                <a:spcPts val="600"/>
              </a:spcAft>
            </a:pPr>
            <a:r>
              <a:rPr sz="1100" b="0" i="1">
                <a:solidFill>
                  <a:srgbClr val="5B6472"/>
                </a:solidFill>
                <a:latin typeface="Kaspersky Sans Display"/>
              </a:rPr>
              <a:t>Seen in All 9 cases</a:t>
            </a:r>
          </a:p>
        </p:txBody>
      </p:sp>
      <p:sp>
        <p:nvSpPr>
          <p:cNvPr id="18" name="TextBox 17"/>
          <p:cNvSpPr txBox="1"/>
          <p:nvPr/>
        </p:nvSpPr>
        <p:spPr>
          <a:xfrm>
            <a:off x="1188719" y="5568696"/>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Transactions without a correct MSRP are counted by case, not hidden.</a:t>
            </a:r>
          </a:p>
        </p:txBody>
      </p:sp>
      <p:sp>
        <p:nvSpPr>
          <p:cNvPr id="19" name="TextBox 18"/>
          <p:cNvSpPr txBox="1"/>
          <p:nvPr/>
        </p:nvSpPr>
        <p:spPr>
          <a:xfrm>
            <a:off x="548640" y="6263640"/>
            <a:ext cx="5760720" cy="32004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Closes agreement 2 of the gap.</a:t>
            </a:r>
          </a:p>
        </p:txBody>
      </p:sp>
      <p:sp>
        <p:nvSpPr>
          <p:cNvPr id="20" name="Rounded Rectangle 19"/>
          <p:cNvSpPr/>
          <p:nvPr/>
        </p:nvSpPr>
        <p:spPr>
          <a:xfrm>
            <a:off x="6537960" y="1325880"/>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75120" y="1435607"/>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1</a:t>
            </a:r>
          </a:p>
        </p:txBody>
      </p:sp>
      <p:sp>
        <p:nvSpPr>
          <p:cNvPr id="22" name="TextBox 21"/>
          <p:cNvSpPr txBox="1"/>
          <p:nvPr/>
        </p:nvSpPr>
        <p:spPr>
          <a:xfrm>
            <a:off x="7178040" y="1417320"/>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Explain</a:t>
            </a:r>
            <a:r>
              <a:rPr sz="1200" b="1" i="0">
                <a:solidFill>
                  <a:srgbClr val="3D6FD9"/>
                </a:solidFill>
                <a:latin typeface="Kaspersky Sans Display"/>
              </a:rPr>
              <a:t>  ·  Retention</a:t>
            </a:r>
          </a:p>
        </p:txBody>
      </p:sp>
      <p:sp>
        <p:nvSpPr>
          <p:cNvPr id="23" name="Rounded Rectangle 22"/>
          <p:cNvSpPr/>
          <p:nvPr/>
        </p:nvSpPr>
        <p:spPr>
          <a:xfrm>
            <a:off x="10728655" y="1463039"/>
            <a:ext cx="777240" cy="274320"/>
          </a:xfrm>
          <a:prstGeom prst="roundRect">
            <a:avLst>
              <a:gd name="adj" fmla="val 12000"/>
            </a:avLst>
          </a:prstGeom>
          <a:solidFill>
            <a:srgbClr val="FFFFFF"/>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9A7A"/>
                </a:solidFill>
                <a:latin typeface="Kaspersky Sans Display"/>
              </a:rPr>
              <a:t>Done</a:t>
            </a:r>
          </a:p>
        </p:txBody>
      </p:sp>
      <p:sp>
        <p:nvSpPr>
          <p:cNvPr id="24" name="TextBox 23"/>
          <p:cNvSpPr txBox="1"/>
          <p:nvPr/>
        </p:nvSpPr>
        <p:spPr>
          <a:xfrm>
            <a:off x="7178040" y="1783080"/>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Case 2 and the 9 examples. Coverage still to measure.</a:t>
            </a:r>
          </a:p>
        </p:txBody>
      </p:sp>
      <p:sp>
        <p:nvSpPr>
          <p:cNvPr id="25" name="Rounded Rectangle 24"/>
          <p:cNvSpPr/>
          <p:nvPr/>
        </p:nvSpPr>
        <p:spPr>
          <a:xfrm>
            <a:off x="6537960" y="2304287"/>
            <a:ext cx="5105095" cy="8686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75120" y="2414015"/>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2</a:t>
            </a:r>
          </a:p>
        </p:txBody>
      </p:sp>
      <p:sp>
        <p:nvSpPr>
          <p:cNvPr id="27" name="TextBox 26"/>
          <p:cNvSpPr txBox="1"/>
          <p:nvPr/>
        </p:nvSpPr>
        <p:spPr>
          <a:xfrm>
            <a:off x="7178040" y="2395727"/>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Agree</a:t>
            </a:r>
            <a:r>
              <a:rPr sz="1200" b="1" i="0">
                <a:solidFill>
                  <a:srgbClr val="3D6FD9"/>
                </a:solidFill>
                <a:latin typeface="Kaspersky Sans Display"/>
              </a:rPr>
              <a:t>  ·  Retention + Dmitry</a:t>
            </a:r>
          </a:p>
        </p:txBody>
      </p:sp>
      <p:sp>
        <p:nvSpPr>
          <p:cNvPr id="28" name="Rounded Rectangle 27"/>
          <p:cNvSpPr/>
          <p:nvPr/>
        </p:nvSpPr>
        <p:spPr>
          <a:xfrm>
            <a:off x="10728655" y="2441447"/>
            <a:ext cx="777240" cy="274320"/>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Today</a:t>
            </a:r>
          </a:p>
        </p:txBody>
      </p:sp>
      <p:sp>
        <p:nvSpPr>
          <p:cNvPr id="29" name="TextBox 28"/>
          <p:cNvSpPr txBox="1"/>
          <p:nvPr/>
        </p:nvSpPr>
        <p:spPr>
          <a:xfrm>
            <a:off x="7178040" y="2761487"/>
            <a:ext cx="4327855" cy="411480"/>
          </a:xfrm>
          <a:prstGeom prst="rect">
            <a:avLst/>
          </a:prstGeom>
          <a:noFill/>
        </p:spPr>
        <p:txBody>
          <a:bodyPr wrap="square" anchor="t" lIns="0" rIns="0" tIns="0" bIns="0">
            <a:spAutoFit/>
          </a:bodyPr>
          <a:lstStyle/>
          <a:p>
            <a:pPr algn="l">
              <a:spcAft>
                <a:spcPts val="600"/>
              </a:spcAft>
            </a:pPr>
            <a:r>
              <a:rPr sz="1200" b="1" i="0">
                <a:solidFill>
                  <a:srgbClr val="1F2937"/>
                </a:solidFill>
                <a:latin typeface="Kaspersky Sans Display"/>
              </a:rPr>
              <a:t>We understand and share this challenge.</a:t>
            </a:r>
          </a:p>
        </p:txBody>
      </p:sp>
      <p:sp>
        <p:nvSpPr>
          <p:cNvPr id="30" name="Rounded Rectangle 29"/>
          <p:cNvSpPr/>
          <p:nvPr/>
        </p:nvSpPr>
        <p:spPr>
          <a:xfrm>
            <a:off x="6537960" y="3282696"/>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75120" y="3392424"/>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3</a:t>
            </a:r>
          </a:p>
        </p:txBody>
      </p:sp>
      <p:sp>
        <p:nvSpPr>
          <p:cNvPr id="32" name="TextBox 31"/>
          <p:cNvSpPr txBox="1"/>
          <p:nvPr/>
        </p:nvSpPr>
        <p:spPr>
          <a:xfrm>
            <a:off x="7178040" y="3374136"/>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Redirect</a:t>
            </a:r>
            <a:r>
              <a:rPr sz="1200" b="1" i="0">
                <a:solidFill>
                  <a:srgbClr val="3D6FD9"/>
                </a:solidFill>
                <a:latin typeface="Kaspersky Sans Display"/>
              </a:rPr>
              <a:t>  ·  Retention + Dmitry</a:t>
            </a:r>
          </a:p>
        </p:txBody>
      </p:sp>
      <p:sp>
        <p:nvSpPr>
          <p:cNvPr id="33" name="Rounded Rectangle 32"/>
          <p:cNvSpPr/>
          <p:nvPr/>
        </p:nvSpPr>
        <p:spPr>
          <a:xfrm>
            <a:off x="10728655" y="3419856"/>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4" name="TextBox 33"/>
          <p:cNvSpPr txBox="1"/>
          <p:nvPr/>
        </p:nvSpPr>
        <p:spPr>
          <a:xfrm>
            <a:off x="7178040" y="3739896"/>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Dmitry's team measures, with the link we hand over. Source owners close the gaps.</a:t>
            </a:r>
          </a:p>
        </p:txBody>
      </p:sp>
      <p:sp>
        <p:nvSpPr>
          <p:cNvPr id="35" name="Rounded Rectangle 34"/>
          <p:cNvSpPr/>
          <p:nvPr/>
        </p:nvSpPr>
        <p:spPr>
          <a:xfrm>
            <a:off x="6537960" y="4261103"/>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675120" y="4370831"/>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4</a:t>
            </a:r>
          </a:p>
        </p:txBody>
      </p:sp>
      <p:sp>
        <p:nvSpPr>
          <p:cNvPr id="37" name="TextBox 36"/>
          <p:cNvSpPr txBox="1"/>
          <p:nvPr/>
        </p:nvSpPr>
        <p:spPr>
          <a:xfrm>
            <a:off x="7178040" y="4352543"/>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Expert plan</a:t>
            </a:r>
            <a:r>
              <a:rPr sz="1200" b="1" i="0">
                <a:solidFill>
                  <a:srgbClr val="3D6FD9"/>
                </a:solidFill>
                <a:latin typeface="Kaspersky Sans Display"/>
              </a:rPr>
              <a:t>  ·  Experts</a:t>
            </a:r>
          </a:p>
        </p:txBody>
      </p:sp>
      <p:sp>
        <p:nvSpPr>
          <p:cNvPr id="38" name="Rounded Rectangle 37"/>
          <p:cNvSpPr/>
          <p:nvPr/>
        </p:nvSpPr>
        <p:spPr>
          <a:xfrm>
            <a:off x="10728655" y="4398264"/>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9" name="TextBox 38"/>
          <p:cNvSpPr txBox="1"/>
          <p:nvPr/>
        </p:nvSpPr>
        <p:spPr>
          <a:xfrm>
            <a:off x="7178040" y="4718303"/>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For each gap case: the fix, and when coverage reaches the target.</a:t>
            </a:r>
          </a:p>
        </p:txBody>
      </p:sp>
      <p:sp>
        <p:nvSpPr>
          <p:cNvPr id="40" name="Rounded Rectangle 39"/>
          <p:cNvSpPr/>
          <p:nvPr/>
        </p:nvSpPr>
        <p:spPr>
          <a:xfrm>
            <a:off x="6537960" y="5239512"/>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675120" y="5349240"/>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5</a:t>
            </a:r>
          </a:p>
        </p:txBody>
      </p:sp>
      <p:sp>
        <p:nvSpPr>
          <p:cNvPr id="42" name="TextBox 41"/>
          <p:cNvSpPr txBox="1"/>
          <p:nvPr/>
        </p:nvSpPr>
        <p:spPr>
          <a:xfrm>
            <a:off x="7178040" y="5330951"/>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Implement</a:t>
            </a:r>
            <a:r>
              <a:rPr sz="1200" b="1" i="0">
                <a:solidFill>
                  <a:srgbClr val="3D6FD9"/>
                </a:solidFill>
                <a:latin typeface="Kaspersky Sans Display"/>
              </a:rPr>
              <a:t>  ·  Dmitry's team</a:t>
            </a:r>
          </a:p>
        </p:txBody>
      </p:sp>
      <p:sp>
        <p:nvSpPr>
          <p:cNvPr id="43" name="Rounded Rectangle 42"/>
          <p:cNvSpPr/>
          <p:nvPr/>
        </p:nvSpPr>
        <p:spPr>
          <a:xfrm>
            <a:off x="10728655" y="5376672"/>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44" name="TextBox 43"/>
          <p:cNvSpPr txBox="1"/>
          <p:nvPr/>
        </p:nvSpPr>
        <p:spPr>
          <a:xfrm>
            <a:off x="7178040" y="5696712"/>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Coverage by provider in the daily data, with an alert below the target.</a:t>
            </a:r>
          </a:p>
        </p:txBody>
      </p:sp>
      <p:sp>
        <p:nvSpPr>
          <p:cNvPr id="45" name="TextBox 44"/>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33</a:t>
            </a:r>
          </a:p>
        </p:txBody>
      </p:sp>
      <p:sp>
        <p:nvSpPr>
          <p:cNvPr id="46" name="Rounded Rectangle 45"/>
          <p:cNvSpPr/>
          <p:nvPr/>
        </p:nvSpPr>
        <p:spPr>
          <a:xfrm>
            <a:off x="9357055" y="274320"/>
            <a:ext cx="1737360" cy="292608"/>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3 · THE PLAN</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Challenge 3: A reference price source</a:t>
            </a:r>
          </a:p>
        </p:txBody>
      </p:sp>
      <p:sp>
        <p:nvSpPr>
          <p:cNvPr id="3" name="Rounded Rectangle 2"/>
          <p:cNvSpPr/>
          <p:nvPr/>
        </p:nvSpPr>
        <p:spPr>
          <a:xfrm>
            <a:off x="548640" y="1325880"/>
            <a:ext cx="5760720" cy="10972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5303520" cy="914400"/>
          </a:xfrm>
          <a:prstGeom prst="rect">
            <a:avLst/>
          </a:prstGeom>
          <a:noFill/>
        </p:spPr>
        <p:txBody>
          <a:bodyPr wrap="square" anchor="ctr" lIns="0" rIns="0" tIns="0" bIns="0">
            <a:spAutoFit/>
          </a:bodyPr>
          <a:lstStyle/>
          <a:p>
            <a:pPr algn="l">
              <a:spcAft>
                <a:spcPts val="600"/>
              </a:spcAft>
            </a:pPr>
            <a:r>
              <a:rPr sz="1500" b="0" i="0">
                <a:solidFill>
                  <a:srgbClr val="1F2937"/>
                </a:solidFill>
                <a:latin typeface="Kaspersky Sans Display"/>
              </a:rPr>
              <a:t>Room to grow, price cap and projections need the MSRP at any date. Every analysis must take it from the same agreed source.</a:t>
            </a:r>
          </a:p>
        </p:txBody>
      </p:sp>
      <p:sp>
        <p:nvSpPr>
          <p:cNvPr id="5" name="TextBox 4"/>
          <p:cNvSpPr txBox="1"/>
          <p:nvPr/>
        </p:nvSpPr>
        <p:spPr>
          <a:xfrm>
            <a:off x="548640" y="2606040"/>
            <a:ext cx="5760720" cy="320040"/>
          </a:xfrm>
          <a:prstGeom prst="rect">
            <a:avLst/>
          </a:prstGeom>
          <a:noFill/>
        </p:spPr>
        <p:txBody>
          <a:bodyPr wrap="square" anchor="t" lIns="0" rIns="0" tIns="0" bIns="0">
            <a:spAutoFit/>
          </a:bodyPr>
          <a:lstStyle/>
          <a:p>
            <a:pPr algn="l">
              <a:spcAft>
                <a:spcPts val="600"/>
              </a:spcAft>
            </a:pPr>
            <a:r>
              <a:rPr sz="1400" b="1" i="0">
                <a:solidFill>
                  <a:srgbClr val="5B6472"/>
                </a:solidFill>
                <a:latin typeface="Kaspersky Sans Display"/>
              </a:rPr>
              <a:t>What the source must give</a:t>
            </a:r>
          </a:p>
        </p:txBody>
      </p:sp>
      <p:sp>
        <p:nvSpPr>
          <p:cNvPr id="6" name="Rounded Rectangle 5"/>
          <p:cNvSpPr/>
          <p:nvPr/>
        </p:nvSpPr>
        <p:spPr>
          <a:xfrm>
            <a:off x="548640" y="2971800"/>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13232" y="3081528"/>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a</a:t>
            </a:r>
          </a:p>
        </p:txBody>
      </p:sp>
      <p:sp>
        <p:nvSpPr>
          <p:cNvPr id="8" name="TextBox 7"/>
          <p:cNvSpPr txBox="1"/>
          <p:nvPr/>
        </p:nvSpPr>
        <p:spPr>
          <a:xfrm>
            <a:off x="1188719" y="3063240"/>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One reference</a:t>
            </a:r>
          </a:p>
        </p:txBody>
      </p:sp>
      <p:sp>
        <p:nvSpPr>
          <p:cNvPr id="9" name="TextBox 8"/>
          <p:cNvSpPr txBox="1"/>
          <p:nvPr/>
        </p:nvSpPr>
        <p:spPr>
          <a:xfrm>
            <a:off x="1188719" y="3429000"/>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One agreed source, so two analyses never use two different prices.</a:t>
            </a:r>
          </a:p>
        </p:txBody>
      </p:sp>
      <p:sp>
        <p:nvSpPr>
          <p:cNvPr id="10" name="Rounded Rectangle 9"/>
          <p:cNvSpPr/>
          <p:nvPr/>
        </p:nvSpPr>
        <p:spPr>
          <a:xfrm>
            <a:off x="548640" y="4041648"/>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13232" y="4151376"/>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b</a:t>
            </a:r>
          </a:p>
        </p:txBody>
      </p:sp>
      <p:sp>
        <p:nvSpPr>
          <p:cNvPr id="12" name="TextBox 11"/>
          <p:cNvSpPr txBox="1"/>
          <p:nvPr/>
        </p:nvSpPr>
        <p:spPr>
          <a:xfrm>
            <a:off x="1188719" y="4133087"/>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The price at any date</a:t>
            </a:r>
          </a:p>
        </p:txBody>
      </p:sp>
      <p:sp>
        <p:nvSpPr>
          <p:cNvPr id="13" name="TextBox 12"/>
          <p:cNvSpPr txBox="1"/>
          <p:nvPr/>
        </p:nvSpPr>
        <p:spPr>
          <a:xfrm>
            <a:off x="1188719" y="4498848"/>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Minimum: a snapshot at a moment. Ideal: the full history, valid from and to, with time.</a:t>
            </a:r>
          </a:p>
        </p:txBody>
      </p:sp>
      <p:sp>
        <p:nvSpPr>
          <p:cNvPr id="14" name="Rounded Rectangle 13"/>
          <p:cNvSpPr/>
          <p:nvPr/>
        </p:nvSpPr>
        <p:spPr>
          <a:xfrm>
            <a:off x="548640" y="5111496"/>
            <a:ext cx="5760720" cy="96012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3232" y="5221224"/>
            <a:ext cx="347472" cy="3474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c</a:t>
            </a:r>
          </a:p>
        </p:txBody>
      </p:sp>
      <p:sp>
        <p:nvSpPr>
          <p:cNvPr id="16" name="TextBox 15"/>
          <p:cNvSpPr txBox="1"/>
          <p:nvPr/>
        </p:nvSpPr>
        <p:spPr>
          <a:xfrm>
            <a:off x="1188719" y="5202936"/>
            <a:ext cx="3566160"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Same basis as the transaction</a:t>
            </a:r>
          </a:p>
        </p:txBody>
      </p:sp>
      <p:sp>
        <p:nvSpPr>
          <p:cNvPr id="17" name="TextBox 16"/>
          <p:cNvSpPr txBox="1"/>
          <p:nvPr/>
        </p:nvSpPr>
        <p:spPr>
          <a:xfrm>
            <a:off x="1188719" y="5568696"/>
            <a:ext cx="4937759" cy="50292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Same products, regions, currencies and tax basis as the transaction model.</a:t>
            </a:r>
          </a:p>
        </p:txBody>
      </p:sp>
      <p:sp>
        <p:nvSpPr>
          <p:cNvPr id="18" name="TextBox 17"/>
          <p:cNvSpPr txBox="1"/>
          <p:nvPr/>
        </p:nvSpPr>
        <p:spPr>
          <a:xfrm>
            <a:off x="548640" y="6263640"/>
            <a:ext cx="5760720" cy="320040"/>
          </a:xfrm>
          <a:prstGeom prst="rect">
            <a:avLst/>
          </a:prstGeom>
          <a:noFill/>
        </p:spPr>
        <p:txBody>
          <a:bodyPr wrap="square" anchor="t" lIns="0" rIns="0" tIns="0" bIns="0">
            <a:spAutoFit/>
          </a:bodyPr>
          <a:lstStyle/>
          <a:p>
            <a:pPr algn="l">
              <a:spcAft>
                <a:spcPts val="600"/>
              </a:spcAft>
            </a:pPr>
            <a:r>
              <a:rPr sz="1200" b="1" i="0">
                <a:solidFill>
                  <a:srgbClr val="149A7A"/>
                </a:solidFill>
                <a:latin typeface="Kaspersky Sans Display"/>
              </a:rPr>
              <a:t>Closes agreement 6 of the gap.</a:t>
            </a:r>
          </a:p>
        </p:txBody>
      </p:sp>
      <p:sp>
        <p:nvSpPr>
          <p:cNvPr id="19" name="Rounded Rectangle 18"/>
          <p:cNvSpPr/>
          <p:nvPr/>
        </p:nvSpPr>
        <p:spPr>
          <a:xfrm>
            <a:off x="6537960" y="1325880"/>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75120" y="1435607"/>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1</a:t>
            </a:r>
          </a:p>
        </p:txBody>
      </p:sp>
      <p:sp>
        <p:nvSpPr>
          <p:cNvPr id="21" name="TextBox 20"/>
          <p:cNvSpPr txBox="1"/>
          <p:nvPr/>
        </p:nvSpPr>
        <p:spPr>
          <a:xfrm>
            <a:off x="7178040" y="1417320"/>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Explain</a:t>
            </a:r>
            <a:r>
              <a:rPr sz="1200" b="1" i="0">
                <a:solidFill>
                  <a:srgbClr val="3D6FD9"/>
                </a:solidFill>
                <a:latin typeface="Kaspersky Sans Display"/>
              </a:rPr>
              <a:t>  ·  Retention</a:t>
            </a:r>
          </a:p>
        </p:txBody>
      </p:sp>
      <p:sp>
        <p:nvSpPr>
          <p:cNvPr id="22" name="Rounded Rectangle 21"/>
          <p:cNvSpPr/>
          <p:nvPr/>
        </p:nvSpPr>
        <p:spPr>
          <a:xfrm>
            <a:off x="10728655" y="1463039"/>
            <a:ext cx="777240" cy="274320"/>
          </a:xfrm>
          <a:prstGeom prst="roundRect">
            <a:avLst>
              <a:gd name="adj" fmla="val 12000"/>
            </a:avLst>
          </a:prstGeom>
          <a:solidFill>
            <a:srgbClr val="FFFFFF"/>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9A7A"/>
                </a:solidFill>
                <a:latin typeface="Kaspersky Sans Display"/>
              </a:rPr>
              <a:t>Done</a:t>
            </a:r>
          </a:p>
        </p:txBody>
      </p:sp>
      <p:sp>
        <p:nvSpPr>
          <p:cNvPr id="23" name="TextBox 22"/>
          <p:cNvSpPr txBox="1"/>
          <p:nvPr/>
        </p:nvSpPr>
        <p:spPr>
          <a:xfrm>
            <a:off x="7178040" y="1783080"/>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The gaps: the projection and the price cap.</a:t>
            </a:r>
          </a:p>
        </p:txBody>
      </p:sp>
      <p:sp>
        <p:nvSpPr>
          <p:cNvPr id="24" name="Rounded Rectangle 23"/>
          <p:cNvSpPr/>
          <p:nvPr/>
        </p:nvSpPr>
        <p:spPr>
          <a:xfrm>
            <a:off x="6537960" y="2304287"/>
            <a:ext cx="5105095" cy="86868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0" y="2414015"/>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2</a:t>
            </a:r>
          </a:p>
        </p:txBody>
      </p:sp>
      <p:sp>
        <p:nvSpPr>
          <p:cNvPr id="26" name="TextBox 25"/>
          <p:cNvSpPr txBox="1"/>
          <p:nvPr/>
        </p:nvSpPr>
        <p:spPr>
          <a:xfrm>
            <a:off x="7178040" y="2395727"/>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Agree</a:t>
            </a:r>
            <a:r>
              <a:rPr sz="1200" b="1" i="0">
                <a:solidFill>
                  <a:srgbClr val="3D6FD9"/>
                </a:solidFill>
                <a:latin typeface="Kaspersky Sans Display"/>
              </a:rPr>
              <a:t>  ·  Retention + Dmitry</a:t>
            </a:r>
          </a:p>
        </p:txBody>
      </p:sp>
      <p:sp>
        <p:nvSpPr>
          <p:cNvPr id="27" name="Rounded Rectangle 26"/>
          <p:cNvSpPr/>
          <p:nvPr/>
        </p:nvSpPr>
        <p:spPr>
          <a:xfrm>
            <a:off x="10728655" y="2441447"/>
            <a:ext cx="777240" cy="274320"/>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Today</a:t>
            </a:r>
          </a:p>
        </p:txBody>
      </p:sp>
      <p:sp>
        <p:nvSpPr>
          <p:cNvPr id="28" name="TextBox 27"/>
          <p:cNvSpPr txBox="1"/>
          <p:nvPr/>
        </p:nvSpPr>
        <p:spPr>
          <a:xfrm>
            <a:off x="7178040" y="2761487"/>
            <a:ext cx="4327855" cy="411480"/>
          </a:xfrm>
          <a:prstGeom prst="rect">
            <a:avLst/>
          </a:prstGeom>
          <a:noFill/>
        </p:spPr>
        <p:txBody>
          <a:bodyPr wrap="square" anchor="t" lIns="0" rIns="0" tIns="0" bIns="0">
            <a:spAutoFit/>
          </a:bodyPr>
          <a:lstStyle/>
          <a:p>
            <a:pPr algn="l">
              <a:spcAft>
                <a:spcPts val="600"/>
              </a:spcAft>
            </a:pPr>
            <a:r>
              <a:rPr sz="1200" b="1" i="0">
                <a:solidFill>
                  <a:srgbClr val="1F2937"/>
                </a:solidFill>
                <a:latin typeface="Kaspersky Sans Display"/>
              </a:rPr>
              <a:t>We understand and share this challenge.</a:t>
            </a:r>
          </a:p>
        </p:txBody>
      </p:sp>
      <p:sp>
        <p:nvSpPr>
          <p:cNvPr id="29" name="Rounded Rectangle 28"/>
          <p:cNvSpPr/>
          <p:nvPr/>
        </p:nvSpPr>
        <p:spPr>
          <a:xfrm>
            <a:off x="6537960" y="3282696"/>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75120" y="3392424"/>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3</a:t>
            </a:r>
          </a:p>
        </p:txBody>
      </p:sp>
      <p:sp>
        <p:nvSpPr>
          <p:cNvPr id="31" name="TextBox 30"/>
          <p:cNvSpPr txBox="1"/>
          <p:nvPr/>
        </p:nvSpPr>
        <p:spPr>
          <a:xfrm>
            <a:off x="7178040" y="3374136"/>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Redirect</a:t>
            </a:r>
            <a:r>
              <a:rPr sz="1200" b="1" i="0">
                <a:solidFill>
                  <a:srgbClr val="3D6FD9"/>
                </a:solidFill>
                <a:latin typeface="Kaspersky Sans Display"/>
              </a:rPr>
              <a:t>  ·  Retention + Dmitry</a:t>
            </a:r>
          </a:p>
        </p:txBody>
      </p:sp>
      <p:sp>
        <p:nvSpPr>
          <p:cNvPr id="32" name="Rounded Rectangle 31"/>
          <p:cNvSpPr/>
          <p:nvPr/>
        </p:nvSpPr>
        <p:spPr>
          <a:xfrm>
            <a:off x="10728655" y="3419856"/>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3" name="TextBox 32"/>
          <p:cNvSpPr txBox="1"/>
          <p:nvPr/>
        </p:nvSpPr>
        <p:spPr>
          <a:xfrm>
            <a:off x="7178040" y="3739896"/>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Price list owners. Names to confirm.</a:t>
            </a:r>
          </a:p>
        </p:txBody>
      </p:sp>
      <p:sp>
        <p:nvSpPr>
          <p:cNvPr id="34" name="Rounded Rectangle 33"/>
          <p:cNvSpPr/>
          <p:nvPr/>
        </p:nvSpPr>
        <p:spPr>
          <a:xfrm>
            <a:off x="6537960" y="4261103"/>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75120" y="4370831"/>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4</a:t>
            </a:r>
          </a:p>
        </p:txBody>
      </p:sp>
      <p:sp>
        <p:nvSpPr>
          <p:cNvPr id="36" name="TextBox 35"/>
          <p:cNvSpPr txBox="1"/>
          <p:nvPr/>
        </p:nvSpPr>
        <p:spPr>
          <a:xfrm>
            <a:off x="7178040" y="4352543"/>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Expert plan</a:t>
            </a:r>
            <a:r>
              <a:rPr sz="1200" b="1" i="0">
                <a:solidFill>
                  <a:srgbClr val="3D6FD9"/>
                </a:solidFill>
                <a:latin typeface="Kaspersky Sans Display"/>
              </a:rPr>
              <a:t>  ·  Experts</a:t>
            </a:r>
          </a:p>
        </p:txBody>
      </p:sp>
      <p:sp>
        <p:nvSpPr>
          <p:cNvPr id="37" name="Rounded Rectangle 36"/>
          <p:cNvSpPr/>
          <p:nvPr/>
        </p:nvSpPr>
        <p:spPr>
          <a:xfrm>
            <a:off x="10728655" y="4398264"/>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8" name="TextBox 37"/>
          <p:cNvSpPr txBox="1"/>
          <p:nvPr/>
        </p:nvSpPr>
        <p:spPr>
          <a:xfrm>
            <a:off x="7178040" y="4718303"/>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Which source is the reference, and how its history is kept.</a:t>
            </a:r>
          </a:p>
        </p:txBody>
      </p:sp>
      <p:sp>
        <p:nvSpPr>
          <p:cNvPr id="39" name="Rounded Rectangle 38"/>
          <p:cNvSpPr/>
          <p:nvPr/>
        </p:nvSpPr>
        <p:spPr>
          <a:xfrm>
            <a:off x="6537960" y="5239512"/>
            <a:ext cx="5105095" cy="8686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675120" y="5349240"/>
            <a:ext cx="365760" cy="36576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200" b="1" i="0">
                <a:solidFill>
                  <a:srgbClr val="14171C"/>
                </a:solidFill>
                <a:latin typeface="Kaspersky Sans Display"/>
              </a:rPr>
              <a:t>5</a:t>
            </a:r>
          </a:p>
        </p:txBody>
      </p:sp>
      <p:sp>
        <p:nvSpPr>
          <p:cNvPr id="41" name="TextBox 40"/>
          <p:cNvSpPr txBox="1"/>
          <p:nvPr/>
        </p:nvSpPr>
        <p:spPr>
          <a:xfrm>
            <a:off x="7178040" y="5330951"/>
            <a:ext cx="3413455" cy="365760"/>
          </a:xfrm>
          <a:prstGeom prst="rect">
            <a:avLst/>
          </a:prstGeom>
          <a:noFill/>
        </p:spPr>
        <p:txBody>
          <a:bodyPr wrap="square" anchor="ctr" lIns="0" rIns="0" tIns="0" bIns="0">
            <a:spAutoFit/>
          </a:bodyPr>
          <a:lstStyle/>
          <a:p>
            <a:pPr algn="l">
              <a:spcAft>
                <a:spcPts val="600"/>
              </a:spcAft>
            </a:pPr>
            <a:r>
              <a:rPr sz="1400" b="1" i="0">
                <a:solidFill>
                  <a:srgbClr val="1F2937"/>
                </a:solidFill>
                <a:latin typeface="Kaspersky Sans Display"/>
              </a:rPr>
              <a:t>Implement</a:t>
            </a:r>
            <a:r>
              <a:rPr sz="1200" b="1" i="0">
                <a:solidFill>
                  <a:srgbClr val="3D6FD9"/>
                </a:solidFill>
                <a:latin typeface="Kaspersky Sans Display"/>
              </a:rPr>
              <a:t>  ·  Dmitry's team</a:t>
            </a:r>
          </a:p>
        </p:txBody>
      </p:sp>
      <p:sp>
        <p:nvSpPr>
          <p:cNvPr id="42" name="Rounded Rectangle 41"/>
          <p:cNvSpPr/>
          <p:nvPr/>
        </p:nvSpPr>
        <p:spPr>
          <a:xfrm>
            <a:off x="10728655" y="5376672"/>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43" name="TextBox 42"/>
          <p:cNvSpPr txBox="1"/>
          <p:nvPr/>
        </p:nvSpPr>
        <p:spPr>
          <a:xfrm>
            <a:off x="7178040" y="5696712"/>
            <a:ext cx="4327855" cy="411480"/>
          </a:xfrm>
          <a:prstGeom prst="rect">
            <a:avLst/>
          </a:prstGeom>
          <a:noFill/>
        </p:spPr>
        <p:txBody>
          <a:bodyPr wrap="square" anchor="t" lIns="0" rIns="0" tIns="0" bIns="0">
            <a:spAutoFit/>
          </a:bodyPr>
          <a:lstStyle/>
          <a:p>
            <a:pPr algn="l">
              <a:spcAft>
                <a:spcPts val="600"/>
              </a:spcAft>
            </a:pPr>
            <a:r>
              <a:rPr sz="1200" b="0" i="0">
                <a:solidFill>
                  <a:srgbClr val="5B6472"/>
                </a:solidFill>
                <a:latin typeface="Kaspersky Sans Display"/>
              </a:rPr>
              <a:t>The price list by date, refreshed daily, next to the transactions.</a:t>
            </a:r>
          </a:p>
        </p:txBody>
      </p:sp>
      <p:sp>
        <p:nvSpPr>
          <p:cNvPr id="44" name="TextBox 43"/>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34</a:t>
            </a:r>
          </a:p>
        </p:txBody>
      </p:sp>
      <p:sp>
        <p:nvSpPr>
          <p:cNvPr id="45" name="Rounded Rectangle 44"/>
          <p:cNvSpPr/>
          <p:nvPr/>
        </p:nvSpPr>
        <p:spPr>
          <a:xfrm>
            <a:off x="9357055" y="274320"/>
            <a:ext cx="1737360" cy="292608"/>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3 · THE PLAN</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Retention's criteria for the daily data</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The data is ready for Retention only when all of them hold</a:t>
            </a:r>
          </a:p>
        </p:txBody>
      </p:sp>
      <p:sp>
        <p:nvSpPr>
          <p:cNvPr id="4" name="Rounded Rectangle 3"/>
          <p:cNvSpPr/>
          <p:nvPr/>
        </p:nvSpPr>
        <p:spPr>
          <a:xfrm>
            <a:off x="548640" y="1600200"/>
            <a:ext cx="5410047" cy="4343400"/>
          </a:xfrm>
          <a:prstGeom prst="roundRect">
            <a:avLst>
              <a:gd name="adj" fmla="val 12000"/>
            </a:avLst>
          </a:prstGeom>
          <a:solidFill>
            <a:srgbClr val="F1F3F6"/>
          </a:solidFill>
          <a:ln w="19050">
            <a:solidFill>
              <a:srgbClr val="3BA8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755648"/>
            <a:ext cx="4861407" cy="411480"/>
          </a:xfrm>
          <a:prstGeom prst="rect">
            <a:avLst/>
          </a:prstGeom>
          <a:noFill/>
        </p:spPr>
        <p:txBody>
          <a:bodyPr wrap="square" anchor="t" lIns="0" rIns="0" tIns="0" bIns="0">
            <a:spAutoFit/>
          </a:bodyPr>
          <a:lstStyle/>
          <a:p>
            <a:pPr algn="l">
              <a:spcAft>
                <a:spcPts val="600"/>
              </a:spcAft>
            </a:pPr>
            <a:r>
              <a:rPr sz="1800" b="1" i="0">
                <a:solidFill>
                  <a:srgbClr val="3BA8DE"/>
                </a:solidFill>
                <a:latin typeface="Kaspersky Sans Display"/>
              </a:rPr>
              <a:t>Content</a:t>
            </a:r>
          </a:p>
        </p:txBody>
      </p:sp>
      <p:sp>
        <p:nvSpPr>
          <p:cNvPr id="6" name="Oval 5"/>
          <p:cNvSpPr/>
          <p:nvPr/>
        </p:nvSpPr>
        <p:spPr>
          <a:xfrm>
            <a:off x="822959" y="2359151"/>
            <a:ext cx="411480" cy="411480"/>
          </a:xfrm>
          <a:prstGeom prst="ellipse">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1</a:t>
            </a:r>
          </a:p>
        </p:txBody>
      </p:sp>
      <p:sp>
        <p:nvSpPr>
          <p:cNvPr id="7" name="TextBox 6"/>
          <p:cNvSpPr txBox="1"/>
          <p:nvPr/>
        </p:nvSpPr>
        <p:spPr>
          <a:xfrm>
            <a:off x="1417319" y="2331720"/>
            <a:ext cx="4267047" cy="82296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Every transaction follows the transaction model (definitions in the need).</a:t>
            </a:r>
          </a:p>
        </p:txBody>
      </p:sp>
      <p:sp>
        <p:nvSpPr>
          <p:cNvPr id="8" name="Oval 7"/>
          <p:cNvSpPr/>
          <p:nvPr/>
        </p:nvSpPr>
        <p:spPr>
          <a:xfrm>
            <a:off x="822959" y="3255263"/>
            <a:ext cx="411480" cy="411480"/>
          </a:xfrm>
          <a:prstGeom prst="ellipse">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2</a:t>
            </a:r>
          </a:p>
        </p:txBody>
      </p:sp>
      <p:sp>
        <p:nvSpPr>
          <p:cNvPr id="9" name="TextBox 8"/>
          <p:cNvSpPr txBox="1"/>
          <p:nvPr/>
        </p:nvSpPr>
        <p:spPr>
          <a:xfrm>
            <a:off x="1417319" y="3227832"/>
            <a:ext cx="4267047" cy="82296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The MSRP is the one valid at the transaction time, with taxes, on the same tax basis as the amount paid. The VAT rate is stored, also when it is 0.</a:t>
            </a:r>
          </a:p>
        </p:txBody>
      </p:sp>
      <p:sp>
        <p:nvSpPr>
          <p:cNvPr id="10" name="Oval 9"/>
          <p:cNvSpPr/>
          <p:nvPr/>
        </p:nvSpPr>
        <p:spPr>
          <a:xfrm>
            <a:off x="822959" y="4151376"/>
            <a:ext cx="411480" cy="411480"/>
          </a:xfrm>
          <a:prstGeom prst="ellipse">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3</a:t>
            </a:r>
          </a:p>
        </p:txBody>
      </p:sp>
      <p:sp>
        <p:nvSpPr>
          <p:cNvPr id="11" name="TextBox 10"/>
          <p:cNvSpPr txBox="1"/>
          <p:nvPr/>
        </p:nvSpPr>
        <p:spPr>
          <a:xfrm>
            <a:off x="1417319" y="4123944"/>
            <a:ext cx="4267047" cy="82296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Checks C0 to C6 pass within ±0.01. Rows that fail are flagged, not removed.</a:t>
            </a:r>
          </a:p>
        </p:txBody>
      </p:sp>
      <p:sp>
        <p:nvSpPr>
          <p:cNvPr id="12" name="Oval 11"/>
          <p:cNvSpPr/>
          <p:nvPr/>
        </p:nvSpPr>
        <p:spPr>
          <a:xfrm>
            <a:off x="822959" y="5047488"/>
            <a:ext cx="411480" cy="411480"/>
          </a:xfrm>
          <a:prstGeom prst="ellipse">
            <a:avLst/>
          </a:prstGeom>
          <a:solidFill>
            <a:srgbClr val="3BA8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4</a:t>
            </a:r>
          </a:p>
        </p:txBody>
      </p:sp>
      <p:sp>
        <p:nvSpPr>
          <p:cNvPr id="13" name="TextBox 12"/>
          <p:cNvSpPr txBox="1"/>
          <p:nvPr/>
        </p:nvSpPr>
        <p:spPr>
          <a:xfrm>
            <a:off x="1417319" y="5020056"/>
            <a:ext cx="4267047" cy="82296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The price list can be queried at any date, for the same products, regions and currencies.</a:t>
            </a:r>
          </a:p>
        </p:txBody>
      </p:sp>
      <p:sp>
        <p:nvSpPr>
          <p:cNvPr id="14" name="Rounded Rectangle 13"/>
          <p:cNvSpPr/>
          <p:nvPr/>
        </p:nvSpPr>
        <p:spPr>
          <a:xfrm>
            <a:off x="6233007" y="1600200"/>
            <a:ext cx="5410047" cy="4343400"/>
          </a:xfrm>
          <a:prstGeom prst="roundRect">
            <a:avLst>
              <a:gd name="adj" fmla="val 12000"/>
            </a:avLst>
          </a:prstGeom>
          <a:solidFill>
            <a:srgbClr val="F1F3F6"/>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07327" y="1755648"/>
            <a:ext cx="4861407" cy="411480"/>
          </a:xfrm>
          <a:prstGeom prst="rect">
            <a:avLst/>
          </a:prstGeom>
          <a:noFill/>
        </p:spPr>
        <p:txBody>
          <a:bodyPr wrap="square" anchor="t" lIns="0" rIns="0" tIns="0" bIns="0">
            <a:spAutoFit/>
          </a:bodyPr>
          <a:lstStyle/>
          <a:p>
            <a:pPr algn="l">
              <a:spcAft>
                <a:spcPts val="600"/>
              </a:spcAft>
            </a:pPr>
            <a:r>
              <a:rPr sz="1800" b="1" i="0">
                <a:solidFill>
                  <a:srgbClr val="EC7A3C"/>
                </a:solidFill>
                <a:latin typeface="Kaspersky Sans Display"/>
              </a:rPr>
              <a:t>Delivery</a:t>
            </a:r>
          </a:p>
        </p:txBody>
      </p:sp>
      <p:sp>
        <p:nvSpPr>
          <p:cNvPr id="16" name="Oval 15"/>
          <p:cNvSpPr/>
          <p:nvPr/>
        </p:nvSpPr>
        <p:spPr>
          <a:xfrm>
            <a:off x="6507327" y="2359151"/>
            <a:ext cx="411480" cy="41148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5</a:t>
            </a:r>
          </a:p>
        </p:txBody>
      </p:sp>
      <p:sp>
        <p:nvSpPr>
          <p:cNvPr id="17" name="TextBox 16"/>
          <p:cNvSpPr txBox="1"/>
          <p:nvPr/>
        </p:nvSpPr>
        <p:spPr>
          <a:xfrm>
            <a:off x="7101687" y="2331720"/>
            <a:ext cx="4267047" cy="82296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Updated every day.</a:t>
            </a:r>
          </a:p>
        </p:txBody>
      </p:sp>
      <p:sp>
        <p:nvSpPr>
          <p:cNvPr id="18" name="Oval 17"/>
          <p:cNvSpPr/>
          <p:nvPr/>
        </p:nvSpPr>
        <p:spPr>
          <a:xfrm>
            <a:off x="6507327" y="3255263"/>
            <a:ext cx="411480" cy="41148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6</a:t>
            </a:r>
          </a:p>
        </p:txBody>
      </p:sp>
      <p:sp>
        <p:nvSpPr>
          <p:cNvPr id="19" name="TextBox 18"/>
          <p:cNvSpPr txBox="1"/>
          <p:nvPr/>
        </p:nvSpPr>
        <p:spPr>
          <a:xfrm>
            <a:off x="7101687" y="3227832"/>
            <a:ext cx="4267047" cy="82296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Coverage by provider, every day. Nexway close to 100%; a target agreed for the others.</a:t>
            </a:r>
          </a:p>
        </p:txBody>
      </p:sp>
      <p:sp>
        <p:nvSpPr>
          <p:cNvPr id="20" name="Oval 19"/>
          <p:cNvSpPr/>
          <p:nvPr/>
        </p:nvSpPr>
        <p:spPr>
          <a:xfrm>
            <a:off x="6507327" y="4151376"/>
            <a:ext cx="411480" cy="41148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300" b="1" i="0">
                <a:solidFill>
                  <a:srgbClr val="14171C"/>
                </a:solidFill>
                <a:latin typeface="Kaspersky Sans Display"/>
              </a:rPr>
              <a:t>7</a:t>
            </a:r>
          </a:p>
        </p:txBody>
      </p:sp>
      <p:sp>
        <p:nvSpPr>
          <p:cNvPr id="21" name="TextBox 20"/>
          <p:cNvSpPr txBox="1"/>
          <p:nvPr/>
        </p:nvSpPr>
        <p:spPr>
          <a:xfrm>
            <a:off x="7101687" y="4123944"/>
            <a:ext cx="4267047" cy="822960"/>
          </a:xfrm>
          <a:prstGeom prst="rect">
            <a:avLst/>
          </a:prstGeom>
          <a:noFill/>
        </p:spPr>
        <p:txBody>
          <a:bodyPr wrap="square" anchor="t" lIns="0" rIns="0" tIns="0" bIns="0">
            <a:spAutoFit/>
          </a:bodyPr>
          <a:lstStyle/>
          <a:p>
            <a:pPr algn="l">
              <a:spcAft>
                <a:spcPts val="600"/>
              </a:spcAft>
            </a:pPr>
            <a:r>
              <a:rPr sz="1500" b="0" i="0">
                <a:solidFill>
                  <a:srgbClr val="1F2937"/>
                </a:solidFill>
                <a:latin typeface="Kaspersky Sans Display"/>
              </a:rPr>
              <a:t>Any change in definitions or sources is agreed with Retention first.</a:t>
            </a:r>
          </a:p>
        </p:txBody>
      </p:sp>
      <p:sp>
        <p:nvSpPr>
          <p:cNvPr id="22" name="TextBox 21"/>
          <p:cNvSpPr txBox="1"/>
          <p:nvPr/>
        </p:nvSpPr>
        <p:spPr>
          <a:xfrm>
            <a:off x="548640" y="6126480"/>
            <a:ext cx="11094415" cy="411480"/>
          </a:xfrm>
          <a:prstGeom prst="rect">
            <a:avLst/>
          </a:prstGeom>
          <a:noFill/>
        </p:spPr>
        <p:txBody>
          <a:bodyPr wrap="square" anchor="t" lIns="0" rIns="0" tIns="0" bIns="0">
            <a:spAutoFit/>
          </a:bodyPr>
          <a:lstStyle/>
          <a:p>
            <a:pPr algn="l">
              <a:spcAft>
                <a:spcPts val="600"/>
              </a:spcAft>
            </a:pPr>
            <a:r>
              <a:rPr sz="1600" b="1" i="0">
                <a:solidFill>
                  <a:srgbClr val="1F2937"/>
                </a:solidFill>
                <a:latin typeface="Kaspersky Sans Display"/>
              </a:rPr>
              <a:t>These are the acceptance criteria for the implementation plan with Dmitry's team.</a:t>
            </a:r>
          </a:p>
        </p:txBody>
      </p:sp>
      <p:sp>
        <p:nvSpPr>
          <p:cNvPr id="23" name="TextBox 22"/>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35</a:t>
            </a:r>
          </a:p>
        </p:txBody>
      </p:sp>
      <p:sp>
        <p:nvSpPr>
          <p:cNvPr id="24" name="Rounded Rectangle 23"/>
          <p:cNvSpPr/>
          <p:nvPr/>
        </p:nvSpPr>
        <p:spPr>
          <a:xfrm>
            <a:off x="9357055" y="274320"/>
            <a:ext cx="1737360" cy="292608"/>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3 · THE PLAN</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685800"/>
          </a:xfrm>
          <a:prstGeom prst="rect">
            <a:avLst/>
          </a:prstGeom>
          <a:noFill/>
        </p:spPr>
        <p:txBody>
          <a:bodyPr wrap="square" anchor="b" lIns="0" rIns="0" tIns="0" bIns="0">
            <a:spAutoFit/>
          </a:bodyPr>
          <a:lstStyle/>
          <a:p>
            <a:pPr algn="l">
              <a:spcAft>
                <a:spcPts val="600"/>
              </a:spcAft>
            </a:pPr>
            <a:r>
              <a:rPr sz="3000" b="1" i="0">
                <a:solidFill>
                  <a:srgbClr val="1F2937"/>
                </a:solidFill>
                <a:latin typeface="Kaspersky Sans Display"/>
              </a:rPr>
              <a:t>The plan and where we are</a:t>
            </a:r>
          </a:p>
        </p:txBody>
      </p:sp>
      <p:sp>
        <p:nvSpPr>
          <p:cNvPr id="3" name="TextBox 2"/>
          <p:cNvSpPr txBox="1"/>
          <p:nvPr/>
        </p:nvSpPr>
        <p:spPr>
          <a:xfrm>
            <a:off x="548640" y="1078992"/>
            <a:ext cx="11094415" cy="365760"/>
          </a:xfrm>
          <a:prstGeom prst="rect">
            <a:avLst/>
          </a:prstGeom>
          <a:noFill/>
        </p:spPr>
        <p:txBody>
          <a:bodyPr wrap="square" anchor="t" lIns="0" rIns="0" tIns="0" bIns="0">
            <a:spAutoFit/>
          </a:bodyPr>
          <a:lstStyle/>
          <a:p>
            <a:pPr algn="l">
              <a:spcAft>
                <a:spcPts val="600"/>
              </a:spcAft>
            </a:pPr>
            <a:r>
              <a:rPr sz="1600" b="0" i="0">
                <a:solidFill>
                  <a:srgbClr val="5B6472"/>
                </a:solidFill>
                <a:latin typeface="Kaspersky Sans Display"/>
              </a:rPr>
              <a:t>Three challenges, five steps. Dates for steps 4 and 5 come from the experts</a:t>
            </a:r>
          </a:p>
        </p:txBody>
      </p:sp>
      <p:sp>
        <p:nvSpPr>
          <p:cNvPr id="4" name="Rounded Rectangle 3"/>
          <p:cNvSpPr/>
          <p:nvPr/>
        </p:nvSpPr>
        <p:spPr>
          <a:xfrm>
            <a:off x="548640" y="1600200"/>
            <a:ext cx="11094415" cy="457200"/>
          </a:xfrm>
          <a:prstGeom prst="roundRect">
            <a:avLst>
              <a:gd name="adj" fmla="val 12000"/>
            </a:avLst>
          </a:prstGeom>
          <a:solidFill>
            <a:srgbClr val="141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600200"/>
            <a:ext cx="2194560"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Challenge</a:t>
            </a:r>
          </a:p>
        </p:txBody>
      </p:sp>
      <p:sp>
        <p:nvSpPr>
          <p:cNvPr id="6" name="TextBox 5"/>
          <p:cNvSpPr txBox="1"/>
          <p:nvPr/>
        </p:nvSpPr>
        <p:spPr>
          <a:xfrm>
            <a:off x="3063240" y="1600200"/>
            <a:ext cx="1560515"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1 · Explain</a:t>
            </a:r>
          </a:p>
        </p:txBody>
      </p:sp>
      <p:sp>
        <p:nvSpPr>
          <p:cNvPr id="7" name="TextBox 6"/>
          <p:cNvSpPr txBox="1"/>
          <p:nvPr/>
        </p:nvSpPr>
        <p:spPr>
          <a:xfrm>
            <a:off x="4806635" y="1600200"/>
            <a:ext cx="1560515"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2 · Agree</a:t>
            </a:r>
          </a:p>
        </p:txBody>
      </p:sp>
      <p:sp>
        <p:nvSpPr>
          <p:cNvPr id="8" name="TextBox 7"/>
          <p:cNvSpPr txBox="1"/>
          <p:nvPr/>
        </p:nvSpPr>
        <p:spPr>
          <a:xfrm>
            <a:off x="6550030" y="1600200"/>
            <a:ext cx="1560515"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3 · Redirect</a:t>
            </a:r>
          </a:p>
        </p:txBody>
      </p:sp>
      <p:sp>
        <p:nvSpPr>
          <p:cNvPr id="9" name="TextBox 8"/>
          <p:cNvSpPr txBox="1"/>
          <p:nvPr/>
        </p:nvSpPr>
        <p:spPr>
          <a:xfrm>
            <a:off x="8293425" y="1600200"/>
            <a:ext cx="1560515"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4 · Expert plan</a:t>
            </a:r>
          </a:p>
        </p:txBody>
      </p:sp>
      <p:sp>
        <p:nvSpPr>
          <p:cNvPr id="10" name="TextBox 9"/>
          <p:cNvSpPr txBox="1"/>
          <p:nvPr/>
        </p:nvSpPr>
        <p:spPr>
          <a:xfrm>
            <a:off x="10036820" y="1600200"/>
            <a:ext cx="1560515" cy="457200"/>
          </a:xfrm>
          <a:prstGeom prst="rect">
            <a:avLst/>
          </a:prstGeom>
          <a:noFill/>
        </p:spPr>
        <p:txBody>
          <a:bodyPr wrap="square" anchor="ctr" lIns="0" rIns="0" tIns="0" bIns="0">
            <a:spAutoFit/>
          </a:bodyPr>
          <a:lstStyle/>
          <a:p>
            <a:pPr algn="l">
              <a:spcAft>
                <a:spcPts val="600"/>
              </a:spcAft>
            </a:pPr>
            <a:r>
              <a:rPr sz="1300" b="1" i="0">
                <a:solidFill>
                  <a:srgbClr val="FFFFFF"/>
                </a:solidFill>
                <a:latin typeface="Kaspersky Sans Display"/>
              </a:rPr>
              <a:t>5 · Implement</a:t>
            </a:r>
          </a:p>
        </p:txBody>
      </p:sp>
      <p:sp>
        <p:nvSpPr>
          <p:cNvPr id="11" name="Rounded Rectangle 10"/>
          <p:cNvSpPr/>
          <p:nvPr/>
        </p:nvSpPr>
        <p:spPr>
          <a:xfrm>
            <a:off x="548640" y="2194560"/>
            <a:ext cx="11094415" cy="10972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94560"/>
            <a:ext cx="2148840" cy="1097280"/>
          </a:xfrm>
          <a:prstGeom prst="rect">
            <a:avLst/>
          </a:prstGeom>
          <a:noFill/>
        </p:spPr>
        <p:txBody>
          <a:bodyPr wrap="square" anchor="ctr" lIns="0" rIns="0" tIns="0" bIns="0">
            <a:spAutoFit/>
          </a:bodyPr>
          <a:lstStyle/>
          <a:p>
            <a:pPr algn="l">
              <a:spcAft>
                <a:spcPts val="600"/>
              </a:spcAft>
            </a:pPr>
            <a:r>
              <a:rPr sz="1400" b="1" i="0">
                <a:solidFill>
                  <a:srgbClr val="EC7A3C"/>
                </a:solidFill>
                <a:latin typeface="Kaspersky Sans Display"/>
              </a:rPr>
              <a:t>1  </a:t>
            </a:r>
            <a:r>
              <a:rPr sz="1400" b="1" i="0">
                <a:solidFill>
                  <a:srgbClr val="1F2937"/>
                </a:solidFill>
                <a:latin typeface="Kaspersky Sans Display"/>
              </a:rPr>
              <a:t>The MSRP in the transaction</a:t>
            </a:r>
          </a:p>
        </p:txBody>
      </p:sp>
      <p:sp>
        <p:nvSpPr>
          <p:cNvPr id="13" name="Rounded Rectangle 12"/>
          <p:cNvSpPr/>
          <p:nvPr/>
        </p:nvSpPr>
        <p:spPr>
          <a:xfrm>
            <a:off x="3035808" y="2304288"/>
            <a:ext cx="777240" cy="274320"/>
          </a:xfrm>
          <a:prstGeom prst="roundRect">
            <a:avLst>
              <a:gd name="adj" fmla="val 12000"/>
            </a:avLst>
          </a:prstGeom>
          <a:solidFill>
            <a:srgbClr val="FFFFFF"/>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9A7A"/>
                </a:solidFill>
                <a:latin typeface="Kaspersky Sans Display"/>
              </a:rPr>
              <a:t>Done</a:t>
            </a:r>
          </a:p>
        </p:txBody>
      </p:sp>
      <p:sp>
        <p:nvSpPr>
          <p:cNvPr id="14" name="TextBox 13"/>
          <p:cNvSpPr txBox="1"/>
          <p:nvPr/>
        </p:nvSpPr>
        <p:spPr>
          <a:xfrm>
            <a:off x="3035808" y="2651760"/>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This deck</a:t>
            </a:r>
          </a:p>
        </p:txBody>
      </p:sp>
      <p:sp>
        <p:nvSpPr>
          <p:cNvPr id="15" name="Rounded Rectangle 14"/>
          <p:cNvSpPr/>
          <p:nvPr/>
        </p:nvSpPr>
        <p:spPr>
          <a:xfrm>
            <a:off x="4779203" y="2304288"/>
            <a:ext cx="777240" cy="274320"/>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Today</a:t>
            </a:r>
          </a:p>
        </p:txBody>
      </p:sp>
      <p:sp>
        <p:nvSpPr>
          <p:cNvPr id="16" name="TextBox 15"/>
          <p:cNvSpPr txBox="1"/>
          <p:nvPr/>
        </p:nvSpPr>
        <p:spPr>
          <a:xfrm>
            <a:off x="4779203" y="2651760"/>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Today</a:t>
            </a:r>
          </a:p>
        </p:txBody>
      </p:sp>
      <p:sp>
        <p:nvSpPr>
          <p:cNvPr id="17" name="Rounded Rectangle 16"/>
          <p:cNvSpPr/>
          <p:nvPr/>
        </p:nvSpPr>
        <p:spPr>
          <a:xfrm>
            <a:off x="6522598" y="2304288"/>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18" name="TextBox 17"/>
          <p:cNvSpPr txBox="1"/>
          <p:nvPr/>
        </p:nvSpPr>
        <p:spPr>
          <a:xfrm>
            <a:off x="6522598" y="2651760"/>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Price lists, eComm, Nexway API</a:t>
            </a:r>
          </a:p>
        </p:txBody>
      </p:sp>
      <p:sp>
        <p:nvSpPr>
          <p:cNvPr id="19" name="Rounded Rectangle 18"/>
          <p:cNvSpPr/>
          <p:nvPr/>
        </p:nvSpPr>
        <p:spPr>
          <a:xfrm>
            <a:off x="8265993" y="2304288"/>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20" name="TextBox 19"/>
          <p:cNvSpPr txBox="1"/>
          <p:nvPr/>
        </p:nvSpPr>
        <p:spPr>
          <a:xfrm>
            <a:off x="8265993" y="2651760"/>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Pending</a:t>
            </a:r>
          </a:p>
        </p:txBody>
      </p:sp>
      <p:sp>
        <p:nvSpPr>
          <p:cNvPr id="21" name="Rounded Rectangle 20"/>
          <p:cNvSpPr/>
          <p:nvPr/>
        </p:nvSpPr>
        <p:spPr>
          <a:xfrm>
            <a:off x="10009388" y="2304288"/>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22" name="TextBox 21"/>
          <p:cNvSpPr txBox="1"/>
          <p:nvPr/>
        </p:nvSpPr>
        <p:spPr>
          <a:xfrm>
            <a:off x="10009388" y="2651760"/>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Pending</a:t>
            </a:r>
          </a:p>
        </p:txBody>
      </p:sp>
      <p:sp>
        <p:nvSpPr>
          <p:cNvPr id="23" name="Rounded Rectangle 22"/>
          <p:cNvSpPr/>
          <p:nvPr/>
        </p:nvSpPr>
        <p:spPr>
          <a:xfrm>
            <a:off x="548640" y="3401568"/>
            <a:ext cx="11094415" cy="10972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401568"/>
            <a:ext cx="2148840" cy="1097280"/>
          </a:xfrm>
          <a:prstGeom prst="rect">
            <a:avLst/>
          </a:prstGeom>
          <a:noFill/>
        </p:spPr>
        <p:txBody>
          <a:bodyPr wrap="square" anchor="ctr" lIns="0" rIns="0" tIns="0" bIns="0">
            <a:spAutoFit/>
          </a:bodyPr>
          <a:lstStyle/>
          <a:p>
            <a:pPr algn="l">
              <a:spcAft>
                <a:spcPts val="600"/>
              </a:spcAft>
            </a:pPr>
            <a:r>
              <a:rPr sz="1400" b="1" i="0">
                <a:solidFill>
                  <a:srgbClr val="EC7A3C"/>
                </a:solidFill>
                <a:latin typeface="Kaspersky Sans Display"/>
              </a:rPr>
              <a:t>2  </a:t>
            </a:r>
            <a:r>
              <a:rPr sz="1400" b="1" i="0">
                <a:solidFill>
                  <a:srgbClr val="1F2937"/>
                </a:solidFill>
                <a:latin typeface="Kaspersky Sans Display"/>
              </a:rPr>
              <a:t>Coverage close to 100%, at least for Nexway</a:t>
            </a:r>
          </a:p>
        </p:txBody>
      </p:sp>
      <p:sp>
        <p:nvSpPr>
          <p:cNvPr id="25" name="Rounded Rectangle 24"/>
          <p:cNvSpPr/>
          <p:nvPr/>
        </p:nvSpPr>
        <p:spPr>
          <a:xfrm>
            <a:off x="3035808" y="3511296"/>
            <a:ext cx="777240" cy="274320"/>
          </a:xfrm>
          <a:prstGeom prst="roundRect">
            <a:avLst>
              <a:gd name="adj" fmla="val 12000"/>
            </a:avLst>
          </a:prstGeom>
          <a:solidFill>
            <a:srgbClr val="FFFFFF"/>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9A7A"/>
                </a:solidFill>
                <a:latin typeface="Kaspersky Sans Display"/>
              </a:rPr>
              <a:t>Done</a:t>
            </a:r>
          </a:p>
        </p:txBody>
      </p:sp>
      <p:sp>
        <p:nvSpPr>
          <p:cNvPr id="26" name="TextBox 25"/>
          <p:cNvSpPr txBox="1"/>
          <p:nvPr/>
        </p:nvSpPr>
        <p:spPr>
          <a:xfrm>
            <a:off x="3035808" y="3858768"/>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This deck</a:t>
            </a:r>
          </a:p>
        </p:txBody>
      </p:sp>
      <p:sp>
        <p:nvSpPr>
          <p:cNvPr id="27" name="Rounded Rectangle 26"/>
          <p:cNvSpPr/>
          <p:nvPr/>
        </p:nvSpPr>
        <p:spPr>
          <a:xfrm>
            <a:off x="4779203" y="3511296"/>
            <a:ext cx="777240" cy="274320"/>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Today</a:t>
            </a:r>
          </a:p>
        </p:txBody>
      </p:sp>
      <p:sp>
        <p:nvSpPr>
          <p:cNvPr id="28" name="TextBox 27"/>
          <p:cNvSpPr txBox="1"/>
          <p:nvPr/>
        </p:nvSpPr>
        <p:spPr>
          <a:xfrm>
            <a:off x="4779203" y="3858768"/>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Today</a:t>
            </a:r>
          </a:p>
        </p:txBody>
      </p:sp>
      <p:sp>
        <p:nvSpPr>
          <p:cNvPr id="29" name="Rounded Rectangle 28"/>
          <p:cNvSpPr/>
          <p:nvPr/>
        </p:nvSpPr>
        <p:spPr>
          <a:xfrm>
            <a:off x="6522598" y="3511296"/>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0" name="TextBox 29"/>
          <p:cNvSpPr txBox="1"/>
          <p:nvPr/>
        </p:nvSpPr>
        <p:spPr>
          <a:xfrm>
            <a:off x="6522598" y="3858768"/>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Dmitry's team measures; source owners</a:t>
            </a:r>
          </a:p>
        </p:txBody>
      </p:sp>
      <p:sp>
        <p:nvSpPr>
          <p:cNvPr id="31" name="Rounded Rectangle 30"/>
          <p:cNvSpPr/>
          <p:nvPr/>
        </p:nvSpPr>
        <p:spPr>
          <a:xfrm>
            <a:off x="8265993" y="3511296"/>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2" name="TextBox 31"/>
          <p:cNvSpPr txBox="1"/>
          <p:nvPr/>
        </p:nvSpPr>
        <p:spPr>
          <a:xfrm>
            <a:off x="8265993" y="3858768"/>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Pending</a:t>
            </a:r>
          </a:p>
        </p:txBody>
      </p:sp>
      <p:sp>
        <p:nvSpPr>
          <p:cNvPr id="33" name="Rounded Rectangle 32"/>
          <p:cNvSpPr/>
          <p:nvPr/>
        </p:nvSpPr>
        <p:spPr>
          <a:xfrm>
            <a:off x="10009388" y="3511296"/>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34" name="TextBox 33"/>
          <p:cNvSpPr txBox="1"/>
          <p:nvPr/>
        </p:nvSpPr>
        <p:spPr>
          <a:xfrm>
            <a:off x="10009388" y="3858768"/>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Pending</a:t>
            </a:r>
          </a:p>
        </p:txBody>
      </p:sp>
      <p:sp>
        <p:nvSpPr>
          <p:cNvPr id="35" name="Rounded Rectangle 34"/>
          <p:cNvSpPr/>
          <p:nvPr/>
        </p:nvSpPr>
        <p:spPr>
          <a:xfrm>
            <a:off x="548640" y="4608575"/>
            <a:ext cx="11094415" cy="1097280"/>
          </a:xfrm>
          <a:prstGeom prst="roundRect">
            <a:avLst>
              <a:gd name="adj" fmla="val 12000"/>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608575"/>
            <a:ext cx="2148840" cy="1097280"/>
          </a:xfrm>
          <a:prstGeom prst="rect">
            <a:avLst/>
          </a:prstGeom>
          <a:noFill/>
        </p:spPr>
        <p:txBody>
          <a:bodyPr wrap="square" anchor="ctr" lIns="0" rIns="0" tIns="0" bIns="0">
            <a:spAutoFit/>
          </a:bodyPr>
          <a:lstStyle/>
          <a:p>
            <a:pPr algn="l">
              <a:spcAft>
                <a:spcPts val="600"/>
              </a:spcAft>
            </a:pPr>
            <a:r>
              <a:rPr sz="1400" b="1" i="0">
                <a:solidFill>
                  <a:srgbClr val="EC7A3C"/>
                </a:solidFill>
                <a:latin typeface="Kaspersky Sans Display"/>
              </a:rPr>
              <a:t>3  </a:t>
            </a:r>
            <a:r>
              <a:rPr sz="1400" b="1" i="0">
                <a:solidFill>
                  <a:srgbClr val="1F2937"/>
                </a:solidFill>
                <a:latin typeface="Kaspersky Sans Display"/>
              </a:rPr>
              <a:t>A reference price source</a:t>
            </a:r>
          </a:p>
        </p:txBody>
      </p:sp>
      <p:sp>
        <p:nvSpPr>
          <p:cNvPr id="37" name="Rounded Rectangle 36"/>
          <p:cNvSpPr/>
          <p:nvPr/>
        </p:nvSpPr>
        <p:spPr>
          <a:xfrm>
            <a:off x="3035808" y="4718303"/>
            <a:ext cx="777240" cy="274320"/>
          </a:xfrm>
          <a:prstGeom prst="roundRect">
            <a:avLst>
              <a:gd name="adj" fmla="val 12000"/>
            </a:avLst>
          </a:prstGeom>
          <a:solidFill>
            <a:srgbClr val="FFFFFF"/>
          </a:solidFill>
          <a:ln w="19050">
            <a:solidFill>
              <a:srgbClr val="149A7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149A7A"/>
                </a:solidFill>
                <a:latin typeface="Kaspersky Sans Display"/>
              </a:rPr>
              <a:t>Done</a:t>
            </a:r>
          </a:p>
        </p:txBody>
      </p:sp>
      <p:sp>
        <p:nvSpPr>
          <p:cNvPr id="38" name="TextBox 37"/>
          <p:cNvSpPr txBox="1"/>
          <p:nvPr/>
        </p:nvSpPr>
        <p:spPr>
          <a:xfrm>
            <a:off x="3035808" y="5065775"/>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This deck</a:t>
            </a:r>
          </a:p>
        </p:txBody>
      </p:sp>
      <p:sp>
        <p:nvSpPr>
          <p:cNvPr id="39" name="Rounded Rectangle 38"/>
          <p:cNvSpPr/>
          <p:nvPr/>
        </p:nvSpPr>
        <p:spPr>
          <a:xfrm>
            <a:off x="4779203" y="4718303"/>
            <a:ext cx="777240" cy="274320"/>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Today</a:t>
            </a:r>
          </a:p>
        </p:txBody>
      </p:sp>
      <p:sp>
        <p:nvSpPr>
          <p:cNvPr id="40" name="TextBox 39"/>
          <p:cNvSpPr txBox="1"/>
          <p:nvPr/>
        </p:nvSpPr>
        <p:spPr>
          <a:xfrm>
            <a:off x="4779203" y="5065775"/>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Today</a:t>
            </a:r>
          </a:p>
        </p:txBody>
      </p:sp>
      <p:sp>
        <p:nvSpPr>
          <p:cNvPr id="41" name="Rounded Rectangle 40"/>
          <p:cNvSpPr/>
          <p:nvPr/>
        </p:nvSpPr>
        <p:spPr>
          <a:xfrm>
            <a:off x="6522598" y="4718303"/>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42" name="TextBox 41"/>
          <p:cNvSpPr txBox="1"/>
          <p:nvPr/>
        </p:nvSpPr>
        <p:spPr>
          <a:xfrm>
            <a:off x="6522598" y="5065775"/>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Price list owners</a:t>
            </a:r>
          </a:p>
        </p:txBody>
      </p:sp>
      <p:sp>
        <p:nvSpPr>
          <p:cNvPr id="43" name="Rounded Rectangle 42"/>
          <p:cNvSpPr/>
          <p:nvPr/>
        </p:nvSpPr>
        <p:spPr>
          <a:xfrm>
            <a:off x="8265993" y="4718303"/>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44" name="TextBox 43"/>
          <p:cNvSpPr txBox="1"/>
          <p:nvPr/>
        </p:nvSpPr>
        <p:spPr>
          <a:xfrm>
            <a:off x="8265993" y="5065775"/>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Pending</a:t>
            </a:r>
          </a:p>
        </p:txBody>
      </p:sp>
      <p:sp>
        <p:nvSpPr>
          <p:cNvPr id="45" name="Rounded Rectangle 44"/>
          <p:cNvSpPr/>
          <p:nvPr/>
        </p:nvSpPr>
        <p:spPr>
          <a:xfrm>
            <a:off x="10009388" y="4718303"/>
            <a:ext cx="777240" cy="274320"/>
          </a:xfrm>
          <a:prstGeom prst="roundRect">
            <a:avLst>
              <a:gd name="adj" fmla="val 12000"/>
            </a:avLst>
          </a:prstGeom>
          <a:solidFill>
            <a:srgbClr val="FFFFFF"/>
          </a:solidFill>
          <a:ln w="19050">
            <a:solidFill>
              <a:srgbClr val="5B6472"/>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5B6472"/>
                </a:solidFill>
                <a:latin typeface="Kaspersky Sans Display"/>
              </a:rPr>
              <a:t>Next</a:t>
            </a:r>
          </a:p>
        </p:txBody>
      </p:sp>
      <p:sp>
        <p:nvSpPr>
          <p:cNvPr id="46" name="TextBox 45"/>
          <p:cNvSpPr txBox="1"/>
          <p:nvPr/>
        </p:nvSpPr>
        <p:spPr>
          <a:xfrm>
            <a:off x="10009388" y="5065775"/>
            <a:ext cx="1560515" cy="594359"/>
          </a:xfrm>
          <a:prstGeom prst="rect">
            <a:avLst/>
          </a:prstGeom>
          <a:noFill/>
        </p:spPr>
        <p:txBody>
          <a:bodyPr wrap="square" anchor="t" lIns="0" rIns="0" tIns="0" bIns="0">
            <a:spAutoFit/>
          </a:bodyPr>
          <a:lstStyle/>
          <a:p>
            <a:pPr algn="l">
              <a:spcAft>
                <a:spcPts val="600"/>
              </a:spcAft>
            </a:pPr>
            <a:r>
              <a:rPr sz="1100" b="0" i="0">
                <a:solidFill>
                  <a:srgbClr val="5B6472"/>
                </a:solidFill>
                <a:latin typeface="Kaspersky Sans Display"/>
              </a:rPr>
              <a:t>Pending</a:t>
            </a:r>
          </a:p>
        </p:txBody>
      </p:sp>
      <p:sp>
        <p:nvSpPr>
          <p:cNvPr id="47" name="TextBox 46"/>
          <p:cNvSpPr txBox="1"/>
          <p:nvPr/>
        </p:nvSpPr>
        <p:spPr>
          <a:xfrm>
            <a:off x="548640" y="5852160"/>
            <a:ext cx="11094415" cy="822960"/>
          </a:xfrm>
          <a:prstGeom prst="rect">
            <a:avLst/>
          </a:prstGeom>
          <a:noFill/>
        </p:spPr>
        <p:txBody>
          <a:bodyPr wrap="square" anchor="t" lIns="0" rIns="0" tIns="0" bIns="0">
            <a:spAutoFit/>
          </a:bodyPr>
          <a:lstStyle/>
          <a:p>
            <a:pPr algn="l">
              <a:spcAft>
                <a:spcPts val="400"/>
              </a:spcAft>
            </a:pPr>
            <a:r>
              <a:rPr sz="1500" b="1" i="0">
                <a:solidFill>
                  <a:srgbClr val="1F2937"/>
                </a:solidFill>
                <a:latin typeface="Kaspersky Sans Display"/>
              </a:rPr>
              <a:t>First step after today: </a:t>
            </a:r>
            <a:r>
              <a:rPr sz="1500" b="0" i="0">
                <a:solidFill>
                  <a:srgbClr val="5B6472"/>
                </a:solidFill>
                <a:latin typeface="Kaspersky Sans Display"/>
              </a:rPr>
              <a:t>we hand over how we link to WebPriceList, and your team measures its coverage (challenge 2).</a:t>
            </a:r>
          </a:p>
          <a:p>
            <a:pPr algn="l">
              <a:spcAft>
                <a:spcPts val="400"/>
              </a:spcAft>
            </a:pPr>
            <a:r>
              <a:rPr sz="1500" b="1" i="0">
                <a:solidFill>
                  <a:srgbClr val="EC7A3C"/>
                </a:solidFill>
                <a:latin typeface="Kaspersky Sans Display"/>
              </a:rPr>
              <a:t>We do not commit dates for work we do not own.</a:t>
            </a:r>
          </a:p>
        </p:txBody>
      </p:sp>
      <p:sp>
        <p:nvSpPr>
          <p:cNvPr id="48" name="TextBox 47"/>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5B6472"/>
                </a:solidFill>
                <a:latin typeface="Kaspersky Sans Display"/>
              </a:rPr>
              <a:t>36</a:t>
            </a:r>
          </a:p>
        </p:txBody>
      </p:sp>
      <p:sp>
        <p:nvSpPr>
          <p:cNvPr id="49" name="Rounded Rectangle 48"/>
          <p:cNvSpPr/>
          <p:nvPr/>
        </p:nvSpPr>
        <p:spPr>
          <a:xfrm>
            <a:off x="9357055" y="274320"/>
            <a:ext cx="1737360" cy="292608"/>
          </a:xfrm>
          <a:prstGeom prst="roundRect">
            <a:avLst>
              <a:gd name="adj" fmla="val 12000"/>
            </a:avLst>
          </a:prstGeom>
          <a:solidFill>
            <a:srgbClr val="FFFFFF"/>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EC7A3C"/>
                </a:solidFill>
                <a:latin typeface="Kaspersky Sans Display"/>
              </a:rPr>
              <a:t>3 · THE PLAN</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4171C"/>
        </a:solidFill>
        <a:effectLst/>
      </p:bgPr>
    </p:bg>
    <p:spTree>
      <p:nvGrpSpPr>
        <p:cNvPr id="1" name=""/>
        <p:cNvGrpSpPr/>
        <p:nvPr/>
      </p:nvGrpSpPr>
      <p:grpSpPr/>
      <p:sp>
        <p:nvSpPr>
          <p:cNvPr id="2" name="TextBox 1"/>
          <p:cNvSpPr txBox="1"/>
          <p:nvPr/>
        </p:nvSpPr>
        <p:spPr>
          <a:xfrm>
            <a:off x="731520" y="822960"/>
            <a:ext cx="10515600" cy="822960"/>
          </a:xfrm>
          <a:prstGeom prst="rect">
            <a:avLst/>
          </a:prstGeom>
          <a:noFill/>
        </p:spPr>
        <p:txBody>
          <a:bodyPr wrap="square" anchor="t" lIns="0" rIns="0" tIns="0" bIns="0">
            <a:spAutoFit/>
          </a:bodyPr>
          <a:lstStyle/>
          <a:p>
            <a:pPr algn="l">
              <a:spcAft>
                <a:spcPts val="600"/>
              </a:spcAft>
            </a:pPr>
            <a:r>
              <a:rPr sz="4000" b="1" i="0">
                <a:solidFill>
                  <a:srgbClr val="FFFFFF"/>
                </a:solidFill>
                <a:latin typeface="Kaspersky Sans Display"/>
              </a:rPr>
              <a:t>What we ask today</a:t>
            </a:r>
          </a:p>
        </p:txBody>
      </p:sp>
      <p:sp>
        <p:nvSpPr>
          <p:cNvPr id="3" name="Oval 2"/>
          <p:cNvSpPr/>
          <p:nvPr/>
        </p:nvSpPr>
        <p:spPr>
          <a:xfrm>
            <a:off x="731520" y="2011680"/>
            <a:ext cx="548640" cy="54864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171C"/>
                </a:solidFill>
                <a:latin typeface="Kaspersky Sans Display"/>
              </a:rPr>
              <a:t>1</a:t>
            </a:r>
          </a:p>
        </p:txBody>
      </p:sp>
      <p:sp>
        <p:nvSpPr>
          <p:cNvPr id="4" name="TextBox 3"/>
          <p:cNvSpPr txBox="1"/>
          <p:nvPr/>
        </p:nvSpPr>
        <p:spPr>
          <a:xfrm>
            <a:off x="1508760" y="1965960"/>
            <a:ext cx="9966960" cy="640080"/>
          </a:xfrm>
          <a:prstGeom prst="rect">
            <a:avLst/>
          </a:prstGeom>
          <a:noFill/>
        </p:spPr>
        <p:txBody>
          <a:bodyPr wrap="square" anchor="ctr" lIns="0" rIns="0" tIns="0" bIns="0">
            <a:spAutoFit/>
          </a:bodyPr>
          <a:lstStyle/>
          <a:p>
            <a:pPr algn="l">
              <a:spcAft>
                <a:spcPts val="600"/>
              </a:spcAft>
            </a:pPr>
            <a:r>
              <a:rPr sz="2100" b="0" i="0">
                <a:solidFill>
                  <a:srgbClr val="FFFFFF"/>
                </a:solidFill>
                <a:latin typeface="Kaspersky Sans Display"/>
              </a:rPr>
              <a:t>Agree that the three challenges are well defined, and that we share them.</a:t>
            </a:r>
          </a:p>
        </p:txBody>
      </p:sp>
      <p:sp>
        <p:nvSpPr>
          <p:cNvPr id="5" name="Oval 4"/>
          <p:cNvSpPr/>
          <p:nvPr/>
        </p:nvSpPr>
        <p:spPr>
          <a:xfrm>
            <a:off x="731520" y="2834640"/>
            <a:ext cx="548640" cy="54864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171C"/>
                </a:solidFill>
                <a:latin typeface="Kaspersky Sans Display"/>
              </a:rPr>
              <a:t>2</a:t>
            </a:r>
          </a:p>
        </p:txBody>
      </p:sp>
      <p:sp>
        <p:nvSpPr>
          <p:cNvPr id="6" name="TextBox 5"/>
          <p:cNvSpPr txBox="1"/>
          <p:nvPr/>
        </p:nvSpPr>
        <p:spPr>
          <a:xfrm>
            <a:off x="1508760" y="2788920"/>
            <a:ext cx="9966960" cy="640080"/>
          </a:xfrm>
          <a:prstGeom prst="rect">
            <a:avLst/>
          </a:prstGeom>
          <a:noFill/>
        </p:spPr>
        <p:txBody>
          <a:bodyPr wrap="square" anchor="ctr" lIns="0" rIns="0" tIns="0" bIns="0">
            <a:spAutoFit/>
          </a:bodyPr>
          <a:lstStyle/>
          <a:p>
            <a:pPr algn="l">
              <a:spcAft>
                <a:spcPts val="600"/>
              </a:spcAft>
            </a:pPr>
            <a:r>
              <a:rPr sz="2100" b="0" i="0">
                <a:solidFill>
                  <a:srgbClr val="FFFFFF"/>
                </a:solidFill>
                <a:latin typeface="Kaspersky Sans Display"/>
              </a:rPr>
              <a:t>Agree the path: the experts fix the sources, your team implements and delivers the data daily.</a:t>
            </a:r>
          </a:p>
        </p:txBody>
      </p:sp>
      <p:sp>
        <p:nvSpPr>
          <p:cNvPr id="7" name="Oval 6"/>
          <p:cNvSpPr/>
          <p:nvPr/>
        </p:nvSpPr>
        <p:spPr>
          <a:xfrm>
            <a:off x="731520" y="3657600"/>
            <a:ext cx="548640" cy="54864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171C"/>
                </a:solidFill>
                <a:latin typeface="Kaspersky Sans Display"/>
              </a:rPr>
              <a:t>3</a:t>
            </a:r>
          </a:p>
        </p:txBody>
      </p:sp>
      <p:sp>
        <p:nvSpPr>
          <p:cNvPr id="8" name="TextBox 7"/>
          <p:cNvSpPr txBox="1"/>
          <p:nvPr/>
        </p:nvSpPr>
        <p:spPr>
          <a:xfrm>
            <a:off x="1508760" y="3611880"/>
            <a:ext cx="9966960" cy="640080"/>
          </a:xfrm>
          <a:prstGeom prst="rect">
            <a:avLst/>
          </a:prstGeom>
          <a:noFill/>
        </p:spPr>
        <p:txBody>
          <a:bodyPr wrap="square" anchor="ctr" lIns="0" rIns="0" tIns="0" bIns="0">
            <a:spAutoFit/>
          </a:bodyPr>
          <a:lstStyle/>
          <a:p>
            <a:pPr algn="l">
              <a:spcAft>
                <a:spcPts val="600"/>
              </a:spcAft>
            </a:pPr>
            <a:r>
              <a:rPr sz="2100" b="0" i="0">
                <a:solidFill>
                  <a:srgbClr val="FFFFFF"/>
                </a:solidFill>
                <a:latin typeface="Kaspersky Sans Display"/>
              </a:rPr>
              <a:t>Help us name the experts for each challenge.</a:t>
            </a:r>
          </a:p>
        </p:txBody>
      </p:sp>
      <p:sp>
        <p:nvSpPr>
          <p:cNvPr id="9" name="Oval 8"/>
          <p:cNvSpPr/>
          <p:nvPr/>
        </p:nvSpPr>
        <p:spPr>
          <a:xfrm>
            <a:off x="731520" y="4480560"/>
            <a:ext cx="548640" cy="548640"/>
          </a:xfrm>
          <a:prstGeom prst="ellipse">
            <a:avLst/>
          </a:prstGeom>
          <a:solidFill>
            <a:srgbClr val="F79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600" b="1" i="0">
                <a:solidFill>
                  <a:srgbClr val="14171C"/>
                </a:solidFill>
                <a:latin typeface="Kaspersky Sans Display"/>
              </a:rPr>
              <a:t>4</a:t>
            </a:r>
          </a:p>
        </p:txBody>
      </p:sp>
      <p:sp>
        <p:nvSpPr>
          <p:cNvPr id="10" name="TextBox 9"/>
          <p:cNvSpPr txBox="1"/>
          <p:nvPr/>
        </p:nvSpPr>
        <p:spPr>
          <a:xfrm>
            <a:off x="1508760" y="4434840"/>
            <a:ext cx="9966960" cy="640080"/>
          </a:xfrm>
          <a:prstGeom prst="rect">
            <a:avLst/>
          </a:prstGeom>
          <a:noFill/>
        </p:spPr>
        <p:txBody>
          <a:bodyPr wrap="square" anchor="ctr" lIns="0" rIns="0" tIns="0" bIns="0">
            <a:spAutoFit/>
          </a:bodyPr>
          <a:lstStyle/>
          <a:p>
            <a:pPr algn="l">
              <a:spcAft>
                <a:spcPts val="600"/>
              </a:spcAft>
            </a:pPr>
            <a:r>
              <a:rPr sz="2100" b="0" i="0">
                <a:solidFill>
                  <a:srgbClr val="FFFFFF"/>
                </a:solidFill>
                <a:latin typeface="Kaspersky Sans Display"/>
              </a:rPr>
              <a:t>Your team measures the coverage of our link to WebPriceList. We hand it over.</a:t>
            </a:r>
          </a:p>
        </p:txBody>
      </p:sp>
      <p:sp>
        <p:nvSpPr>
          <p:cNvPr id="11" name="TextBox 10"/>
          <p:cNvSpPr txBox="1"/>
          <p:nvPr/>
        </p:nvSpPr>
        <p:spPr>
          <a:xfrm>
            <a:off x="731520" y="5486400"/>
            <a:ext cx="10515600" cy="1005840"/>
          </a:xfrm>
          <a:prstGeom prst="rect">
            <a:avLst/>
          </a:prstGeom>
          <a:noFill/>
        </p:spPr>
        <p:txBody>
          <a:bodyPr wrap="square" anchor="t" lIns="0" rIns="0" tIns="0" bIns="0">
            <a:spAutoFit/>
          </a:bodyPr>
          <a:lstStyle/>
          <a:p>
            <a:pPr algn="l">
              <a:spcAft>
                <a:spcPts val="800"/>
              </a:spcAft>
            </a:pPr>
            <a:r>
              <a:rPr sz="1800" b="1" i="0">
                <a:solidFill>
                  <a:srgbClr val="EEDB5C"/>
                </a:solidFill>
                <a:latin typeface="Kaspersky Sans Display"/>
              </a:rPr>
              <a:t>Our part: </a:t>
            </a:r>
            <a:r>
              <a:rPr sz="1800" b="0" i="0">
                <a:solidFill>
                  <a:srgbClr val="B8C2D0"/>
                </a:solidFill>
                <a:latin typeface="Kaspersky Sans Display"/>
              </a:rPr>
              <a:t>the need, the transaction model, the checks, the criteria and the hand-over of the link.</a:t>
            </a:r>
          </a:p>
          <a:p>
            <a:pPr algn="l">
              <a:spcAft>
                <a:spcPts val="800"/>
              </a:spcAft>
            </a:pPr>
            <a:r>
              <a:rPr sz="1800" b="1" i="0">
                <a:solidFill>
                  <a:srgbClr val="EEDB5C"/>
                </a:solidFill>
                <a:latin typeface="Kaspersky Sans Display"/>
              </a:rPr>
              <a:t>Then: </a:t>
            </a:r>
            <a:r>
              <a:rPr sz="1800" b="0" i="0">
                <a:solidFill>
                  <a:srgbClr val="B8C2D0"/>
                </a:solidFill>
                <a:latin typeface="Kaspersky Sans Display"/>
              </a:rPr>
              <a:t>with daily data that meets the criteria: discounts, price cap and projection.</a:t>
            </a:r>
          </a:p>
        </p:txBody>
      </p:sp>
      <p:sp>
        <p:nvSpPr>
          <p:cNvPr id="12" name="TextBox 11"/>
          <p:cNvSpPr txBox="1"/>
          <p:nvPr/>
        </p:nvSpPr>
        <p:spPr>
          <a:xfrm>
            <a:off x="11231575" y="274320"/>
            <a:ext cx="411480" cy="292608"/>
          </a:xfrm>
          <a:prstGeom prst="rect">
            <a:avLst/>
          </a:prstGeom>
          <a:noFill/>
        </p:spPr>
        <p:txBody>
          <a:bodyPr wrap="square" anchor="ctr" lIns="0" rIns="0" tIns="0" bIns="0">
            <a:spAutoFit/>
          </a:bodyPr>
          <a:lstStyle/>
          <a:p>
            <a:pPr algn="r">
              <a:spcAft>
                <a:spcPts val="600"/>
              </a:spcAft>
            </a:pPr>
            <a:r>
              <a:rPr sz="1300" b="1" i="0">
                <a:solidFill>
                  <a:srgbClr val="A9B1BF"/>
                </a:solidFill>
                <a:latin typeface="Kaspersky Sans Display"/>
              </a:rPr>
              <a:t>37</a:t>
            </a:r>
          </a:p>
        </p:txBody>
      </p:sp>
      <p:sp>
        <p:nvSpPr>
          <p:cNvPr id="13" name="Rounded Rectangle 12"/>
          <p:cNvSpPr/>
          <p:nvPr/>
        </p:nvSpPr>
        <p:spPr>
          <a:xfrm>
            <a:off x="9357055" y="274320"/>
            <a:ext cx="1737360" cy="292608"/>
          </a:xfrm>
          <a:prstGeom prst="roundRect">
            <a:avLst>
              <a:gd name="adj" fmla="val 12000"/>
            </a:avLst>
          </a:prstGeom>
          <a:solidFill>
            <a:srgbClr val="1E2128"/>
          </a:solidFill>
          <a:ln w="19050">
            <a:solidFill>
              <a:srgbClr val="F79A6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100" b="1" i="0">
                <a:solidFill>
                  <a:srgbClr val="F79A6A"/>
                </a:solidFill>
                <a:latin typeface="Kaspersky Sans Display"/>
              </a:rPr>
              <a:t>3 · THE PLAN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